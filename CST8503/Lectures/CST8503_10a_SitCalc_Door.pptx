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412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396" r:id="rId11"/>
    <p:sldId id="397" r:id="rId12"/>
    <p:sldId id="398" r:id="rId13"/>
    <p:sldId id="399" r:id="rId14"/>
    <p:sldId id="401" r:id="rId15"/>
    <p:sldId id="402" r:id="rId16"/>
    <p:sldId id="400" r:id="rId17"/>
    <p:sldId id="403" r:id="rId18"/>
    <p:sldId id="344" r:id="rId1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 autoAdjust="0"/>
    <p:restoredTop sz="94694" autoAdjust="0"/>
  </p:normalViewPr>
  <p:slideViewPr>
    <p:cSldViewPr snapToGrid="0" snapToObjects="1">
      <p:cViewPr varScale="1">
        <p:scale>
          <a:sx n="91" d="100"/>
          <a:sy n="91" d="100"/>
        </p:scale>
        <p:origin x="616" y="18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95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  <p:sldLayoutId id="2147483706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 Calculus: Door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0EE8-DD19-82A4-6374-7A084A5B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3166355" cy="714071"/>
          </a:xfrm>
        </p:spPr>
        <p:txBody>
          <a:bodyPr/>
          <a:lstStyle/>
          <a:p>
            <a:r>
              <a:rPr lang="en-US" dirty="0"/>
              <a:t>(reminder) Steps to Axiomatize a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58094-21E8-F9BB-C311-115B58CE5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76400"/>
            <a:ext cx="14953591" cy="5858934"/>
          </a:xfrm>
        </p:spPr>
        <p:txBody>
          <a:bodyPr/>
          <a:lstStyle/>
          <a:p>
            <a:r>
              <a:rPr lang="en-US" dirty="0"/>
              <a:t>In the following steps, the word "determine" implies "write down"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the domain by reading about it, studying it, and thinking about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set of </a:t>
            </a:r>
            <a:r>
              <a:rPr lang="en-US" dirty="0" err="1"/>
              <a:t>fluents</a:t>
            </a:r>
            <a:r>
              <a:rPr lang="en-US" dirty="0"/>
              <a:t> that are sufficient to represent a state in the domain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set of actions that effect (bring about) change in the state (fluent truth values)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precondition axioms for actions in terms of </a:t>
            </a:r>
            <a:r>
              <a:rPr lang="en-US" dirty="0" err="1"/>
              <a:t>fluents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successor state axiom for each fluent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fluent values in the initial situation s0 (we use [] for s0).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E03F-091F-DF03-7BFA-329CF322F2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99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EF72-BC2E-784E-AF3C-AAAD8A90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201" y="402605"/>
            <a:ext cx="9475914" cy="1335973"/>
          </a:xfrm>
        </p:spPr>
        <p:txBody>
          <a:bodyPr/>
          <a:lstStyle/>
          <a:p>
            <a:r>
              <a:rPr lang="en-US" dirty="0"/>
              <a:t>Door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C902D-EB29-764B-8737-3D1C763B16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408176"/>
            <a:ext cx="14357505" cy="6821424"/>
          </a:xfrm>
        </p:spPr>
        <p:txBody>
          <a:bodyPr/>
          <a:lstStyle/>
          <a:p>
            <a:r>
              <a:rPr lang="en-US" dirty="0"/>
              <a:t>Let's consider a simple example of closing or opening a door. (Step 1)</a:t>
            </a:r>
          </a:p>
          <a:p>
            <a:r>
              <a:rPr lang="en-US" dirty="0"/>
              <a:t>What represents the state of the world?  What can be true or false? (Step 2)</a:t>
            </a:r>
          </a:p>
          <a:p>
            <a:r>
              <a:rPr lang="en-US" dirty="0"/>
              <a:t>Fluent list: the special (fluent) predicates we need to make statements (Step 2)</a:t>
            </a:r>
          </a:p>
          <a:p>
            <a:r>
              <a:rPr lang="en-US" dirty="0" err="1"/>
              <a:t>near_door</a:t>
            </a:r>
            <a:r>
              <a:rPr lang="en-US" dirty="0"/>
              <a:t>(s): true if the robot is near the door "in s"</a:t>
            </a:r>
          </a:p>
          <a:p>
            <a:r>
              <a:rPr lang="en-US" dirty="0" err="1"/>
              <a:t>door_open</a:t>
            </a:r>
            <a:r>
              <a:rPr lang="en-US" dirty="0"/>
              <a:t>(s): true if the door is open "in s"</a:t>
            </a:r>
          </a:p>
          <a:p>
            <a:r>
              <a:rPr lang="en-US" dirty="0"/>
              <a:t>Do we need a </a:t>
            </a:r>
            <a:r>
              <a:rPr lang="en-US" dirty="0" err="1"/>
              <a:t>door_closed</a:t>
            </a:r>
            <a:r>
              <a:rPr lang="en-US" dirty="0"/>
              <a:t>(s) fluent?  Or can we use “not </a:t>
            </a:r>
            <a:r>
              <a:rPr lang="en-US" dirty="0" err="1"/>
              <a:t>door_open</a:t>
            </a:r>
            <a:r>
              <a:rPr lang="en-US" dirty="0"/>
              <a:t>(s)”</a:t>
            </a:r>
          </a:p>
          <a:p>
            <a:r>
              <a:rPr lang="en-US" dirty="0"/>
              <a:t>What can our robot do? (Step 3)</a:t>
            </a:r>
          </a:p>
          <a:p>
            <a:r>
              <a:rPr lang="en-US" dirty="0"/>
              <a:t>Action list: </a:t>
            </a:r>
            <a:r>
              <a:rPr lang="en-US" dirty="0" err="1"/>
              <a:t>go_to_door</a:t>
            </a:r>
            <a:r>
              <a:rPr lang="en-US" dirty="0"/>
              <a:t>, </a:t>
            </a:r>
            <a:r>
              <a:rPr lang="en-US" dirty="0" err="1"/>
              <a:t>open_door</a:t>
            </a:r>
            <a:r>
              <a:rPr lang="en-US" dirty="0"/>
              <a:t>, </a:t>
            </a:r>
            <a:r>
              <a:rPr lang="en-US" dirty="0" err="1"/>
              <a:t>close_door</a:t>
            </a:r>
            <a:r>
              <a:rPr lang="en-US" dirty="0"/>
              <a:t> (Step 3)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96335-72A1-DC42-AD6C-AB3C75A2EE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21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664A-CF20-A349-BCCC-BED7CB1C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Axiomatize door world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1B33C-51A8-8C4D-B907-39DE723DCF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47088"/>
            <a:ext cx="13249482" cy="6077712"/>
          </a:xfrm>
        </p:spPr>
        <p:txBody>
          <a:bodyPr/>
          <a:lstStyle/>
          <a:p>
            <a:r>
              <a:rPr lang="en-US" dirty="0"/>
              <a:t>After determining what the actions are, and what </a:t>
            </a:r>
            <a:r>
              <a:rPr lang="en-US" dirty="0" err="1"/>
              <a:t>fluents</a:t>
            </a:r>
            <a:r>
              <a:rPr lang="en-US" dirty="0"/>
              <a:t> are needed to characterize a state (previous slide), then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We need a set of precondition axioms, one for each action, to specify what can happen in our simple world (Step 4)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We need a set of successor state axioms, one for each fluent, to specify what changes and what stays the same when a possible action happens (Step 5)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We need a set of initial state axioms, one for each fluent, to specify the truth value of the fluent in the initial situation, [], before anything happens (Step 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75395-467C-B14D-A990-F911A5F57FE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204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990B-53E2-0344-B246-557D89ED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Precondition axioms for door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69414-F90B-EC4C-AF9B-E6401AFB52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55667"/>
            <a:ext cx="13734391" cy="6697683"/>
          </a:xfrm>
        </p:spPr>
        <p:txBody>
          <a:bodyPr/>
          <a:lstStyle/>
          <a:p>
            <a:r>
              <a:rPr lang="en-US" dirty="0"/>
              <a:t>We will write our axioms directly in clausal form, using Prolog notation, where variables are capitalized.  Negation \+ causes problems that we'll revisit later.</a:t>
            </a:r>
          </a:p>
          <a:p>
            <a:r>
              <a:rPr lang="en-US" dirty="0"/>
              <a:t>Notice this code uses the two-argument syntax for poss. </a:t>
            </a:r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go_to_door,S</a:t>
            </a:r>
            <a:r>
              <a:rPr lang="en-US" dirty="0"/>
              <a:t>):- \+ </a:t>
            </a:r>
            <a:r>
              <a:rPr lang="en-US" dirty="0" err="1"/>
              <a:t>near_door</a:t>
            </a:r>
            <a:r>
              <a:rPr lang="en-US" dirty="0"/>
              <a:t>(S).</a:t>
            </a:r>
          </a:p>
          <a:p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leave_door,S</a:t>
            </a:r>
            <a:r>
              <a:rPr lang="en-US" dirty="0"/>
              <a:t>):- </a:t>
            </a:r>
            <a:r>
              <a:rPr lang="en-US" dirty="0" err="1"/>
              <a:t>near_door</a:t>
            </a:r>
            <a:r>
              <a:rPr lang="en-US" dirty="0"/>
              <a:t>(S).</a:t>
            </a:r>
          </a:p>
          <a:p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open_door,S</a:t>
            </a:r>
            <a:r>
              <a:rPr lang="en-US" dirty="0"/>
              <a:t>):- </a:t>
            </a:r>
            <a:r>
              <a:rPr lang="en-US" dirty="0" err="1"/>
              <a:t>near_door</a:t>
            </a:r>
            <a:r>
              <a:rPr lang="en-US" dirty="0"/>
              <a:t>(S), \+ </a:t>
            </a:r>
            <a:r>
              <a:rPr lang="en-US" dirty="0" err="1"/>
              <a:t>door_open</a:t>
            </a:r>
            <a:r>
              <a:rPr lang="en-US" dirty="0"/>
              <a:t>(S).</a:t>
            </a:r>
          </a:p>
          <a:p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close_door,S</a:t>
            </a:r>
            <a:r>
              <a:rPr lang="en-US" dirty="0"/>
              <a:t>):- </a:t>
            </a:r>
            <a:r>
              <a:rPr lang="en-US" dirty="0" err="1"/>
              <a:t>near_door</a:t>
            </a:r>
            <a:r>
              <a:rPr lang="en-US" dirty="0"/>
              <a:t>(S), </a:t>
            </a:r>
            <a:r>
              <a:rPr lang="en-US" dirty="0" err="1"/>
              <a:t>door_open</a:t>
            </a:r>
            <a:r>
              <a:rPr lang="en-US" dirty="0"/>
              <a:t>(S).</a:t>
            </a:r>
          </a:p>
          <a:p>
            <a:r>
              <a:rPr lang="en-US" dirty="0"/>
              <a:t>What would be the equivalent code for the one-argument syntax for </a:t>
            </a:r>
            <a:r>
              <a:rPr lang="en-US" dirty="0" err="1"/>
              <a:t>poss</a:t>
            </a:r>
            <a:r>
              <a:rPr lang="en-US" dirty="0"/>
              <a:t>?</a:t>
            </a:r>
          </a:p>
          <a:p>
            <a:r>
              <a:rPr lang="en-US" dirty="0" err="1"/>
              <a:t>poss</a:t>
            </a:r>
            <a:r>
              <a:rPr lang="en-US" dirty="0"/>
              <a:t>([</a:t>
            </a:r>
            <a:r>
              <a:rPr lang="en-US" dirty="0" err="1"/>
              <a:t>go_to_door|S</a:t>
            </a:r>
            <a:r>
              <a:rPr lang="en-US" dirty="0"/>
              <a:t>]):-\+ </a:t>
            </a:r>
            <a:r>
              <a:rPr lang="en-US" dirty="0" err="1"/>
              <a:t>near_door</a:t>
            </a:r>
            <a:r>
              <a:rPr lang="en-US" dirty="0"/>
              <a:t>(S).  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60B8D-B6E1-924D-A073-F1F5354D4B1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59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D25A-6335-5944-99D5-AA219F98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282989"/>
            <a:ext cx="10489103" cy="667987"/>
          </a:xfrm>
        </p:spPr>
        <p:txBody>
          <a:bodyPr/>
          <a:lstStyle/>
          <a:p>
            <a:r>
              <a:rPr lang="en-US" dirty="0"/>
              <a:t>Successor State axioms for door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1039C-2FDB-5B4E-BF95-4DAEEA42A1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950976"/>
            <a:ext cx="15230682" cy="7242048"/>
          </a:xfrm>
        </p:spPr>
        <p:txBody>
          <a:bodyPr/>
          <a:lstStyle/>
          <a:p>
            <a:r>
              <a:rPr lang="en-US" dirty="0"/>
              <a:t>Again, we use Prolog notation.</a:t>
            </a:r>
          </a:p>
          <a:p>
            <a:r>
              <a:rPr lang="en-US" dirty="0"/>
              <a:t>% </a:t>
            </a:r>
            <a:r>
              <a:rPr lang="en-US" dirty="0" err="1"/>
              <a:t>door_open</a:t>
            </a:r>
            <a:r>
              <a:rPr lang="en-US" dirty="0"/>
              <a:t> is true after we open the door; or, if it was already open and we didn't close it</a:t>
            </a:r>
          </a:p>
          <a:p>
            <a:r>
              <a:rPr lang="en-US" dirty="0" err="1"/>
              <a:t>door_open</a:t>
            </a:r>
            <a:r>
              <a:rPr lang="en-US" dirty="0"/>
              <a:t>(do(A,S)):-      % two arguments. One argument: </a:t>
            </a:r>
            <a:r>
              <a:rPr lang="en-US" dirty="0" err="1"/>
              <a:t>door_open</a:t>
            </a:r>
            <a:r>
              <a:rPr lang="en-US" dirty="0"/>
              <a:t>([A|S]):-</a:t>
            </a:r>
          </a:p>
          <a:p>
            <a:r>
              <a:rPr lang="en-US" dirty="0"/>
              <a:t>    </a:t>
            </a:r>
            <a:r>
              <a:rPr lang="en-US" dirty="0" err="1"/>
              <a:t>poss</a:t>
            </a:r>
            <a:r>
              <a:rPr lang="en-US" dirty="0"/>
              <a:t>(A,S),        % two arguments.  One argument: </a:t>
            </a:r>
            <a:r>
              <a:rPr lang="en-US" dirty="0" err="1"/>
              <a:t>poss</a:t>
            </a:r>
            <a:r>
              <a:rPr lang="en-US" dirty="0"/>
              <a:t>([A|S])</a:t>
            </a:r>
          </a:p>
          <a:p>
            <a:r>
              <a:rPr lang="en-US" dirty="0"/>
              <a:t>    ( A = </a:t>
            </a:r>
            <a:r>
              <a:rPr lang="en-US" dirty="0" err="1"/>
              <a:t>open_door</a:t>
            </a:r>
            <a:endParaRPr lang="en-US" dirty="0"/>
          </a:p>
          <a:p>
            <a:r>
              <a:rPr lang="en-US" dirty="0"/>
              <a:t>      ;</a:t>
            </a:r>
          </a:p>
          <a:p>
            <a:r>
              <a:rPr lang="en-US" dirty="0"/>
              <a:t>      A \= </a:t>
            </a:r>
            <a:r>
              <a:rPr lang="en-US" dirty="0" err="1"/>
              <a:t>close_door</a:t>
            </a:r>
            <a:r>
              <a:rPr lang="en-US" dirty="0"/>
              <a:t>,</a:t>
            </a:r>
          </a:p>
          <a:p>
            <a:r>
              <a:rPr lang="en-US" dirty="0"/>
              <a:t>      </a:t>
            </a:r>
            <a:r>
              <a:rPr lang="en-US" dirty="0" err="1"/>
              <a:t>door_open</a:t>
            </a:r>
            <a:r>
              <a:rPr lang="en-US" dirty="0"/>
              <a:t>(S)</a:t>
            </a:r>
          </a:p>
          <a:p>
            <a:r>
              <a:rPr lang="en-US" dirty="0"/>
              <a:t>    ).</a:t>
            </a:r>
          </a:p>
          <a:p>
            <a:r>
              <a:rPr lang="en-US" dirty="0"/>
              <a:t>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621F9-E6E0-8045-83C3-4AF372BEDDA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76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6F25-F627-3E45-89AE-4C1C3488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475489"/>
            <a:ext cx="13506623" cy="1133177"/>
          </a:xfrm>
        </p:spPr>
        <p:txBody>
          <a:bodyPr/>
          <a:lstStyle/>
          <a:p>
            <a:r>
              <a:rPr lang="en-US" dirty="0"/>
              <a:t>Successor State axioms for door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45FA-3819-3F45-82F2-CC4F4DA5DC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6385" y="1236825"/>
            <a:ext cx="11615780" cy="6856588"/>
          </a:xfrm>
        </p:spPr>
        <p:txBody>
          <a:bodyPr/>
          <a:lstStyle/>
          <a:p>
            <a:r>
              <a:rPr lang="en-US" dirty="0"/>
              <a:t>% we are near the door after we go to the door; or, if we were already near the door (and we didn't go away – </a:t>
            </a:r>
            <a:r>
              <a:rPr lang="en-US" dirty="0" err="1"/>
              <a:t>leave_door</a:t>
            </a:r>
            <a:r>
              <a:rPr lang="en-US" dirty="0"/>
              <a:t>).</a:t>
            </a:r>
          </a:p>
          <a:p>
            <a:r>
              <a:rPr lang="en-US" dirty="0" err="1"/>
              <a:t>near_door</a:t>
            </a:r>
            <a:r>
              <a:rPr lang="en-US" dirty="0"/>
              <a:t>(do(A,S):-</a:t>
            </a:r>
          </a:p>
          <a:p>
            <a:r>
              <a:rPr lang="en-US" dirty="0"/>
              <a:t>    </a:t>
            </a:r>
            <a:r>
              <a:rPr lang="en-US" dirty="0" err="1"/>
              <a:t>poss</a:t>
            </a:r>
            <a:r>
              <a:rPr lang="en-US" dirty="0"/>
              <a:t>(A,S), % two arguments.  One argument </a:t>
            </a:r>
            <a:r>
              <a:rPr lang="en-US" dirty="0" err="1"/>
              <a:t>poss</a:t>
            </a:r>
            <a:r>
              <a:rPr lang="en-US" dirty="0"/>
              <a:t>([A|S])</a:t>
            </a:r>
          </a:p>
          <a:p>
            <a:r>
              <a:rPr lang="en-US" dirty="0"/>
              <a:t>    (A = </a:t>
            </a:r>
            <a:r>
              <a:rPr lang="en-US" dirty="0" err="1"/>
              <a:t>go_to_door</a:t>
            </a:r>
            <a:endParaRPr lang="en-US" dirty="0"/>
          </a:p>
          <a:p>
            <a:r>
              <a:rPr lang="en-US" dirty="0"/>
              <a:t>     ;</a:t>
            </a:r>
          </a:p>
          <a:p>
            <a:r>
              <a:rPr lang="en-US" dirty="0"/>
              <a:t>    </a:t>
            </a:r>
            <a:r>
              <a:rPr lang="en-US" dirty="0" err="1"/>
              <a:t>near_door</a:t>
            </a:r>
            <a:r>
              <a:rPr lang="en-US" dirty="0"/>
              <a:t>(S),</a:t>
            </a:r>
          </a:p>
          <a:p>
            <a:r>
              <a:rPr lang="en-US" dirty="0"/>
              <a:t>    A \= </a:t>
            </a:r>
            <a:r>
              <a:rPr lang="en-US" dirty="0" err="1"/>
              <a:t>leave_door</a:t>
            </a:r>
            <a:endParaRPr lang="en-US" dirty="0"/>
          </a:p>
          <a:p>
            <a:r>
              <a:rPr lang="en-US" dirty="0"/>
              <a:t>    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E496F-DED4-9D46-A84D-9D0CBC6D42A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0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A903-8A34-D641-B4D7-DD74CFD5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1988719" cy="1335973"/>
          </a:xfrm>
        </p:spPr>
        <p:txBody>
          <a:bodyPr/>
          <a:lstStyle/>
          <a:p>
            <a:r>
              <a:rPr lang="en-US" dirty="0"/>
              <a:t>Successor State axioms for door,  again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A8957-62CE-A745-9830-477508A21F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4946" y="1819318"/>
            <a:ext cx="11615780" cy="6117674"/>
          </a:xfrm>
        </p:spPr>
        <p:txBody>
          <a:bodyPr/>
          <a:lstStyle/>
          <a:p>
            <a:r>
              <a:rPr lang="en-US" dirty="0"/>
              <a:t>In prolog, A:-B;C can be written as two clauses</a:t>
            </a:r>
          </a:p>
          <a:p>
            <a:r>
              <a:rPr lang="en-US" dirty="0"/>
              <a:t>A:-B.</a:t>
            </a:r>
          </a:p>
          <a:p>
            <a:r>
              <a:rPr lang="en-US" dirty="0"/>
              <a:t>A:-C.</a:t>
            </a:r>
          </a:p>
          <a:p>
            <a:r>
              <a:rPr lang="en-US" dirty="0"/>
              <a:t>Right?  Think about it… So, we have</a:t>
            </a:r>
          </a:p>
          <a:p>
            <a:r>
              <a:rPr lang="en-US" dirty="0" err="1"/>
              <a:t>door_open</a:t>
            </a:r>
            <a:r>
              <a:rPr lang="en-US" dirty="0"/>
              <a:t>(do(</a:t>
            </a:r>
            <a:r>
              <a:rPr lang="en-US" dirty="0" err="1"/>
              <a:t>open_door,S</a:t>
            </a:r>
            <a:r>
              <a:rPr lang="en-US" dirty="0"/>
              <a:t>)):- </a:t>
            </a:r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open_door,S</a:t>
            </a:r>
            <a:r>
              <a:rPr lang="en-US" dirty="0"/>
              <a:t>).</a:t>
            </a:r>
          </a:p>
          <a:p>
            <a:r>
              <a:rPr lang="en-US" dirty="0" err="1"/>
              <a:t>door_open</a:t>
            </a:r>
            <a:r>
              <a:rPr lang="en-US" dirty="0"/>
              <a:t>(do(A,S)):- </a:t>
            </a:r>
            <a:r>
              <a:rPr lang="en-US" dirty="0" err="1"/>
              <a:t>poss</a:t>
            </a:r>
            <a:r>
              <a:rPr lang="en-US" dirty="0"/>
              <a:t>(A,S), A \= </a:t>
            </a:r>
            <a:r>
              <a:rPr lang="en-US" dirty="0" err="1"/>
              <a:t>close_door</a:t>
            </a:r>
            <a:r>
              <a:rPr lang="en-US" dirty="0"/>
              <a:t>, </a:t>
            </a:r>
            <a:r>
              <a:rPr lang="en-US" dirty="0" err="1"/>
              <a:t>door_open</a:t>
            </a:r>
            <a:r>
              <a:rPr lang="en-US" dirty="0"/>
              <a:t>(S).</a:t>
            </a:r>
          </a:p>
          <a:p>
            <a:r>
              <a:rPr lang="en-US" dirty="0" err="1"/>
              <a:t>near_door</a:t>
            </a:r>
            <a:r>
              <a:rPr lang="en-US" dirty="0"/>
              <a:t>(do(</a:t>
            </a:r>
            <a:r>
              <a:rPr lang="en-US" dirty="0" err="1"/>
              <a:t>go_to_door,S</a:t>
            </a:r>
            <a:r>
              <a:rPr lang="en-US" dirty="0"/>
              <a:t>)):- </a:t>
            </a:r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go_to_door,S</a:t>
            </a:r>
            <a:r>
              <a:rPr lang="en-US" dirty="0"/>
              <a:t>).</a:t>
            </a:r>
          </a:p>
          <a:p>
            <a:r>
              <a:rPr lang="en-US" dirty="0" err="1"/>
              <a:t>near_door</a:t>
            </a:r>
            <a:r>
              <a:rPr lang="en-US" dirty="0"/>
              <a:t>(do(A,S):- </a:t>
            </a:r>
            <a:r>
              <a:rPr lang="en-US" dirty="0" err="1"/>
              <a:t>poss</a:t>
            </a:r>
            <a:r>
              <a:rPr lang="en-US" dirty="0"/>
              <a:t>(A,S), A \= </a:t>
            </a:r>
            <a:r>
              <a:rPr lang="en-US" dirty="0" err="1"/>
              <a:t>leave_door</a:t>
            </a:r>
            <a:r>
              <a:rPr lang="en-US" dirty="0"/>
              <a:t>, </a:t>
            </a:r>
            <a:r>
              <a:rPr lang="en-US" dirty="0" err="1"/>
              <a:t>near_door</a:t>
            </a:r>
            <a:r>
              <a:rPr lang="en-US" dirty="0"/>
              <a:t>(S).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20577-ADC0-7448-BA4B-6195A7682D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35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F84E-EC1F-F541-A340-E3A72F12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762" y="366029"/>
            <a:ext cx="10489103" cy="1335973"/>
          </a:xfrm>
        </p:spPr>
        <p:txBody>
          <a:bodyPr/>
          <a:lstStyle/>
          <a:p>
            <a:r>
              <a:rPr lang="en-US" dirty="0"/>
              <a:t>Thinking about the previous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112C4-E73A-D84E-8EDB-E3363CA24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5762" y="1277840"/>
            <a:ext cx="11615780" cy="6604287"/>
          </a:xfrm>
        </p:spPr>
        <p:txBody>
          <a:bodyPr/>
          <a:lstStyle/>
          <a:p>
            <a:r>
              <a:rPr lang="en-US" dirty="0"/>
              <a:t>A:-B;C</a:t>
            </a:r>
          </a:p>
          <a:p>
            <a:r>
              <a:rPr lang="en-US" dirty="0"/>
              <a:t>(B or C)-&gt;A</a:t>
            </a:r>
          </a:p>
          <a:p>
            <a:r>
              <a:rPr lang="en-US" dirty="0"/>
              <a:t>not (B or C) or A</a:t>
            </a:r>
          </a:p>
          <a:p>
            <a:r>
              <a:rPr lang="en-US" dirty="0"/>
              <a:t>(not B and not C) or A</a:t>
            </a:r>
          </a:p>
          <a:p>
            <a:r>
              <a:rPr lang="en-US" dirty="0"/>
              <a:t>(not B or A) and (not C or A)</a:t>
            </a:r>
          </a:p>
          <a:p>
            <a:r>
              <a:rPr lang="en-US" dirty="0"/>
              <a:t>B-&gt;A and C-&gt;A</a:t>
            </a:r>
          </a:p>
          <a:p>
            <a:r>
              <a:rPr lang="en-US" dirty="0"/>
              <a:t>Now, in Prolog</a:t>
            </a:r>
          </a:p>
          <a:p>
            <a:r>
              <a:rPr lang="en-US" dirty="0"/>
              <a:t>A:-B.</a:t>
            </a:r>
          </a:p>
          <a:p>
            <a:r>
              <a:rPr lang="en-US" dirty="0"/>
              <a:t>A:-C.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E8B32-478F-9941-8F88-F48BE248578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2C10-13AD-224A-9480-E084E000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State for door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75BF2-4672-9549-8639-FC9EB6092A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91302"/>
            <a:ext cx="11615780" cy="6300554"/>
          </a:xfrm>
        </p:spPr>
        <p:txBody>
          <a:bodyPr/>
          <a:lstStyle/>
          <a:p>
            <a:r>
              <a:rPr lang="en-US" dirty="0"/>
              <a:t>For our very simple door domain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have a set of actions, and precondition axioms for those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have a set of </a:t>
            </a:r>
            <a:r>
              <a:rPr lang="en-US" dirty="0" err="1"/>
              <a:t>fluents</a:t>
            </a:r>
            <a:r>
              <a:rPr lang="en-US" dirty="0"/>
              <a:t>, and successor state axioms for those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also need to specify the initial state: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near_door</a:t>
            </a:r>
            <a:r>
              <a:rPr lang="en-US" dirty="0"/>
              <a:t>(S</a:t>
            </a:r>
            <a:r>
              <a:rPr lang="en-US" baseline="-25000" dirty="0"/>
              <a:t>0</a:t>
            </a:r>
            <a:r>
              <a:rPr lang="en-US" dirty="0"/>
              <a:t>) : true or false?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door_open</a:t>
            </a:r>
            <a:r>
              <a:rPr lang="en-US" dirty="0"/>
              <a:t>(S</a:t>
            </a:r>
            <a:r>
              <a:rPr lang="en-US" baseline="-25000" dirty="0"/>
              <a:t>0</a:t>
            </a:r>
            <a:r>
              <a:rPr lang="en-US" dirty="0"/>
              <a:t>) : true or false?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F59D4-CD9B-3846-ABDD-638EE67F6D5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8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D2FD-C6D0-FF46-AF93-4573D9C7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 observations revisited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1B536-334C-4046-955D-8E54622BA3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92224"/>
            <a:ext cx="11615780" cy="5743110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are actions, and if we consider the empty list </a:t>
            </a:r>
            <a:r>
              <a:rPr lang="en-US" b="1" dirty="0"/>
              <a:t>[ ]</a:t>
            </a:r>
            <a:r>
              <a:rPr lang="en-US" dirty="0"/>
              <a:t> to be like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dirty="0"/>
              <a:t>, then</a:t>
            </a:r>
          </a:p>
          <a:p>
            <a:r>
              <a:rPr lang="en-US" b="1" dirty="0"/>
              <a:t>do(</a:t>
            </a:r>
            <a:r>
              <a:rPr lang="en-US" b="1" dirty="0" err="1"/>
              <a:t>b,do</a:t>
            </a:r>
            <a:r>
              <a:rPr lang="en-US" b="1" dirty="0"/>
              <a:t>(a,S</a:t>
            </a:r>
            <a:r>
              <a:rPr lang="en-US" b="1" baseline="-25000" dirty="0"/>
              <a:t>0</a:t>
            </a:r>
            <a:r>
              <a:rPr lang="en-US" b="1" dirty="0"/>
              <a:t>)) </a:t>
            </a:r>
            <a:r>
              <a:rPr lang="en-US" dirty="0"/>
              <a:t>can be represented in prolog as </a:t>
            </a:r>
            <a:r>
              <a:rPr lang="en-US" b="1" dirty="0"/>
              <a:t>[</a:t>
            </a:r>
            <a:r>
              <a:rPr lang="en-US" b="1" dirty="0" err="1"/>
              <a:t>b,a</a:t>
            </a:r>
            <a:r>
              <a:rPr lang="en-US" b="1" dirty="0"/>
              <a:t>]</a:t>
            </a:r>
          </a:p>
          <a:p>
            <a:r>
              <a:rPr lang="en-US" dirty="0"/>
              <a:t>We will do this.   </a:t>
            </a:r>
          </a:p>
          <a:p>
            <a:r>
              <a:rPr lang="en-US" dirty="0"/>
              <a:t>Recall that a list is either the atom </a:t>
            </a:r>
            <a:r>
              <a:rPr lang="en-US" b="1" dirty="0"/>
              <a:t>[ ]</a:t>
            </a:r>
            <a:r>
              <a:rPr lang="en-US" dirty="0"/>
              <a:t>, or of the form </a:t>
            </a:r>
            <a:r>
              <a:rPr lang="en-US" b="1" dirty="0"/>
              <a:t>[H|T]</a:t>
            </a:r>
            <a:r>
              <a:rPr lang="en-US" dirty="0"/>
              <a:t>, and in dot functor notation, </a:t>
            </a:r>
            <a:r>
              <a:rPr lang="en-US" b="1" dirty="0"/>
              <a:t>[H|T]</a:t>
            </a:r>
            <a:r>
              <a:rPr lang="en-US" dirty="0"/>
              <a:t> is represented as </a:t>
            </a:r>
            <a:r>
              <a:rPr lang="en-US" b="1" dirty="0"/>
              <a:t>.(H,T)</a:t>
            </a:r>
          </a:p>
          <a:p>
            <a:r>
              <a:rPr lang="en-US" dirty="0"/>
              <a:t>So, </a:t>
            </a:r>
            <a:r>
              <a:rPr lang="en-US" b="1" dirty="0"/>
              <a:t>[</a:t>
            </a:r>
            <a:r>
              <a:rPr lang="en-US" b="1" dirty="0" err="1"/>
              <a:t>b,a</a:t>
            </a:r>
            <a:r>
              <a:rPr lang="en-US" b="1" dirty="0"/>
              <a:t>]</a:t>
            </a:r>
            <a:r>
              <a:rPr lang="en-US" dirty="0"/>
              <a:t> is equivalent to </a:t>
            </a:r>
            <a:r>
              <a:rPr lang="en-US" b="1" dirty="0"/>
              <a:t>.(b,.(a,[ ]))</a:t>
            </a:r>
          </a:p>
          <a:p>
            <a:r>
              <a:rPr lang="en-US" dirty="0"/>
              <a:t>See the parallel between "</a:t>
            </a:r>
            <a:r>
              <a:rPr lang="en-US" b="1" dirty="0"/>
              <a:t>do</a:t>
            </a:r>
            <a:r>
              <a:rPr lang="en-US" dirty="0"/>
              <a:t>" and "</a:t>
            </a:r>
            <a:r>
              <a:rPr lang="en-US" b="1" dirty="0"/>
              <a:t>.</a:t>
            </a:r>
            <a:r>
              <a:rPr lang="en-US" dirty="0"/>
              <a:t>", and "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dirty="0"/>
              <a:t>" and "</a:t>
            </a:r>
            <a:r>
              <a:rPr lang="en-US" b="1" dirty="0"/>
              <a:t>[</a:t>
            </a:r>
            <a:r>
              <a:rPr lang="en-US" dirty="0"/>
              <a:t> </a:t>
            </a:r>
            <a:r>
              <a:rPr lang="en-US" b="1" dirty="0"/>
              <a:t>]</a:t>
            </a:r>
            <a:r>
              <a:rPr lang="en-US" dirty="0"/>
              <a:t>"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0B27F-03E3-2241-ADAE-068B50B50C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02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BFB0-4C77-9F4B-A1A0-45F1450E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initial state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6F1B9-2AB8-8643-BA80-15B9D9D99B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481328"/>
            <a:ext cx="15006238" cy="6800322"/>
          </a:xfrm>
        </p:spPr>
        <p:txBody>
          <a:bodyPr/>
          <a:lstStyle/>
          <a:p>
            <a:r>
              <a:rPr lang="en-US" dirty="0"/>
              <a:t>Suppose our initial state is that the door is closed, and we are not near the door:</a:t>
            </a:r>
          </a:p>
          <a:p>
            <a:r>
              <a:rPr lang="en-US" dirty="0" err="1"/>
              <a:t>near_door</a:t>
            </a:r>
            <a:r>
              <a:rPr lang="en-US" dirty="0"/>
              <a:t>([ ]) is false</a:t>
            </a:r>
          </a:p>
          <a:p>
            <a:r>
              <a:rPr lang="en-US" dirty="0" err="1"/>
              <a:t>door_open</a:t>
            </a:r>
            <a:r>
              <a:rPr lang="en-US" dirty="0"/>
              <a:t>([ ]) is false</a:t>
            </a:r>
          </a:p>
          <a:p>
            <a:r>
              <a:rPr lang="en-US" dirty="0"/>
              <a:t>We have a negation problem.  In prolog we specify these are false by omitting them, so our initial state is specified by saying nothing about the initial state! This is a problem!</a:t>
            </a:r>
          </a:p>
          <a:p>
            <a:r>
              <a:rPr lang="en-US" dirty="0"/>
              <a:t>Saying nothing results in this error instead of the expected "false":</a:t>
            </a:r>
          </a:p>
          <a:p>
            <a:r>
              <a:rPr lang="en-US" dirty="0"/>
              <a:t>?- </a:t>
            </a:r>
            <a:r>
              <a:rPr lang="en-US" dirty="0" err="1"/>
              <a:t>door_open</a:t>
            </a:r>
            <a:r>
              <a:rPr lang="en-US" dirty="0"/>
              <a:t>([]).</a:t>
            </a:r>
          </a:p>
          <a:p>
            <a:r>
              <a:rPr lang="en-US" dirty="0"/>
              <a:t>ERROR: Undefined procedure: </a:t>
            </a:r>
            <a:r>
              <a:rPr lang="en-US" dirty="0" err="1"/>
              <a:t>door_open</a:t>
            </a:r>
            <a:r>
              <a:rPr lang="en-US" dirty="0"/>
              <a:t>/1 (DWIM could not correct goal)</a:t>
            </a:r>
          </a:p>
          <a:p>
            <a:r>
              <a:rPr lang="en-US" dirty="0"/>
              <a:t>?-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A85D0-0FCC-EC45-A636-18332B1139D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4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1107-7544-4746-9908-5A0C45C8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549704"/>
            <a:ext cx="9475914" cy="1335973"/>
          </a:xfrm>
        </p:spPr>
        <p:txBody>
          <a:bodyPr/>
          <a:lstStyle/>
          <a:p>
            <a:r>
              <a:rPr lang="en-US" dirty="0"/>
              <a:t>Avoiding negation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81723-FC9C-0C4F-BF6E-D462AC51EF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82496"/>
            <a:ext cx="11615780" cy="5852838"/>
          </a:xfrm>
        </p:spPr>
        <p:txBody>
          <a:bodyPr/>
          <a:lstStyle/>
          <a:p>
            <a:r>
              <a:rPr lang="en-US" dirty="0"/>
              <a:t>We want </a:t>
            </a:r>
            <a:r>
              <a:rPr lang="en-US" dirty="0" err="1"/>
              <a:t>door_open</a:t>
            </a:r>
            <a:r>
              <a:rPr lang="en-US" dirty="0"/>
              <a:t>([ ]), to be false, but the following prolog representation is lacking</a:t>
            </a:r>
          </a:p>
          <a:p>
            <a:r>
              <a:rPr lang="en-US" dirty="0" err="1"/>
              <a:t>door_open</a:t>
            </a:r>
            <a:r>
              <a:rPr lang="en-US" dirty="0"/>
              <a:t>([ ]):-false.</a:t>
            </a:r>
          </a:p>
          <a:p>
            <a:endParaRPr lang="en-US" dirty="0"/>
          </a:p>
          <a:p>
            <a:r>
              <a:rPr lang="en-US" dirty="0"/>
              <a:t>With this representation, we get</a:t>
            </a:r>
          </a:p>
          <a:p>
            <a:r>
              <a:rPr lang="en-US" dirty="0"/>
              <a:t>?- </a:t>
            </a:r>
            <a:r>
              <a:rPr lang="en-US" dirty="0" err="1"/>
              <a:t>door_open</a:t>
            </a:r>
            <a:r>
              <a:rPr lang="en-US" dirty="0"/>
              <a:t>([ ]).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which is half of what we want.  Still have a problem…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6FB1F-9024-1446-B273-C4519510B5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091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1107-7544-4746-9908-5A0C45C8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38" y="549704"/>
            <a:ext cx="9475914" cy="1058962"/>
          </a:xfrm>
        </p:spPr>
        <p:txBody>
          <a:bodyPr/>
          <a:lstStyle/>
          <a:p>
            <a:r>
              <a:rPr lang="en-US" dirty="0"/>
              <a:t>Avoiding negation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81723-FC9C-0C4F-BF6E-D462AC51EF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71639" y="1410121"/>
            <a:ext cx="13903888" cy="6348423"/>
          </a:xfrm>
        </p:spPr>
        <p:txBody>
          <a:bodyPr/>
          <a:lstStyle/>
          <a:p>
            <a:r>
              <a:rPr lang="en-US" dirty="0"/>
              <a:t>The other half of what we want is to find situations where the door is not open, and we know that is true of [ ]:</a:t>
            </a:r>
          </a:p>
          <a:p>
            <a:endParaRPr lang="en-US" dirty="0"/>
          </a:p>
          <a:p>
            <a:r>
              <a:rPr lang="en-US" dirty="0"/>
              <a:t>With this representation, we get</a:t>
            </a:r>
          </a:p>
          <a:p>
            <a:r>
              <a:rPr lang="en-US" dirty="0"/>
              <a:t>?- \+ </a:t>
            </a:r>
            <a:r>
              <a:rPr lang="en-US" dirty="0" err="1"/>
              <a:t>door_open</a:t>
            </a:r>
            <a:r>
              <a:rPr lang="en-US" dirty="0"/>
              <a:t>(S).     % is there an S such that </a:t>
            </a:r>
            <a:r>
              <a:rPr lang="en-US" dirty="0" err="1"/>
              <a:t>door_open</a:t>
            </a:r>
            <a:r>
              <a:rPr lang="en-US" dirty="0"/>
              <a:t>(S) is false?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which fails also, even though we know it is true for []?</a:t>
            </a:r>
          </a:p>
          <a:p>
            <a:r>
              <a:rPr lang="en-US" dirty="0"/>
              <a:t>Negation problem: Goals that fail do not result in variable instantiation!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6FB1F-9024-1446-B273-C4519510B5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791C-777F-4942-A734-05E54EAB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925883" cy="840301"/>
          </a:xfrm>
        </p:spPr>
        <p:txBody>
          <a:bodyPr/>
          <a:lstStyle/>
          <a:p>
            <a:r>
              <a:rPr lang="en-US" dirty="0"/>
              <a:t>Avoiding negation (solving the negation problem)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411F7-9F98-C744-970B-25665E93F6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We can represent this type of </a:t>
            </a:r>
            <a:r>
              <a:rPr lang="en-US" dirty="0" err="1"/>
              <a:t>boolean</a:t>
            </a:r>
            <a:r>
              <a:rPr lang="en-US" dirty="0"/>
              <a:t>-valued fluent explicitly by adding an argument to  represent the truth value.</a:t>
            </a:r>
          </a:p>
          <a:p>
            <a:r>
              <a:rPr lang="en-US" dirty="0" err="1"/>
              <a:t>door_open</a:t>
            </a:r>
            <a:r>
              <a:rPr lang="en-US" dirty="0"/>
              <a:t>(</a:t>
            </a:r>
            <a:r>
              <a:rPr lang="en-US" dirty="0" err="1"/>
              <a:t>y,S</a:t>
            </a:r>
            <a:r>
              <a:rPr lang="en-US" dirty="0"/>
              <a:t>) means the door is open in S</a:t>
            </a:r>
          </a:p>
          <a:p>
            <a:r>
              <a:rPr lang="en-US" dirty="0" err="1"/>
              <a:t>door_open</a:t>
            </a:r>
            <a:r>
              <a:rPr lang="en-US" dirty="0"/>
              <a:t>(</a:t>
            </a:r>
            <a:r>
              <a:rPr lang="en-US" dirty="0" err="1"/>
              <a:t>n,S</a:t>
            </a:r>
            <a:r>
              <a:rPr lang="en-US" dirty="0"/>
              <a:t>) means the door is not open in S:</a:t>
            </a:r>
          </a:p>
          <a:p>
            <a:r>
              <a:rPr lang="en-US" dirty="0" err="1"/>
              <a:t>door_open</a:t>
            </a:r>
            <a:r>
              <a:rPr lang="en-US" dirty="0"/>
              <a:t>(n,[ ]).     % \+ </a:t>
            </a:r>
            <a:r>
              <a:rPr lang="en-US" dirty="0" err="1"/>
              <a:t>door_open</a:t>
            </a:r>
            <a:r>
              <a:rPr lang="en-US" dirty="0"/>
              <a:t>([ ]).</a:t>
            </a:r>
          </a:p>
          <a:p>
            <a:r>
              <a:rPr lang="en-US" dirty="0"/>
              <a:t>?- </a:t>
            </a:r>
            <a:r>
              <a:rPr lang="en-US" dirty="0" err="1"/>
              <a:t>door_open</a:t>
            </a:r>
            <a:r>
              <a:rPr lang="en-US" dirty="0"/>
              <a:t>(</a:t>
            </a:r>
            <a:r>
              <a:rPr lang="en-US" dirty="0" err="1"/>
              <a:t>n,S</a:t>
            </a:r>
            <a:r>
              <a:rPr lang="en-US" dirty="0"/>
              <a:t>).    % find situations in which \+ </a:t>
            </a:r>
            <a:r>
              <a:rPr lang="en-US" dirty="0" err="1"/>
              <a:t>door_open</a:t>
            </a:r>
            <a:r>
              <a:rPr lang="en-US" dirty="0"/>
              <a:t>(S)</a:t>
            </a:r>
          </a:p>
          <a:p>
            <a:r>
              <a:rPr lang="en-US" dirty="0"/>
              <a:t>S=[ 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A4D3F-463B-6346-80BF-FA209EE67E0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835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C14E-D2D9-0948-88A0-C92DD0D2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door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B77B3-AA5D-3741-A295-2BA9FFD2BA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Let's write down the axioms for the door program, in prolog:</a:t>
            </a:r>
          </a:p>
          <a:p>
            <a:r>
              <a:rPr lang="en-US" dirty="0"/>
              <a:t>To start, here is the initial state:</a:t>
            </a:r>
          </a:p>
          <a:p>
            <a:r>
              <a:rPr lang="en-US" dirty="0" err="1"/>
              <a:t>door_open</a:t>
            </a:r>
            <a:r>
              <a:rPr lang="en-US" dirty="0"/>
              <a:t>(n,[ ]).</a:t>
            </a:r>
          </a:p>
          <a:p>
            <a:r>
              <a:rPr lang="en-US" dirty="0" err="1"/>
              <a:t>near_door</a:t>
            </a:r>
            <a:r>
              <a:rPr lang="en-US" dirty="0"/>
              <a:t>(n,[ ]).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8797E-4EF5-CE41-95C9-22A62E62B6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233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2406-CFF3-D243-91FB-FF2E018A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157203"/>
            <a:ext cx="13559102" cy="1335973"/>
          </a:xfrm>
        </p:spPr>
        <p:txBody>
          <a:bodyPr/>
          <a:lstStyle/>
          <a:p>
            <a:r>
              <a:rPr lang="en-US" dirty="0"/>
              <a:t>Complete Prolog for door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C97C6-DE2B-A540-BB75-FFB2B07F49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720436"/>
            <a:ext cx="11615780" cy="7578437"/>
          </a:xfrm>
        </p:spPr>
        <p:txBody>
          <a:bodyPr/>
          <a:lstStyle/>
          <a:p>
            <a:r>
              <a:rPr lang="en-CA" sz="1600" dirty="0"/>
              <a:t>%For a lab or assignment, you would be expected to 1) include a header comment stating the purpose of the program 2) include a declarative comment for each predicate stating what the predicate means in terms of its arguments, 3) properly format each rule with proper indentation</a:t>
            </a:r>
          </a:p>
          <a:p>
            <a:r>
              <a:rPr lang="en-CA" sz="1600" dirty="0" err="1"/>
              <a:t>door_open</a:t>
            </a:r>
            <a:r>
              <a:rPr lang="en-CA" sz="1600" dirty="0"/>
              <a:t>(n,[]).</a:t>
            </a:r>
          </a:p>
          <a:p>
            <a:r>
              <a:rPr lang="en-CA" sz="1600" dirty="0" err="1"/>
              <a:t>door_open</a:t>
            </a:r>
            <a:r>
              <a:rPr lang="en-CA" sz="1600" dirty="0"/>
              <a:t>(y,[</a:t>
            </a:r>
            <a:r>
              <a:rPr lang="en-CA" sz="1600" dirty="0" err="1"/>
              <a:t>open_door|S</a:t>
            </a:r>
            <a:r>
              <a:rPr lang="en-CA" sz="1600" dirty="0"/>
              <a:t>]):- </a:t>
            </a:r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open_door|S</a:t>
            </a:r>
            <a:r>
              <a:rPr lang="en-CA" sz="1600" dirty="0"/>
              <a:t>]).</a:t>
            </a:r>
          </a:p>
          <a:p>
            <a:r>
              <a:rPr lang="en-CA" sz="1600" dirty="0" err="1"/>
              <a:t>door_open</a:t>
            </a:r>
            <a:r>
              <a:rPr lang="en-CA" sz="1600" dirty="0"/>
              <a:t>(y,[A|S]):- </a:t>
            </a:r>
            <a:r>
              <a:rPr lang="en-CA" sz="1600" dirty="0" err="1"/>
              <a:t>poss</a:t>
            </a:r>
            <a:r>
              <a:rPr lang="en-CA" sz="1600" dirty="0"/>
              <a:t>([A|S]), A \= </a:t>
            </a:r>
            <a:r>
              <a:rPr lang="en-CA" sz="1600" dirty="0" err="1"/>
              <a:t>close_door</a:t>
            </a:r>
            <a:r>
              <a:rPr lang="en-CA" sz="1600" dirty="0"/>
              <a:t>, </a:t>
            </a:r>
            <a:r>
              <a:rPr lang="en-CA" sz="1600" dirty="0" err="1"/>
              <a:t>door_open</a:t>
            </a:r>
            <a:r>
              <a:rPr lang="en-CA" sz="1600" dirty="0"/>
              <a:t>(</a:t>
            </a:r>
            <a:r>
              <a:rPr lang="en-CA" sz="1600" dirty="0" err="1"/>
              <a:t>y,S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door_open</a:t>
            </a:r>
            <a:r>
              <a:rPr lang="en-CA" sz="1600" dirty="0"/>
              <a:t>(n,[</a:t>
            </a:r>
            <a:r>
              <a:rPr lang="en-CA" sz="1600" dirty="0" err="1"/>
              <a:t>close_door|S</a:t>
            </a:r>
            <a:r>
              <a:rPr lang="en-CA" sz="1600" dirty="0"/>
              <a:t>]):- </a:t>
            </a:r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close_door|S</a:t>
            </a:r>
            <a:r>
              <a:rPr lang="en-CA" sz="1600" dirty="0"/>
              <a:t>]).</a:t>
            </a:r>
          </a:p>
          <a:p>
            <a:r>
              <a:rPr lang="en-CA" sz="1600" dirty="0" err="1"/>
              <a:t>door_open</a:t>
            </a:r>
            <a:r>
              <a:rPr lang="en-CA" sz="1600" dirty="0"/>
              <a:t>(n,[A|S]):- </a:t>
            </a:r>
            <a:r>
              <a:rPr lang="en-CA" sz="1600" dirty="0" err="1"/>
              <a:t>poss</a:t>
            </a:r>
            <a:r>
              <a:rPr lang="en-CA" sz="1600" dirty="0"/>
              <a:t>([A|S]), A \= </a:t>
            </a:r>
            <a:r>
              <a:rPr lang="en-CA" sz="1600" dirty="0" err="1"/>
              <a:t>open_door</a:t>
            </a:r>
            <a:r>
              <a:rPr lang="en-CA" sz="1600" dirty="0"/>
              <a:t>, </a:t>
            </a:r>
            <a:r>
              <a:rPr lang="en-CA" sz="1600" dirty="0" err="1"/>
              <a:t>door_open</a:t>
            </a:r>
            <a:r>
              <a:rPr lang="en-CA" sz="1600" dirty="0"/>
              <a:t>(</a:t>
            </a:r>
            <a:r>
              <a:rPr lang="en-CA" sz="1600" dirty="0" err="1"/>
              <a:t>n,S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near_door</a:t>
            </a:r>
            <a:r>
              <a:rPr lang="en-CA" sz="1600" dirty="0"/>
              <a:t>(n,[]).</a:t>
            </a:r>
          </a:p>
          <a:p>
            <a:r>
              <a:rPr lang="en-CA" sz="1600" dirty="0" err="1"/>
              <a:t>near_door</a:t>
            </a:r>
            <a:r>
              <a:rPr lang="en-CA" sz="1600" dirty="0"/>
              <a:t>(y,[</a:t>
            </a:r>
            <a:r>
              <a:rPr lang="en-CA" sz="1600" dirty="0" err="1"/>
              <a:t>go_to_door|S</a:t>
            </a:r>
            <a:r>
              <a:rPr lang="en-CA" sz="1600" dirty="0"/>
              <a:t>]):- </a:t>
            </a:r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go_to_door|S</a:t>
            </a:r>
            <a:r>
              <a:rPr lang="en-CA" sz="1600" dirty="0"/>
              <a:t>]).</a:t>
            </a:r>
          </a:p>
          <a:p>
            <a:r>
              <a:rPr lang="en-CA" sz="1600" dirty="0" err="1"/>
              <a:t>near_door</a:t>
            </a:r>
            <a:r>
              <a:rPr lang="en-CA" sz="1600" dirty="0"/>
              <a:t>(y,[A|S]):- </a:t>
            </a:r>
            <a:r>
              <a:rPr lang="en-CA" sz="1600" dirty="0" err="1"/>
              <a:t>poss</a:t>
            </a:r>
            <a:r>
              <a:rPr lang="en-CA" sz="1600" dirty="0"/>
              <a:t>([A|S]),  A \= </a:t>
            </a:r>
            <a:r>
              <a:rPr lang="en-CA" sz="1600" dirty="0" err="1"/>
              <a:t>leave_door</a:t>
            </a:r>
            <a:r>
              <a:rPr lang="en-CA" sz="1600" dirty="0"/>
              <a:t>, </a:t>
            </a:r>
            <a:r>
              <a:rPr lang="en-CA" sz="1600" dirty="0" err="1"/>
              <a:t>near_door</a:t>
            </a:r>
            <a:r>
              <a:rPr lang="en-CA" sz="1600" dirty="0"/>
              <a:t>(</a:t>
            </a:r>
            <a:r>
              <a:rPr lang="en-CA" sz="1600" dirty="0" err="1"/>
              <a:t>y,S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near_door</a:t>
            </a:r>
            <a:r>
              <a:rPr lang="en-CA" sz="1600" dirty="0"/>
              <a:t>(n,[</a:t>
            </a:r>
            <a:r>
              <a:rPr lang="en-CA" sz="1600" dirty="0" err="1"/>
              <a:t>leave_door|S</a:t>
            </a:r>
            <a:r>
              <a:rPr lang="en-CA" sz="1600" dirty="0"/>
              <a:t>]):- </a:t>
            </a:r>
            <a:r>
              <a:rPr lang="en-CA" sz="1600" dirty="0" err="1"/>
              <a:t>poss</a:t>
            </a:r>
            <a:r>
              <a:rPr lang="en-CA" sz="1600" dirty="0"/>
              <a:t>(l[</a:t>
            </a:r>
            <a:r>
              <a:rPr lang="en-CA" sz="1600" dirty="0" err="1"/>
              <a:t>leave_door|S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near_door</a:t>
            </a:r>
            <a:r>
              <a:rPr lang="en-CA" sz="1600" dirty="0"/>
              <a:t>(n,[A|S]):- </a:t>
            </a:r>
            <a:r>
              <a:rPr lang="en-CA" sz="1600" dirty="0" err="1"/>
              <a:t>poss</a:t>
            </a:r>
            <a:r>
              <a:rPr lang="en-CA" sz="1600" dirty="0"/>
              <a:t>([A|S]),  A\= </a:t>
            </a:r>
            <a:r>
              <a:rPr lang="en-CA" sz="1600" dirty="0" err="1"/>
              <a:t>go_to_door</a:t>
            </a:r>
            <a:r>
              <a:rPr lang="en-CA" sz="1600" dirty="0"/>
              <a:t>, </a:t>
            </a:r>
            <a:r>
              <a:rPr lang="en-CA" sz="1600" dirty="0" err="1"/>
              <a:t>near_door</a:t>
            </a:r>
            <a:r>
              <a:rPr lang="en-CA" sz="1600" dirty="0"/>
              <a:t>(</a:t>
            </a:r>
            <a:r>
              <a:rPr lang="en-CA" sz="1600" dirty="0" err="1"/>
              <a:t>n,S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go_to_door|S</a:t>
            </a:r>
            <a:r>
              <a:rPr lang="en-CA" sz="1600" dirty="0"/>
              <a:t>]):- </a:t>
            </a:r>
            <a:r>
              <a:rPr lang="en-CA" sz="1600" dirty="0" err="1"/>
              <a:t>near_door</a:t>
            </a:r>
            <a:r>
              <a:rPr lang="en-CA" sz="1600" dirty="0"/>
              <a:t>(</a:t>
            </a:r>
            <a:r>
              <a:rPr lang="en-CA" sz="1600" dirty="0" err="1"/>
              <a:t>n,S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leave_door|S</a:t>
            </a:r>
            <a:r>
              <a:rPr lang="en-CA" sz="1600" dirty="0"/>
              <a:t>]):- </a:t>
            </a:r>
            <a:r>
              <a:rPr lang="en-CA" sz="1600" dirty="0" err="1"/>
              <a:t>near_door</a:t>
            </a:r>
            <a:r>
              <a:rPr lang="en-CA" sz="1600" dirty="0"/>
              <a:t>(</a:t>
            </a:r>
            <a:r>
              <a:rPr lang="en-CA" sz="1600" dirty="0" err="1"/>
              <a:t>y,S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open_door|S</a:t>
            </a:r>
            <a:r>
              <a:rPr lang="en-CA" sz="1600" dirty="0"/>
              <a:t>]):- </a:t>
            </a:r>
            <a:r>
              <a:rPr lang="en-CA" sz="1600" dirty="0" err="1"/>
              <a:t>near_door</a:t>
            </a:r>
            <a:r>
              <a:rPr lang="en-CA" sz="1600" dirty="0"/>
              <a:t>(</a:t>
            </a:r>
            <a:r>
              <a:rPr lang="en-CA" sz="1600" dirty="0" err="1"/>
              <a:t>y,S</a:t>
            </a:r>
            <a:r>
              <a:rPr lang="en-CA" sz="1600" dirty="0"/>
              <a:t>), </a:t>
            </a:r>
            <a:r>
              <a:rPr lang="en-CA" sz="1600" dirty="0" err="1"/>
              <a:t>door_open</a:t>
            </a:r>
            <a:r>
              <a:rPr lang="en-CA" sz="1600" dirty="0"/>
              <a:t>(</a:t>
            </a:r>
            <a:r>
              <a:rPr lang="en-CA" sz="1600" dirty="0" err="1"/>
              <a:t>n,S</a:t>
            </a:r>
            <a:r>
              <a:rPr lang="en-CA" sz="1600" dirty="0"/>
              <a:t>).</a:t>
            </a:r>
          </a:p>
          <a:p>
            <a:r>
              <a:rPr lang="en-CA" sz="1600" dirty="0" err="1"/>
              <a:t>poss</a:t>
            </a:r>
            <a:r>
              <a:rPr lang="en-CA" sz="1600" dirty="0"/>
              <a:t>([</a:t>
            </a:r>
            <a:r>
              <a:rPr lang="en-CA" sz="1600" dirty="0" err="1"/>
              <a:t>close_door|S</a:t>
            </a:r>
            <a:r>
              <a:rPr lang="en-CA" sz="1600" dirty="0"/>
              <a:t>]):- </a:t>
            </a:r>
            <a:r>
              <a:rPr lang="en-CA" sz="1600" dirty="0" err="1"/>
              <a:t>near_door</a:t>
            </a:r>
            <a:r>
              <a:rPr lang="en-CA" sz="1600" dirty="0"/>
              <a:t>(</a:t>
            </a:r>
            <a:r>
              <a:rPr lang="en-CA" sz="1600" dirty="0" err="1"/>
              <a:t>y,S</a:t>
            </a:r>
            <a:r>
              <a:rPr lang="en-CA" sz="1600" dirty="0"/>
              <a:t>), </a:t>
            </a:r>
            <a:r>
              <a:rPr lang="en-CA" sz="1600" dirty="0" err="1"/>
              <a:t>door_open</a:t>
            </a:r>
            <a:r>
              <a:rPr lang="en-CA" sz="1600" dirty="0"/>
              <a:t>(</a:t>
            </a:r>
            <a:r>
              <a:rPr lang="en-CA" sz="1600" dirty="0" err="1"/>
              <a:t>y,S</a:t>
            </a:r>
            <a:r>
              <a:rPr lang="en-CA" sz="1600" dirty="0"/>
              <a:t>).</a:t>
            </a:r>
          </a:p>
          <a:p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54A98-1253-BC4C-8523-0DCB76EAEC3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51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Conclusion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In this lesson, you learned how to represent knowledge of domains in the situation calculus, and how to translate that into practical Prolog programs.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next lesson, you will learn to solve planning problems using the situation calculus and Prolog.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46752</TotalTime>
  <Words>1924</Words>
  <Application>Microsoft Macintosh PowerPoint</Application>
  <PresentationFormat>Custom</PresentationFormat>
  <Paragraphs>160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Helvetica</vt:lpstr>
      <vt:lpstr>Wingdings</vt:lpstr>
      <vt:lpstr>Office Theme</vt:lpstr>
      <vt:lpstr>Situation Calculus: Door Example</vt:lpstr>
      <vt:lpstr>(reminder) Steps to Axiomatize a Domain</vt:lpstr>
      <vt:lpstr>Door example</vt:lpstr>
      <vt:lpstr>Axiomatize door world</vt:lpstr>
      <vt:lpstr>Precondition axioms for door</vt:lpstr>
      <vt:lpstr>Successor State axioms for door</vt:lpstr>
      <vt:lpstr>Successor State axioms for door (cont'd)</vt:lpstr>
      <vt:lpstr>Successor State axioms for door,  again</vt:lpstr>
      <vt:lpstr>Thinking about the previous slide</vt:lpstr>
      <vt:lpstr>Initial State for door domain</vt:lpstr>
      <vt:lpstr>Situation observations revisited</vt:lpstr>
      <vt:lpstr>Prolog initial state</vt:lpstr>
      <vt:lpstr>Avoiding negation</vt:lpstr>
      <vt:lpstr>Avoiding negation (cont'd)</vt:lpstr>
      <vt:lpstr>Avoiding negation (solving the negation problem)</vt:lpstr>
      <vt:lpstr>Running the door program</vt:lpstr>
      <vt:lpstr>Complete Prolog for door example</vt:lpstr>
      <vt:lpstr>Conclusion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237</cp:revision>
  <dcterms:created xsi:type="dcterms:W3CDTF">2016-12-21T16:02:28Z</dcterms:created>
  <dcterms:modified xsi:type="dcterms:W3CDTF">2025-11-12T12:20:14Z</dcterms:modified>
</cp:coreProperties>
</file>