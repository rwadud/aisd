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335" r:id="rId3"/>
    <p:sldId id="346" r:id="rId4"/>
    <p:sldId id="345" r:id="rId5"/>
    <p:sldId id="258" r:id="rId6"/>
    <p:sldId id="260" r:id="rId7"/>
    <p:sldId id="264" r:id="rId8"/>
    <p:sldId id="265" r:id="rId9"/>
    <p:sldId id="271" r:id="rId10"/>
    <p:sldId id="272" r:id="rId11"/>
    <p:sldId id="273" r:id="rId12"/>
    <p:sldId id="274" r:id="rId13"/>
    <p:sldId id="275" r:id="rId14"/>
    <p:sldId id="347" r:id="rId15"/>
    <p:sldId id="348" r:id="rId16"/>
    <p:sldId id="349" r:id="rId17"/>
    <p:sldId id="344" r:id="rId18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2" autoAdjust="0"/>
    <p:restoredTop sz="94740" autoAdjust="0"/>
  </p:normalViewPr>
  <p:slideViewPr>
    <p:cSldViewPr snapToGrid="0" snapToObjects="1">
      <p:cViewPr varScale="1">
        <p:scale>
          <a:sx n="91" d="100"/>
          <a:sy n="91" d="100"/>
        </p:scale>
        <p:origin x="240" y="24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Cut and Negation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Lesson Overview (Agenda)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the following lesson, we will explore: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cut operator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Negation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CE5B-CEAB-174A-F1C5-88272E0B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CB3CC-5BF4-2E34-CEE4-F668720F0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871003"/>
            <a:ext cx="13128201" cy="616164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cut operator in Prolog is the exclamation point: 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Cut is non-logical, so in this course we avoid using it, but…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do need to know what it means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cut (!) appears as a goal in the body of a predicate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it is always true,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it discards choice points (see scope of cut slide below)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Intuitively cut means "if the proof process gets to a cut in a predicate body, then commit to all choices made so far while working on that predicate"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D1E26-214E-9C18-4FEA-1B046F71A9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688711"/>
            <a:ext cx="13457230" cy="1495281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  <a:tabLst>
                <a:tab pos="7817078" algn="l"/>
              </a:tabLst>
            </a:pPr>
            <a:r>
              <a:rPr dirty="0"/>
              <a:t>E</a:t>
            </a:r>
            <a:r>
              <a:rPr lang="en-US" spc="-13" dirty="0"/>
              <a:t>xample</a:t>
            </a:r>
            <a:r>
              <a:rPr lang="en-US" dirty="0"/>
              <a:t> of cut (we would not use it).</a:t>
            </a:r>
            <a:br>
              <a:rPr lang="en-US" spc="-33" dirty="0"/>
            </a:br>
            <a:r>
              <a:rPr lang="en-CA" dirty="0"/>
              <a:t>Student Grades</a:t>
            </a:r>
            <a:endParaRPr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E5F2A9C-DD3B-16BC-EE5C-5AE76A06D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25151"/>
              </p:ext>
            </p:extLst>
          </p:nvPr>
        </p:nvGraphicFramePr>
        <p:xfrm>
          <a:off x="5987368" y="1683435"/>
          <a:ext cx="7489482" cy="634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741">
                  <a:extLst>
                    <a:ext uri="{9D8B030D-6E8A-4147-A177-3AD203B41FA5}">
                      <a16:colId xmlns:a16="http://schemas.microsoft.com/office/drawing/2014/main" val="1680820334"/>
                    </a:ext>
                  </a:extLst>
                </a:gridCol>
                <a:gridCol w="3744741">
                  <a:extLst>
                    <a:ext uri="{9D8B030D-6E8A-4147-A177-3AD203B41FA5}">
                      <a16:colId xmlns:a16="http://schemas.microsoft.com/office/drawing/2014/main" val="2961872037"/>
                    </a:ext>
                  </a:extLst>
                </a:gridCol>
              </a:tblGrid>
              <a:tr h="400625">
                <a:tc>
                  <a:txBody>
                    <a:bodyPr/>
                    <a:lstStyle/>
                    <a:p>
                      <a:r>
                        <a:rPr lang="en-US" sz="2000" dirty="0"/>
                        <a:t>Numeric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Letter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349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13870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5337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848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60128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136909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95634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13603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7766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670645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65831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829721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7613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5992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32" y="425425"/>
            <a:ext cx="12874985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1411358" algn="l"/>
              </a:tabLst>
            </a:pPr>
            <a:r>
              <a:rPr lang="en-US" dirty="0"/>
              <a:t>Prolog: Convert Number Grade to Letter</a:t>
            </a:r>
            <a:endParaRPr spc="-7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66C20C-0E1D-51F0-7779-A91523FDE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00964"/>
              </p:ext>
            </p:extLst>
          </p:nvPr>
        </p:nvGraphicFramePr>
        <p:xfrm>
          <a:off x="1913207" y="1349999"/>
          <a:ext cx="8496885" cy="664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0461">
                  <a:extLst>
                    <a:ext uri="{9D8B030D-6E8A-4147-A177-3AD203B41FA5}">
                      <a16:colId xmlns:a16="http://schemas.microsoft.com/office/drawing/2014/main" val="710999229"/>
                    </a:ext>
                  </a:extLst>
                </a:gridCol>
                <a:gridCol w="1153552">
                  <a:extLst>
                    <a:ext uri="{9D8B030D-6E8A-4147-A177-3AD203B41FA5}">
                      <a16:colId xmlns:a16="http://schemas.microsoft.com/office/drawing/2014/main" val="1680820334"/>
                    </a:ext>
                  </a:extLst>
                </a:gridCol>
                <a:gridCol w="1012872">
                  <a:extLst>
                    <a:ext uri="{9D8B030D-6E8A-4147-A177-3AD203B41FA5}">
                      <a16:colId xmlns:a16="http://schemas.microsoft.com/office/drawing/2014/main" val="2961872037"/>
                    </a:ext>
                  </a:extLst>
                </a:gridCol>
              </a:tblGrid>
              <a:tr h="400625">
                <a:tc>
                  <a:txBody>
                    <a:bodyPr/>
                    <a:lstStyle/>
                    <a:p>
                      <a:r>
                        <a:rPr lang="en-US" sz="20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Numeric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Letter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349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r>
                        <a:rPr lang="en-US" sz="2400" dirty="0"/>
                        <a:t>convert(X,'A+'):-X&gt;=90,!.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13870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convert(X,'A'):-X&gt;=85,!.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5337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convert(X,'A-'):-X&gt;=80,!.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848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convert(X,'B+'):-X&gt;=77,!.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60128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convert(X,'B'):-X&gt;=73,!.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136909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convert(X,'B-'):-X&gt;=70,!.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95634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convert(X,'C+'):-X&gt;=67,!.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13603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convert(X,'C'):-X&gt;=63,!.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7766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convert(X,'C-'):-X&gt;=60,!.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670645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convert(X,'D+'):-X&gt;=57,!.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658314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convert(X,'D'):-X&gt;=53,!.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829721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convert(X,'D-'):-X&gt;=50,!.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76136"/>
                  </a:ext>
                </a:extLst>
              </a:tr>
              <a:tr h="431613">
                <a:tc>
                  <a:txBody>
                    <a:bodyPr/>
                    <a:lstStyle/>
                    <a:p>
                      <a:pPr marL="0" marR="0" lvl="0" indent="0" algn="l" defTabSz="781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convert(X,'F').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5992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dirty="0"/>
              <a:t>Seems to work? (no, not good)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037350"/>
            <a:ext cx="10378440" cy="2523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convert(85,Grade).</a:t>
            </a:r>
          </a:p>
          <a:p>
            <a: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Grade = 'A'.</a:t>
            </a:r>
          </a:p>
          <a:p>
            <a:b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CA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convert(85,'C-').</a:t>
            </a:r>
          </a:p>
          <a:p>
            <a:r>
              <a:rPr lang="en-CA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true.</a:t>
            </a:r>
            <a:endParaRPr lang="en-CA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CA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6933" marR="7038164">
              <a:lnSpc>
                <a:spcPct val="145000"/>
              </a:lnSpc>
              <a:spcBef>
                <a:spcPts val="133"/>
              </a:spcBef>
              <a:tabLst>
                <a:tab pos="1728003" algn="l"/>
              </a:tabLst>
            </a:pPr>
            <a:endParaRPr lang="en-US" sz="2667" spc="-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382" y="2220637"/>
            <a:ext cx="11657935" cy="269678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74121" indent="-457189">
              <a:spcBef>
                <a:spcPts val="127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Cut can result in wrong answers because it is non-logical</a:t>
            </a:r>
          </a:p>
          <a:p>
            <a:pPr marL="474121" indent="-457189">
              <a:spcBef>
                <a:spcPts val="127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We stay as purely logical as we can, so we avoid cut</a:t>
            </a:r>
            <a:endParaRPr sz="5267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Bad code can be inefficient compared to good code, so we need to make sure we write good code, but we don't use cut to increase efficiency in this course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4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THE</a:t>
            </a:r>
            <a:r>
              <a:rPr spc="-33" dirty="0"/>
              <a:t> </a:t>
            </a:r>
            <a:r>
              <a:rPr spc="-7" dirty="0"/>
              <a:t>SCOPE</a:t>
            </a:r>
            <a:r>
              <a:rPr spc="-6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7381" y="2037350"/>
            <a:ext cx="3887893" cy="35311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549473">
              <a:lnSpc>
                <a:spcPct val="145000"/>
              </a:lnSpc>
              <a:spcBef>
                <a:spcPts val="133"/>
              </a:spcBef>
            </a:pPr>
            <a:r>
              <a:rPr sz="2667" b="1" spc="-7" dirty="0">
                <a:latin typeface="Arial"/>
                <a:cs typeface="Arial"/>
              </a:rPr>
              <a:t>C :-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353" dirty="0">
                <a:latin typeface="Arial"/>
                <a:cs typeface="Arial"/>
              </a:rPr>
              <a:t>P</a:t>
            </a:r>
            <a:r>
              <a:rPr sz="2667" b="1" spc="-7" dirty="0">
                <a:latin typeface="Arial"/>
                <a:cs typeface="Arial"/>
              </a:rPr>
              <a:t>,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Q,</a:t>
            </a:r>
            <a:r>
              <a:rPr sz="2667" b="1" spc="-2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R, !,</a:t>
            </a:r>
            <a:r>
              <a:rPr sz="2667" b="1" spc="-27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S,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313" dirty="0">
                <a:latin typeface="Arial"/>
                <a:cs typeface="Arial"/>
              </a:rPr>
              <a:t>T</a:t>
            </a:r>
            <a:r>
              <a:rPr sz="2667" b="1" spc="-7" dirty="0">
                <a:latin typeface="Arial"/>
                <a:cs typeface="Arial"/>
              </a:rPr>
              <a:t>,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U.  C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:-</a:t>
            </a:r>
            <a:r>
              <a:rPr sz="2667" b="1" spc="-20" dirty="0">
                <a:latin typeface="Arial"/>
                <a:cs typeface="Arial"/>
              </a:rPr>
              <a:t> </a:t>
            </a:r>
            <a:r>
              <a:rPr sz="2667" b="1" spc="-260" dirty="0">
                <a:latin typeface="Arial"/>
                <a:cs typeface="Arial"/>
              </a:rPr>
              <a:t>V.</a:t>
            </a:r>
            <a:endParaRPr sz="2667" dirty="0">
              <a:latin typeface="Arial"/>
              <a:cs typeface="Arial"/>
            </a:endParaRPr>
          </a:p>
          <a:p>
            <a:pPr marL="16933">
              <a:spcBef>
                <a:spcPts val="1440"/>
              </a:spcBef>
            </a:pPr>
            <a:r>
              <a:rPr sz="2667" b="1" spc="-7" dirty="0">
                <a:latin typeface="Arial"/>
                <a:cs typeface="Arial"/>
              </a:rPr>
              <a:t>A</a:t>
            </a:r>
            <a:r>
              <a:rPr sz="2667" b="1" spc="-12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:-</a:t>
            </a:r>
            <a:r>
              <a:rPr sz="2667" b="1" spc="-27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B,</a:t>
            </a:r>
            <a:r>
              <a:rPr sz="2667" b="1" spc="-27" dirty="0">
                <a:latin typeface="Arial"/>
                <a:cs typeface="Arial"/>
              </a:rPr>
              <a:t> </a:t>
            </a:r>
            <a:r>
              <a:rPr sz="2667" b="1" spc="-13" dirty="0">
                <a:latin typeface="Arial"/>
                <a:cs typeface="Arial"/>
              </a:rPr>
              <a:t>C, </a:t>
            </a:r>
            <a:r>
              <a:rPr sz="2667" b="1" spc="-7" dirty="0">
                <a:latin typeface="Arial"/>
                <a:cs typeface="Arial"/>
              </a:rPr>
              <a:t>D.</a:t>
            </a:r>
            <a:endParaRPr sz="2667" dirty="0">
              <a:latin typeface="Arial"/>
              <a:cs typeface="Arial"/>
            </a:endParaRPr>
          </a:p>
          <a:p>
            <a:pPr marL="16933">
              <a:spcBef>
                <a:spcPts val="1440"/>
              </a:spcBef>
            </a:pPr>
            <a:r>
              <a:rPr sz="2667" b="1" spc="-7" dirty="0">
                <a:latin typeface="Arial"/>
                <a:cs typeface="Arial"/>
              </a:rPr>
              <a:t>?-</a:t>
            </a:r>
            <a:r>
              <a:rPr sz="2667" b="1" spc="-152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A.</a:t>
            </a:r>
            <a:endParaRPr sz="26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33" dirty="0">
              <a:latin typeface="Arial"/>
              <a:cs typeface="Arial"/>
            </a:endParaRPr>
          </a:p>
          <a:p>
            <a:pPr marR="6773" algn="r">
              <a:spcBef>
                <a:spcPts val="2200"/>
              </a:spcBef>
            </a:pPr>
            <a:r>
              <a:rPr sz="2667" spc="-240" dirty="0">
                <a:latin typeface="Arial"/>
                <a:cs typeface="Arial"/>
              </a:rPr>
              <a:t>A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519" y="6078728"/>
            <a:ext cx="242147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293" dirty="0">
                <a:latin typeface="Arial"/>
                <a:cs typeface="Arial"/>
              </a:rPr>
              <a:t>D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6119" y="6078728"/>
            <a:ext cx="2177627" cy="1432209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tabLst>
                <a:tab pos="1235256" algn="l"/>
              </a:tabLst>
            </a:pPr>
            <a:r>
              <a:rPr sz="2667" spc="-333" dirty="0">
                <a:latin typeface="Arial"/>
                <a:cs typeface="Arial"/>
              </a:rPr>
              <a:t>B	</a:t>
            </a:r>
            <a:r>
              <a:rPr sz="2667" spc="-507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2667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3867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6933"/>
            <a:r>
              <a:rPr sz="2667" spc="-74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667" spc="-8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667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67" spc="-152" dirty="0">
                <a:solidFill>
                  <a:srgbClr val="FF0000"/>
                </a:solidFill>
                <a:latin typeface="Arial"/>
                <a:cs typeface="Arial"/>
              </a:rPr>
              <a:t>Q</a:t>
            </a:r>
            <a:r>
              <a:rPr sz="2667" spc="-8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2667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67" spc="-28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667" spc="-280" dirty="0">
                <a:latin typeface="Arial"/>
                <a:cs typeface="Arial"/>
              </a:rPr>
              <a:t>,</a:t>
            </a:r>
            <a:r>
              <a:rPr sz="2667" spc="-133" dirty="0">
                <a:latin typeface="Arial"/>
                <a:cs typeface="Arial"/>
              </a:rPr>
              <a:t> </a:t>
            </a:r>
            <a:r>
              <a:rPr sz="2667" spc="20" dirty="0">
                <a:latin typeface="Arial"/>
                <a:cs typeface="Arial"/>
              </a:rPr>
              <a:t>!,</a:t>
            </a:r>
            <a:r>
              <a:rPr sz="2667" spc="-140" dirty="0">
                <a:latin typeface="Arial"/>
                <a:cs typeface="Arial"/>
              </a:rPr>
              <a:t> </a:t>
            </a:r>
            <a:r>
              <a:rPr sz="2667" spc="-453" dirty="0">
                <a:latin typeface="Arial"/>
                <a:cs typeface="Arial"/>
              </a:rPr>
              <a:t>S</a:t>
            </a:r>
            <a:r>
              <a:rPr sz="2667" spc="-187" dirty="0">
                <a:latin typeface="Arial"/>
                <a:cs typeface="Arial"/>
              </a:rPr>
              <a:t>,</a:t>
            </a:r>
            <a:r>
              <a:rPr sz="2667" spc="-147" dirty="0">
                <a:latin typeface="Arial"/>
                <a:cs typeface="Arial"/>
              </a:rPr>
              <a:t> </a:t>
            </a:r>
            <a:r>
              <a:rPr sz="2667" spc="-607" dirty="0">
                <a:latin typeface="Arial"/>
                <a:cs typeface="Arial"/>
              </a:rPr>
              <a:t>T</a:t>
            </a:r>
            <a:r>
              <a:rPr sz="2667" spc="-80" dirty="0">
                <a:latin typeface="Arial"/>
                <a:cs typeface="Arial"/>
              </a:rPr>
              <a:t>,</a:t>
            </a:r>
            <a:r>
              <a:rPr sz="2667" spc="-127" dirty="0">
                <a:latin typeface="Arial"/>
                <a:cs typeface="Arial"/>
              </a:rPr>
              <a:t> </a:t>
            </a:r>
            <a:r>
              <a:rPr sz="2667" spc="-220" dirty="0">
                <a:latin typeface="Arial"/>
                <a:cs typeface="Arial"/>
              </a:rPr>
              <a:t>U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40479" y="7054087"/>
            <a:ext cx="226060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272" dirty="0">
                <a:latin typeface="Arial"/>
                <a:cs typeface="Arial"/>
              </a:rPr>
              <a:t>V</a:t>
            </a:r>
            <a:endParaRPr sz="2667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7194" y="5580887"/>
            <a:ext cx="817880" cy="515620"/>
          </a:xfrm>
          <a:custGeom>
            <a:avLst/>
            <a:gdLst/>
            <a:ahLst/>
            <a:cxnLst/>
            <a:rect l="l" t="t" r="r" b="b"/>
            <a:pathLst>
              <a:path w="613410" h="386714">
                <a:moveTo>
                  <a:pt x="51562" y="294385"/>
                </a:moveTo>
                <a:lnTo>
                  <a:pt x="47751" y="295528"/>
                </a:lnTo>
                <a:lnTo>
                  <a:pt x="46100" y="298576"/>
                </a:lnTo>
                <a:lnTo>
                  <a:pt x="0" y="386333"/>
                </a:lnTo>
                <a:lnTo>
                  <a:pt x="41274" y="385063"/>
                </a:lnTo>
                <a:lnTo>
                  <a:pt x="13969" y="385063"/>
                </a:lnTo>
                <a:lnTo>
                  <a:pt x="7238" y="374268"/>
                </a:lnTo>
                <a:lnTo>
                  <a:pt x="27264" y="361755"/>
                </a:lnTo>
                <a:lnTo>
                  <a:pt x="57404" y="304545"/>
                </a:lnTo>
                <a:lnTo>
                  <a:pt x="58927" y="301497"/>
                </a:lnTo>
                <a:lnTo>
                  <a:pt x="57785" y="297560"/>
                </a:lnTo>
                <a:lnTo>
                  <a:pt x="54737" y="295909"/>
                </a:lnTo>
                <a:lnTo>
                  <a:pt x="51562" y="294385"/>
                </a:lnTo>
                <a:close/>
              </a:path>
              <a:path w="613410" h="386714">
                <a:moveTo>
                  <a:pt x="27264" y="361755"/>
                </a:moveTo>
                <a:lnTo>
                  <a:pt x="7238" y="374268"/>
                </a:lnTo>
                <a:lnTo>
                  <a:pt x="13969" y="385063"/>
                </a:lnTo>
                <a:lnTo>
                  <a:pt x="17830" y="382650"/>
                </a:lnTo>
                <a:lnTo>
                  <a:pt x="16256" y="382650"/>
                </a:lnTo>
                <a:lnTo>
                  <a:pt x="10413" y="373379"/>
                </a:lnTo>
                <a:lnTo>
                  <a:pt x="21322" y="373034"/>
                </a:lnTo>
                <a:lnTo>
                  <a:pt x="27264" y="361755"/>
                </a:lnTo>
                <a:close/>
              </a:path>
              <a:path w="613410" h="386714">
                <a:moveTo>
                  <a:pt x="102107" y="370458"/>
                </a:moveTo>
                <a:lnTo>
                  <a:pt x="33847" y="372638"/>
                </a:lnTo>
                <a:lnTo>
                  <a:pt x="13969" y="385063"/>
                </a:lnTo>
                <a:lnTo>
                  <a:pt x="41274" y="385063"/>
                </a:lnTo>
                <a:lnTo>
                  <a:pt x="102488" y="383158"/>
                </a:lnTo>
                <a:lnTo>
                  <a:pt x="105282" y="380237"/>
                </a:lnTo>
                <a:lnTo>
                  <a:pt x="105029" y="373252"/>
                </a:lnTo>
                <a:lnTo>
                  <a:pt x="102107" y="370458"/>
                </a:lnTo>
                <a:close/>
              </a:path>
              <a:path w="613410" h="386714">
                <a:moveTo>
                  <a:pt x="21322" y="373034"/>
                </a:moveTo>
                <a:lnTo>
                  <a:pt x="10413" y="373379"/>
                </a:lnTo>
                <a:lnTo>
                  <a:pt x="16256" y="382650"/>
                </a:lnTo>
                <a:lnTo>
                  <a:pt x="21322" y="373034"/>
                </a:lnTo>
                <a:close/>
              </a:path>
              <a:path w="613410" h="386714">
                <a:moveTo>
                  <a:pt x="33847" y="372638"/>
                </a:moveTo>
                <a:lnTo>
                  <a:pt x="21322" y="373034"/>
                </a:lnTo>
                <a:lnTo>
                  <a:pt x="16256" y="382650"/>
                </a:lnTo>
                <a:lnTo>
                  <a:pt x="17830" y="382650"/>
                </a:lnTo>
                <a:lnTo>
                  <a:pt x="33847" y="372638"/>
                </a:lnTo>
                <a:close/>
              </a:path>
              <a:path w="613410" h="386714">
                <a:moveTo>
                  <a:pt x="606170" y="0"/>
                </a:moveTo>
                <a:lnTo>
                  <a:pt x="27264" y="361755"/>
                </a:lnTo>
                <a:lnTo>
                  <a:pt x="21322" y="373034"/>
                </a:lnTo>
                <a:lnTo>
                  <a:pt x="33847" y="372638"/>
                </a:lnTo>
                <a:lnTo>
                  <a:pt x="612901" y="10667"/>
                </a:lnTo>
                <a:lnTo>
                  <a:pt x="606170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8" name="object 8"/>
          <p:cNvSpPr/>
          <p:nvPr/>
        </p:nvSpPr>
        <p:spPr>
          <a:xfrm>
            <a:off x="6434275" y="5588000"/>
            <a:ext cx="138007" cy="508000"/>
          </a:xfrm>
          <a:custGeom>
            <a:avLst/>
            <a:gdLst/>
            <a:ahLst/>
            <a:cxnLst/>
            <a:rect l="l" t="t" r="r" b="b"/>
            <a:pathLst>
              <a:path w="103504" h="381000">
                <a:moveTo>
                  <a:pt x="7112" y="284988"/>
                </a:moveTo>
                <a:lnTo>
                  <a:pt x="1015" y="288544"/>
                </a:lnTo>
                <a:lnTo>
                  <a:pt x="0" y="292354"/>
                </a:lnTo>
                <a:lnTo>
                  <a:pt x="51688" y="381000"/>
                </a:lnTo>
                <a:lnTo>
                  <a:pt x="59020" y="368426"/>
                </a:lnTo>
                <a:lnTo>
                  <a:pt x="45338" y="368426"/>
                </a:lnTo>
                <a:lnTo>
                  <a:pt x="45338" y="345004"/>
                </a:lnTo>
                <a:lnTo>
                  <a:pt x="10922" y="286004"/>
                </a:lnTo>
                <a:lnTo>
                  <a:pt x="7112" y="284988"/>
                </a:lnTo>
                <a:close/>
              </a:path>
              <a:path w="103504" h="381000">
                <a:moveTo>
                  <a:pt x="45338" y="345004"/>
                </a:moveTo>
                <a:lnTo>
                  <a:pt x="45338" y="368426"/>
                </a:lnTo>
                <a:lnTo>
                  <a:pt x="58038" y="368426"/>
                </a:lnTo>
                <a:lnTo>
                  <a:pt x="58038" y="365251"/>
                </a:lnTo>
                <a:lnTo>
                  <a:pt x="46227" y="365251"/>
                </a:lnTo>
                <a:lnTo>
                  <a:pt x="51688" y="355890"/>
                </a:lnTo>
                <a:lnTo>
                  <a:pt x="45338" y="345004"/>
                </a:lnTo>
                <a:close/>
              </a:path>
              <a:path w="103504" h="381000">
                <a:moveTo>
                  <a:pt x="96265" y="284988"/>
                </a:moveTo>
                <a:lnTo>
                  <a:pt x="92455" y="286004"/>
                </a:lnTo>
                <a:lnTo>
                  <a:pt x="58038" y="345004"/>
                </a:lnTo>
                <a:lnTo>
                  <a:pt x="58038" y="368426"/>
                </a:lnTo>
                <a:lnTo>
                  <a:pt x="59020" y="368426"/>
                </a:lnTo>
                <a:lnTo>
                  <a:pt x="103377" y="292354"/>
                </a:lnTo>
                <a:lnTo>
                  <a:pt x="102362" y="288544"/>
                </a:lnTo>
                <a:lnTo>
                  <a:pt x="96265" y="284988"/>
                </a:lnTo>
                <a:close/>
              </a:path>
              <a:path w="103504" h="381000">
                <a:moveTo>
                  <a:pt x="51688" y="355890"/>
                </a:moveTo>
                <a:lnTo>
                  <a:pt x="46227" y="365251"/>
                </a:lnTo>
                <a:lnTo>
                  <a:pt x="57150" y="365251"/>
                </a:lnTo>
                <a:lnTo>
                  <a:pt x="51688" y="355890"/>
                </a:lnTo>
                <a:close/>
              </a:path>
              <a:path w="103504" h="381000">
                <a:moveTo>
                  <a:pt x="58038" y="345004"/>
                </a:moveTo>
                <a:lnTo>
                  <a:pt x="51688" y="355890"/>
                </a:lnTo>
                <a:lnTo>
                  <a:pt x="57150" y="365251"/>
                </a:lnTo>
                <a:lnTo>
                  <a:pt x="58038" y="365251"/>
                </a:lnTo>
                <a:lnTo>
                  <a:pt x="58038" y="345004"/>
                </a:lnTo>
                <a:close/>
              </a:path>
              <a:path w="103504" h="381000">
                <a:moveTo>
                  <a:pt x="58038" y="0"/>
                </a:moveTo>
                <a:lnTo>
                  <a:pt x="45338" y="0"/>
                </a:lnTo>
                <a:lnTo>
                  <a:pt x="45338" y="345004"/>
                </a:lnTo>
                <a:lnTo>
                  <a:pt x="51688" y="355890"/>
                </a:lnTo>
                <a:lnTo>
                  <a:pt x="58038" y="345004"/>
                </a:lnTo>
                <a:lnTo>
                  <a:pt x="58038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 sz="4133"/>
          </a:p>
        </p:txBody>
      </p:sp>
      <p:sp>
        <p:nvSpPr>
          <p:cNvPr id="9" name="object 9"/>
          <p:cNvSpPr/>
          <p:nvPr/>
        </p:nvSpPr>
        <p:spPr>
          <a:xfrm>
            <a:off x="6752453" y="5580887"/>
            <a:ext cx="767080" cy="515620"/>
          </a:xfrm>
          <a:custGeom>
            <a:avLst/>
            <a:gdLst/>
            <a:ahLst/>
            <a:cxnLst/>
            <a:rect l="l" t="t" r="r" b="b"/>
            <a:pathLst>
              <a:path w="575310" h="386714">
                <a:moveTo>
                  <a:pt x="473455" y="367537"/>
                </a:moveTo>
                <a:lnTo>
                  <a:pt x="470407" y="370204"/>
                </a:lnTo>
                <a:lnTo>
                  <a:pt x="470153" y="373633"/>
                </a:lnTo>
                <a:lnTo>
                  <a:pt x="470026" y="377189"/>
                </a:lnTo>
                <a:lnTo>
                  <a:pt x="472693" y="380237"/>
                </a:lnTo>
                <a:lnTo>
                  <a:pt x="476122" y="380364"/>
                </a:lnTo>
                <a:lnTo>
                  <a:pt x="575055" y="386333"/>
                </a:lnTo>
                <a:lnTo>
                  <a:pt x="574248" y="384682"/>
                </a:lnTo>
                <a:lnTo>
                  <a:pt x="561085" y="384682"/>
                </a:lnTo>
                <a:lnTo>
                  <a:pt x="541470" y="371607"/>
                </a:lnTo>
                <a:lnTo>
                  <a:pt x="476884" y="367791"/>
                </a:lnTo>
                <a:lnTo>
                  <a:pt x="473455" y="367537"/>
                </a:lnTo>
                <a:close/>
              </a:path>
              <a:path w="575310" h="386714">
                <a:moveTo>
                  <a:pt x="541470" y="371607"/>
                </a:moveTo>
                <a:lnTo>
                  <a:pt x="561085" y="384682"/>
                </a:lnTo>
                <a:lnTo>
                  <a:pt x="562749" y="382142"/>
                </a:lnTo>
                <a:lnTo>
                  <a:pt x="558926" y="382142"/>
                </a:lnTo>
                <a:lnTo>
                  <a:pt x="554143" y="372356"/>
                </a:lnTo>
                <a:lnTo>
                  <a:pt x="541470" y="371607"/>
                </a:lnTo>
                <a:close/>
              </a:path>
              <a:path w="575310" h="386714">
                <a:moveTo>
                  <a:pt x="526160" y="292861"/>
                </a:moveTo>
                <a:lnTo>
                  <a:pt x="523113" y="294385"/>
                </a:lnTo>
                <a:lnTo>
                  <a:pt x="519938" y="295909"/>
                </a:lnTo>
                <a:lnTo>
                  <a:pt x="518540" y="299719"/>
                </a:lnTo>
                <a:lnTo>
                  <a:pt x="520191" y="302894"/>
                </a:lnTo>
                <a:lnTo>
                  <a:pt x="548612" y="361041"/>
                </a:lnTo>
                <a:lnTo>
                  <a:pt x="568070" y="374014"/>
                </a:lnTo>
                <a:lnTo>
                  <a:pt x="561085" y="384682"/>
                </a:lnTo>
                <a:lnTo>
                  <a:pt x="574248" y="384682"/>
                </a:lnTo>
                <a:lnTo>
                  <a:pt x="531494" y="297306"/>
                </a:lnTo>
                <a:lnTo>
                  <a:pt x="529970" y="294131"/>
                </a:lnTo>
                <a:lnTo>
                  <a:pt x="526160" y="292861"/>
                </a:lnTo>
                <a:close/>
              </a:path>
              <a:path w="575310" h="386714">
                <a:moveTo>
                  <a:pt x="554143" y="372356"/>
                </a:moveTo>
                <a:lnTo>
                  <a:pt x="558926" y="382142"/>
                </a:lnTo>
                <a:lnTo>
                  <a:pt x="565022" y="372998"/>
                </a:lnTo>
                <a:lnTo>
                  <a:pt x="554143" y="372356"/>
                </a:lnTo>
                <a:close/>
              </a:path>
              <a:path w="575310" h="386714">
                <a:moveTo>
                  <a:pt x="548612" y="361041"/>
                </a:moveTo>
                <a:lnTo>
                  <a:pt x="554143" y="372356"/>
                </a:lnTo>
                <a:lnTo>
                  <a:pt x="565022" y="372998"/>
                </a:lnTo>
                <a:lnTo>
                  <a:pt x="558926" y="382142"/>
                </a:lnTo>
                <a:lnTo>
                  <a:pt x="562749" y="382142"/>
                </a:lnTo>
                <a:lnTo>
                  <a:pt x="568070" y="374014"/>
                </a:lnTo>
                <a:lnTo>
                  <a:pt x="548612" y="361041"/>
                </a:lnTo>
                <a:close/>
              </a:path>
              <a:path w="575310" h="386714">
                <a:moveTo>
                  <a:pt x="7111" y="0"/>
                </a:moveTo>
                <a:lnTo>
                  <a:pt x="0" y="10667"/>
                </a:lnTo>
                <a:lnTo>
                  <a:pt x="541470" y="371607"/>
                </a:lnTo>
                <a:lnTo>
                  <a:pt x="554143" y="372356"/>
                </a:lnTo>
                <a:lnTo>
                  <a:pt x="548612" y="361041"/>
                </a:lnTo>
                <a:lnTo>
                  <a:pt x="711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 sz="4133"/>
          </a:p>
        </p:txBody>
      </p:sp>
      <p:grpSp>
        <p:nvGrpSpPr>
          <p:cNvPr id="10" name="object 10"/>
          <p:cNvGrpSpPr/>
          <p:nvPr/>
        </p:nvGrpSpPr>
        <p:grpSpPr>
          <a:xfrm>
            <a:off x="5182394" y="6428571"/>
            <a:ext cx="2844800" cy="635000"/>
            <a:chOff x="2362200" y="4821428"/>
            <a:chExt cx="2133600" cy="476250"/>
          </a:xfrm>
        </p:grpSpPr>
        <p:sp>
          <p:nvSpPr>
            <p:cNvPr id="11" name="object 11"/>
            <p:cNvSpPr/>
            <p:nvPr/>
          </p:nvSpPr>
          <p:spPr>
            <a:xfrm>
              <a:off x="2438400" y="4832985"/>
              <a:ext cx="2057400" cy="464820"/>
            </a:xfrm>
            <a:custGeom>
              <a:avLst/>
              <a:gdLst/>
              <a:ahLst/>
              <a:cxnLst/>
              <a:rect l="l" t="t" r="r" b="b"/>
              <a:pathLst>
                <a:path w="2057400" h="464820">
                  <a:moveTo>
                    <a:pt x="764794" y="11430"/>
                  </a:moveTo>
                  <a:lnTo>
                    <a:pt x="759206" y="0"/>
                  </a:lnTo>
                  <a:lnTo>
                    <a:pt x="29387" y="364909"/>
                  </a:lnTo>
                  <a:lnTo>
                    <a:pt x="66802" y="307848"/>
                  </a:lnTo>
                  <a:lnTo>
                    <a:pt x="65913" y="303911"/>
                  </a:lnTo>
                  <a:lnTo>
                    <a:pt x="62992" y="301879"/>
                  </a:lnTo>
                  <a:lnTo>
                    <a:pt x="60071" y="299974"/>
                  </a:lnTo>
                  <a:lnTo>
                    <a:pt x="56134" y="300863"/>
                  </a:lnTo>
                  <a:lnTo>
                    <a:pt x="0" y="386715"/>
                  </a:lnTo>
                  <a:lnTo>
                    <a:pt x="102362" y="393331"/>
                  </a:lnTo>
                  <a:lnTo>
                    <a:pt x="105410" y="390652"/>
                  </a:lnTo>
                  <a:lnTo>
                    <a:pt x="105664" y="387223"/>
                  </a:lnTo>
                  <a:lnTo>
                    <a:pt x="105676" y="386715"/>
                  </a:lnTo>
                  <a:lnTo>
                    <a:pt x="105791" y="383667"/>
                  </a:lnTo>
                  <a:lnTo>
                    <a:pt x="103251" y="380631"/>
                  </a:lnTo>
                  <a:lnTo>
                    <a:pt x="99695" y="380492"/>
                  </a:lnTo>
                  <a:lnTo>
                    <a:pt x="34950" y="376288"/>
                  </a:lnTo>
                  <a:lnTo>
                    <a:pt x="764794" y="11430"/>
                  </a:lnTo>
                  <a:close/>
                </a:path>
                <a:path w="2057400" h="464820">
                  <a:moveTo>
                    <a:pt x="841883" y="49022"/>
                  </a:moveTo>
                  <a:lnTo>
                    <a:pt x="834504" y="38608"/>
                  </a:lnTo>
                  <a:lnTo>
                    <a:pt x="330428" y="398691"/>
                  </a:lnTo>
                  <a:lnTo>
                    <a:pt x="356997" y="339598"/>
                  </a:lnTo>
                  <a:lnTo>
                    <a:pt x="358394" y="336423"/>
                  </a:lnTo>
                  <a:lnTo>
                    <a:pt x="356997" y="332740"/>
                  </a:lnTo>
                  <a:lnTo>
                    <a:pt x="353822" y="331216"/>
                  </a:lnTo>
                  <a:lnTo>
                    <a:pt x="350647" y="329819"/>
                  </a:lnTo>
                  <a:lnTo>
                    <a:pt x="346837" y="331216"/>
                  </a:lnTo>
                  <a:lnTo>
                    <a:pt x="345440" y="334391"/>
                  </a:lnTo>
                  <a:lnTo>
                    <a:pt x="304800" y="424815"/>
                  </a:lnTo>
                  <a:lnTo>
                    <a:pt x="328091" y="422656"/>
                  </a:lnTo>
                  <a:lnTo>
                    <a:pt x="403479" y="415671"/>
                  </a:lnTo>
                  <a:lnTo>
                    <a:pt x="406908" y="415417"/>
                  </a:lnTo>
                  <a:lnTo>
                    <a:pt x="409460" y="412369"/>
                  </a:lnTo>
                  <a:lnTo>
                    <a:pt x="409346" y="410235"/>
                  </a:lnTo>
                  <a:lnTo>
                    <a:pt x="408813" y="405257"/>
                  </a:lnTo>
                  <a:lnTo>
                    <a:pt x="405765" y="402717"/>
                  </a:lnTo>
                  <a:lnTo>
                    <a:pt x="402336" y="403098"/>
                  </a:lnTo>
                  <a:lnTo>
                    <a:pt x="337794" y="409079"/>
                  </a:lnTo>
                  <a:lnTo>
                    <a:pt x="841883" y="49022"/>
                  </a:lnTo>
                  <a:close/>
                </a:path>
                <a:path w="2057400" h="464820">
                  <a:moveTo>
                    <a:pt x="918845" y="48260"/>
                  </a:moveTo>
                  <a:lnTo>
                    <a:pt x="909955" y="39370"/>
                  </a:lnTo>
                  <a:lnTo>
                    <a:pt x="554329" y="394995"/>
                  </a:lnTo>
                  <a:lnTo>
                    <a:pt x="571754" y="328803"/>
                  </a:lnTo>
                  <a:lnTo>
                    <a:pt x="569722" y="325374"/>
                  </a:lnTo>
                  <a:lnTo>
                    <a:pt x="562991" y="323596"/>
                  </a:lnTo>
                  <a:lnTo>
                    <a:pt x="559435" y="325628"/>
                  </a:lnTo>
                  <a:lnTo>
                    <a:pt x="533400" y="424815"/>
                  </a:lnTo>
                  <a:lnTo>
                    <a:pt x="550329" y="420370"/>
                  </a:lnTo>
                  <a:lnTo>
                    <a:pt x="632587" y="398780"/>
                  </a:lnTo>
                  <a:lnTo>
                    <a:pt x="634619" y="395224"/>
                  </a:lnTo>
                  <a:lnTo>
                    <a:pt x="633730" y="391795"/>
                  </a:lnTo>
                  <a:lnTo>
                    <a:pt x="632841" y="388493"/>
                  </a:lnTo>
                  <a:lnTo>
                    <a:pt x="629412" y="386461"/>
                  </a:lnTo>
                  <a:lnTo>
                    <a:pt x="563219" y="403885"/>
                  </a:lnTo>
                  <a:lnTo>
                    <a:pt x="918845" y="48260"/>
                  </a:lnTo>
                  <a:close/>
                </a:path>
                <a:path w="2057400" h="464820">
                  <a:moveTo>
                    <a:pt x="923544" y="84074"/>
                  </a:moveTo>
                  <a:lnTo>
                    <a:pt x="911606" y="79756"/>
                  </a:lnTo>
                  <a:lnTo>
                    <a:pt x="782866" y="426923"/>
                  </a:lnTo>
                  <a:lnTo>
                    <a:pt x="771779" y="363093"/>
                  </a:lnTo>
                  <a:lnTo>
                    <a:pt x="771144" y="359664"/>
                  </a:lnTo>
                  <a:lnTo>
                    <a:pt x="767842" y="357378"/>
                  </a:lnTo>
                  <a:lnTo>
                    <a:pt x="764413" y="358013"/>
                  </a:lnTo>
                  <a:lnTo>
                    <a:pt x="760984" y="358521"/>
                  </a:lnTo>
                  <a:lnTo>
                    <a:pt x="758571" y="361823"/>
                  </a:lnTo>
                  <a:lnTo>
                    <a:pt x="776224" y="462915"/>
                  </a:lnTo>
                  <a:lnTo>
                    <a:pt x="787819" y="453390"/>
                  </a:lnTo>
                  <a:lnTo>
                    <a:pt x="855599" y="397764"/>
                  </a:lnTo>
                  <a:lnTo>
                    <a:pt x="855967" y="393827"/>
                  </a:lnTo>
                  <a:lnTo>
                    <a:pt x="853694" y="391160"/>
                  </a:lnTo>
                  <a:lnTo>
                    <a:pt x="851535" y="388366"/>
                  </a:lnTo>
                  <a:lnTo>
                    <a:pt x="847471" y="387985"/>
                  </a:lnTo>
                  <a:lnTo>
                    <a:pt x="844791" y="390271"/>
                  </a:lnTo>
                  <a:lnTo>
                    <a:pt x="794816" y="431330"/>
                  </a:lnTo>
                  <a:lnTo>
                    <a:pt x="923544" y="84074"/>
                  </a:lnTo>
                  <a:close/>
                </a:path>
                <a:path w="2057400" h="464820">
                  <a:moveTo>
                    <a:pt x="1033907" y="327914"/>
                  </a:moveTo>
                  <a:lnTo>
                    <a:pt x="1032256" y="324358"/>
                  </a:lnTo>
                  <a:lnTo>
                    <a:pt x="1025652" y="322072"/>
                  </a:lnTo>
                  <a:lnTo>
                    <a:pt x="1021969" y="323723"/>
                  </a:lnTo>
                  <a:lnTo>
                    <a:pt x="1020826" y="327152"/>
                  </a:lnTo>
                  <a:lnTo>
                    <a:pt x="999464" y="388251"/>
                  </a:lnTo>
                  <a:lnTo>
                    <a:pt x="939673" y="80645"/>
                  </a:lnTo>
                  <a:lnTo>
                    <a:pt x="927227" y="83185"/>
                  </a:lnTo>
                  <a:lnTo>
                    <a:pt x="987005" y="390613"/>
                  </a:lnTo>
                  <a:lnTo>
                    <a:pt x="944372" y="342011"/>
                  </a:lnTo>
                  <a:lnTo>
                    <a:pt x="941959" y="339344"/>
                  </a:lnTo>
                  <a:lnTo>
                    <a:pt x="938022" y="339090"/>
                  </a:lnTo>
                  <a:lnTo>
                    <a:pt x="932688" y="343662"/>
                  </a:lnTo>
                  <a:lnTo>
                    <a:pt x="932434" y="347726"/>
                  </a:lnTo>
                  <a:lnTo>
                    <a:pt x="934720" y="350393"/>
                  </a:lnTo>
                  <a:lnTo>
                    <a:pt x="1000125" y="424815"/>
                  </a:lnTo>
                  <a:lnTo>
                    <a:pt x="1004023" y="413639"/>
                  </a:lnTo>
                  <a:lnTo>
                    <a:pt x="1032764" y="331343"/>
                  </a:lnTo>
                  <a:lnTo>
                    <a:pt x="1033907" y="327914"/>
                  </a:lnTo>
                  <a:close/>
                </a:path>
                <a:path w="2057400" h="464820">
                  <a:moveTo>
                    <a:pt x="1219200" y="424815"/>
                  </a:moveTo>
                  <a:lnTo>
                    <a:pt x="1218907" y="417576"/>
                  </a:lnTo>
                  <a:lnTo>
                    <a:pt x="1215263" y="325755"/>
                  </a:lnTo>
                  <a:lnTo>
                    <a:pt x="1215009" y="322326"/>
                  </a:lnTo>
                  <a:lnTo>
                    <a:pt x="1212088" y="319532"/>
                  </a:lnTo>
                  <a:lnTo>
                    <a:pt x="1208659" y="319786"/>
                  </a:lnTo>
                  <a:lnTo>
                    <a:pt x="1205103" y="319913"/>
                  </a:lnTo>
                  <a:lnTo>
                    <a:pt x="1202436" y="322834"/>
                  </a:lnTo>
                  <a:lnTo>
                    <a:pt x="1202563" y="326390"/>
                  </a:lnTo>
                  <a:lnTo>
                    <a:pt x="1205166" y="391083"/>
                  </a:lnTo>
                  <a:lnTo>
                    <a:pt x="1005459" y="78486"/>
                  </a:lnTo>
                  <a:lnTo>
                    <a:pt x="994791" y="85344"/>
                  </a:lnTo>
                  <a:lnTo>
                    <a:pt x="1194523" y="397865"/>
                  </a:lnTo>
                  <a:lnTo>
                    <a:pt x="1133729" y="366649"/>
                  </a:lnTo>
                  <a:lnTo>
                    <a:pt x="1129919" y="367931"/>
                  </a:lnTo>
                  <a:lnTo>
                    <a:pt x="1128268" y="371106"/>
                  </a:lnTo>
                  <a:lnTo>
                    <a:pt x="1126744" y="374142"/>
                  </a:lnTo>
                  <a:lnTo>
                    <a:pt x="1127887" y="377952"/>
                  </a:lnTo>
                  <a:lnTo>
                    <a:pt x="1219200" y="424815"/>
                  </a:lnTo>
                  <a:close/>
                </a:path>
                <a:path w="2057400" h="464820">
                  <a:moveTo>
                    <a:pt x="1390650" y="424815"/>
                  </a:moveTo>
                  <a:lnTo>
                    <a:pt x="1389926" y="418592"/>
                  </a:lnTo>
                  <a:lnTo>
                    <a:pt x="1379220" y="326390"/>
                  </a:lnTo>
                  <a:lnTo>
                    <a:pt x="1378839" y="322961"/>
                  </a:lnTo>
                  <a:lnTo>
                    <a:pt x="1375664" y="320421"/>
                  </a:lnTo>
                  <a:lnTo>
                    <a:pt x="1368679" y="321183"/>
                  </a:lnTo>
                  <a:lnTo>
                    <a:pt x="1366266" y="324358"/>
                  </a:lnTo>
                  <a:lnTo>
                    <a:pt x="1366647" y="327914"/>
                  </a:lnTo>
                  <a:lnTo>
                    <a:pt x="1374089" y="392112"/>
                  </a:lnTo>
                  <a:lnTo>
                    <a:pt x="1109980" y="40005"/>
                  </a:lnTo>
                  <a:lnTo>
                    <a:pt x="1099820" y="47625"/>
                  </a:lnTo>
                  <a:lnTo>
                    <a:pt x="1364005" y="399859"/>
                  </a:lnTo>
                  <a:lnTo>
                    <a:pt x="1304290" y="374662"/>
                  </a:lnTo>
                  <a:lnTo>
                    <a:pt x="1301115" y="373253"/>
                  </a:lnTo>
                  <a:lnTo>
                    <a:pt x="1297305" y="374777"/>
                  </a:lnTo>
                  <a:lnTo>
                    <a:pt x="1296035" y="377952"/>
                  </a:lnTo>
                  <a:lnTo>
                    <a:pt x="1294638" y="381254"/>
                  </a:lnTo>
                  <a:lnTo>
                    <a:pt x="1296162" y="384949"/>
                  </a:lnTo>
                  <a:lnTo>
                    <a:pt x="1299337" y="386334"/>
                  </a:lnTo>
                  <a:lnTo>
                    <a:pt x="1390650" y="424815"/>
                  </a:lnTo>
                  <a:close/>
                </a:path>
                <a:path w="2057400" h="464820">
                  <a:moveTo>
                    <a:pt x="2057400" y="462915"/>
                  </a:moveTo>
                  <a:lnTo>
                    <a:pt x="2057019" y="462280"/>
                  </a:lnTo>
                  <a:lnTo>
                    <a:pt x="2005711" y="374281"/>
                  </a:lnTo>
                  <a:lnTo>
                    <a:pt x="2001774" y="373253"/>
                  </a:lnTo>
                  <a:lnTo>
                    <a:pt x="1995678" y="376809"/>
                  </a:lnTo>
                  <a:lnTo>
                    <a:pt x="1994662" y="380746"/>
                  </a:lnTo>
                  <a:lnTo>
                    <a:pt x="2029155" y="439737"/>
                  </a:lnTo>
                  <a:lnTo>
                    <a:pt x="1250950" y="127"/>
                  </a:lnTo>
                  <a:lnTo>
                    <a:pt x="1244600" y="11303"/>
                  </a:lnTo>
                  <a:lnTo>
                    <a:pt x="2022754" y="450684"/>
                  </a:lnTo>
                  <a:lnTo>
                    <a:pt x="1958213" y="451612"/>
                  </a:lnTo>
                  <a:lnTo>
                    <a:pt x="1954657" y="451612"/>
                  </a:lnTo>
                  <a:lnTo>
                    <a:pt x="1951863" y="454533"/>
                  </a:lnTo>
                  <a:lnTo>
                    <a:pt x="1951990" y="461518"/>
                  </a:lnTo>
                  <a:lnTo>
                    <a:pt x="1954784" y="464312"/>
                  </a:lnTo>
                  <a:lnTo>
                    <a:pt x="1958340" y="464312"/>
                  </a:lnTo>
                  <a:lnTo>
                    <a:pt x="2057400" y="462915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 sz="4133"/>
            </a:p>
          </p:txBody>
        </p:sp>
        <p:sp>
          <p:nvSpPr>
            <p:cNvPr id="12" name="object 12"/>
            <p:cNvSpPr/>
            <p:nvPr/>
          </p:nvSpPr>
          <p:spPr>
            <a:xfrm>
              <a:off x="2949575" y="4937125"/>
              <a:ext cx="673100" cy="138430"/>
            </a:xfrm>
            <a:custGeom>
              <a:avLst/>
              <a:gdLst/>
              <a:ahLst/>
              <a:cxnLst/>
              <a:rect l="l" t="t" r="r" b="b"/>
              <a:pathLst>
                <a:path w="673100" h="138429">
                  <a:moveTo>
                    <a:pt x="0" y="0"/>
                  </a:moveTo>
                  <a:lnTo>
                    <a:pt x="34488" y="23852"/>
                  </a:lnTo>
                  <a:lnTo>
                    <a:pt x="70622" y="46864"/>
                  </a:lnTo>
                  <a:lnTo>
                    <a:pt x="110048" y="68223"/>
                  </a:lnTo>
                  <a:lnTo>
                    <a:pt x="154411" y="87119"/>
                  </a:lnTo>
                  <a:lnTo>
                    <a:pt x="205358" y="102743"/>
                  </a:lnTo>
                  <a:lnTo>
                    <a:pt x="248977" y="112140"/>
                  </a:lnTo>
                  <a:lnTo>
                    <a:pt x="299505" y="120537"/>
                  </a:lnTo>
                  <a:lnTo>
                    <a:pt x="353852" y="127635"/>
                  </a:lnTo>
                  <a:lnTo>
                    <a:pt x="408927" y="133134"/>
                  </a:lnTo>
                  <a:lnTo>
                    <a:pt x="461641" y="136733"/>
                  </a:lnTo>
                  <a:lnTo>
                    <a:pt x="508903" y="138132"/>
                  </a:lnTo>
                  <a:lnTo>
                    <a:pt x="547624" y="137032"/>
                  </a:lnTo>
                  <a:lnTo>
                    <a:pt x="600126" y="123906"/>
                  </a:lnTo>
                  <a:lnTo>
                    <a:pt x="639603" y="100599"/>
                  </a:lnTo>
                  <a:lnTo>
                    <a:pt x="664460" y="78364"/>
                  </a:lnTo>
                  <a:lnTo>
                    <a:pt x="673100" y="68452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4133"/>
            </a:p>
          </p:txBody>
        </p:sp>
        <p:sp>
          <p:nvSpPr>
            <p:cNvPr id="13" name="object 13"/>
            <p:cNvSpPr/>
            <p:nvPr/>
          </p:nvSpPr>
          <p:spPr>
            <a:xfrm>
              <a:off x="2362200" y="4821428"/>
              <a:ext cx="1881505" cy="111125"/>
            </a:xfrm>
            <a:custGeom>
              <a:avLst/>
              <a:gdLst/>
              <a:ahLst/>
              <a:cxnLst/>
              <a:rect l="l" t="t" r="r" b="b"/>
              <a:pathLst>
                <a:path w="1881504" h="111125">
                  <a:moveTo>
                    <a:pt x="762000" y="55372"/>
                  </a:moveTo>
                  <a:lnTo>
                    <a:pt x="745680" y="45847"/>
                  </a:lnTo>
                  <a:lnTo>
                    <a:pt x="671703" y="2667"/>
                  </a:lnTo>
                  <a:lnTo>
                    <a:pt x="667258" y="0"/>
                  </a:lnTo>
                  <a:lnTo>
                    <a:pt x="661416" y="1524"/>
                  </a:lnTo>
                  <a:lnTo>
                    <a:pt x="656082" y="10668"/>
                  </a:lnTo>
                  <a:lnTo>
                    <a:pt x="657606" y="16510"/>
                  </a:lnTo>
                  <a:lnTo>
                    <a:pt x="707885" y="45847"/>
                  </a:lnTo>
                  <a:lnTo>
                    <a:pt x="54102" y="45847"/>
                  </a:lnTo>
                  <a:lnTo>
                    <a:pt x="104394" y="16510"/>
                  </a:lnTo>
                  <a:lnTo>
                    <a:pt x="105918" y="10668"/>
                  </a:lnTo>
                  <a:lnTo>
                    <a:pt x="100584" y="1524"/>
                  </a:lnTo>
                  <a:lnTo>
                    <a:pt x="94742" y="0"/>
                  </a:lnTo>
                  <a:lnTo>
                    <a:pt x="90297" y="2667"/>
                  </a:lnTo>
                  <a:lnTo>
                    <a:pt x="0" y="55372"/>
                  </a:lnTo>
                  <a:lnTo>
                    <a:pt x="90297" y="108077"/>
                  </a:lnTo>
                  <a:lnTo>
                    <a:pt x="94742" y="110744"/>
                  </a:lnTo>
                  <a:lnTo>
                    <a:pt x="100584" y="109220"/>
                  </a:lnTo>
                  <a:lnTo>
                    <a:pt x="105918" y="100076"/>
                  </a:lnTo>
                  <a:lnTo>
                    <a:pt x="104394" y="94234"/>
                  </a:lnTo>
                  <a:lnTo>
                    <a:pt x="54102" y="64897"/>
                  </a:lnTo>
                  <a:lnTo>
                    <a:pt x="707885" y="64897"/>
                  </a:lnTo>
                  <a:lnTo>
                    <a:pt x="657606" y="94234"/>
                  </a:lnTo>
                  <a:lnTo>
                    <a:pt x="656082" y="100076"/>
                  </a:lnTo>
                  <a:lnTo>
                    <a:pt x="661416" y="109220"/>
                  </a:lnTo>
                  <a:lnTo>
                    <a:pt x="667258" y="110744"/>
                  </a:lnTo>
                  <a:lnTo>
                    <a:pt x="671703" y="108077"/>
                  </a:lnTo>
                  <a:lnTo>
                    <a:pt x="745680" y="64897"/>
                  </a:lnTo>
                  <a:lnTo>
                    <a:pt x="762000" y="55372"/>
                  </a:lnTo>
                  <a:close/>
                </a:path>
                <a:path w="1881504" h="111125">
                  <a:moveTo>
                    <a:pt x="1881251" y="55372"/>
                  </a:moveTo>
                  <a:lnTo>
                    <a:pt x="1864931" y="45847"/>
                  </a:lnTo>
                  <a:lnTo>
                    <a:pt x="1786382" y="0"/>
                  </a:lnTo>
                  <a:lnTo>
                    <a:pt x="1780540" y="1524"/>
                  </a:lnTo>
                  <a:lnTo>
                    <a:pt x="1775206" y="10668"/>
                  </a:lnTo>
                  <a:lnTo>
                    <a:pt x="1776730" y="16510"/>
                  </a:lnTo>
                  <a:lnTo>
                    <a:pt x="1827009" y="45847"/>
                  </a:lnTo>
                  <a:lnTo>
                    <a:pt x="1173353" y="45847"/>
                  </a:lnTo>
                  <a:lnTo>
                    <a:pt x="1223645" y="16510"/>
                  </a:lnTo>
                  <a:lnTo>
                    <a:pt x="1225169" y="10668"/>
                  </a:lnTo>
                  <a:lnTo>
                    <a:pt x="1219835" y="1524"/>
                  </a:lnTo>
                  <a:lnTo>
                    <a:pt x="1213993" y="0"/>
                  </a:lnTo>
                  <a:lnTo>
                    <a:pt x="1119124" y="55372"/>
                  </a:lnTo>
                  <a:lnTo>
                    <a:pt x="1213993" y="110744"/>
                  </a:lnTo>
                  <a:lnTo>
                    <a:pt x="1219835" y="109220"/>
                  </a:lnTo>
                  <a:lnTo>
                    <a:pt x="1225169" y="100076"/>
                  </a:lnTo>
                  <a:lnTo>
                    <a:pt x="1223645" y="94234"/>
                  </a:lnTo>
                  <a:lnTo>
                    <a:pt x="1173353" y="64897"/>
                  </a:lnTo>
                  <a:lnTo>
                    <a:pt x="1827009" y="64897"/>
                  </a:lnTo>
                  <a:lnTo>
                    <a:pt x="1776730" y="94234"/>
                  </a:lnTo>
                  <a:lnTo>
                    <a:pt x="1775206" y="100076"/>
                  </a:lnTo>
                  <a:lnTo>
                    <a:pt x="1780540" y="109220"/>
                  </a:lnTo>
                  <a:lnTo>
                    <a:pt x="1786382" y="110744"/>
                  </a:lnTo>
                  <a:lnTo>
                    <a:pt x="1864931" y="64897"/>
                  </a:lnTo>
                  <a:lnTo>
                    <a:pt x="1881251" y="55372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4133"/>
            </a:p>
          </p:txBody>
        </p:sp>
      </p:grpSp>
      <p:sp>
        <p:nvSpPr>
          <p:cNvPr id="14" name="object 14"/>
          <p:cNvSpPr/>
          <p:nvPr/>
        </p:nvSpPr>
        <p:spPr>
          <a:xfrm>
            <a:off x="5080794" y="7446263"/>
            <a:ext cx="965200" cy="157480"/>
          </a:xfrm>
          <a:custGeom>
            <a:avLst/>
            <a:gdLst/>
            <a:ahLst/>
            <a:cxnLst/>
            <a:rect l="l" t="t" r="r" b="b"/>
            <a:pathLst>
              <a:path w="723900" h="118110">
                <a:moveTo>
                  <a:pt x="94106" y="7061"/>
                </a:moveTo>
                <a:lnTo>
                  <a:pt x="0" y="63626"/>
                </a:lnTo>
                <a:lnTo>
                  <a:pt x="95504" y="117703"/>
                </a:lnTo>
                <a:lnTo>
                  <a:pt x="101345" y="116090"/>
                </a:lnTo>
                <a:lnTo>
                  <a:pt x="103886" y="111518"/>
                </a:lnTo>
                <a:lnTo>
                  <a:pt x="106552" y="106933"/>
                </a:lnTo>
                <a:lnTo>
                  <a:pt x="104901" y="101117"/>
                </a:lnTo>
                <a:lnTo>
                  <a:pt x="54988" y="72897"/>
                </a:lnTo>
                <a:lnTo>
                  <a:pt x="18923" y="72897"/>
                </a:lnTo>
                <a:lnTo>
                  <a:pt x="18668" y="53847"/>
                </a:lnTo>
                <a:lnTo>
                  <a:pt x="53938" y="53384"/>
                </a:lnTo>
                <a:lnTo>
                  <a:pt x="103886" y="23380"/>
                </a:lnTo>
                <a:lnTo>
                  <a:pt x="105282" y="17525"/>
                </a:lnTo>
                <a:lnTo>
                  <a:pt x="99949" y="8508"/>
                </a:lnTo>
                <a:lnTo>
                  <a:pt x="94106" y="7061"/>
                </a:lnTo>
                <a:close/>
              </a:path>
              <a:path w="723900" h="118110">
                <a:moveTo>
                  <a:pt x="707509" y="44830"/>
                </a:moveTo>
                <a:lnTo>
                  <a:pt x="704976" y="44830"/>
                </a:lnTo>
                <a:lnTo>
                  <a:pt x="705231" y="63868"/>
                </a:lnTo>
                <a:lnTo>
                  <a:pt x="669981" y="64332"/>
                </a:lnTo>
                <a:lnTo>
                  <a:pt x="620013" y="94348"/>
                </a:lnTo>
                <a:lnTo>
                  <a:pt x="618617" y="100202"/>
                </a:lnTo>
                <a:lnTo>
                  <a:pt x="623951" y="109219"/>
                </a:lnTo>
                <a:lnTo>
                  <a:pt x="629793" y="110667"/>
                </a:lnTo>
                <a:lnTo>
                  <a:pt x="723900" y="54101"/>
                </a:lnTo>
                <a:lnTo>
                  <a:pt x="707509" y="44830"/>
                </a:lnTo>
                <a:close/>
              </a:path>
              <a:path w="723900" h="118110">
                <a:moveTo>
                  <a:pt x="53938" y="53384"/>
                </a:moveTo>
                <a:lnTo>
                  <a:pt x="18668" y="53847"/>
                </a:lnTo>
                <a:lnTo>
                  <a:pt x="18923" y="72897"/>
                </a:lnTo>
                <a:lnTo>
                  <a:pt x="54168" y="72434"/>
                </a:lnTo>
                <a:lnTo>
                  <a:pt x="52584" y="71539"/>
                </a:lnTo>
                <a:lnTo>
                  <a:pt x="23749" y="71539"/>
                </a:lnTo>
                <a:lnTo>
                  <a:pt x="23494" y="55092"/>
                </a:lnTo>
                <a:lnTo>
                  <a:pt x="51098" y="55092"/>
                </a:lnTo>
                <a:lnTo>
                  <a:pt x="53938" y="53384"/>
                </a:lnTo>
                <a:close/>
              </a:path>
              <a:path w="723900" h="118110">
                <a:moveTo>
                  <a:pt x="54168" y="72434"/>
                </a:moveTo>
                <a:lnTo>
                  <a:pt x="18923" y="72897"/>
                </a:lnTo>
                <a:lnTo>
                  <a:pt x="54988" y="72897"/>
                </a:lnTo>
                <a:lnTo>
                  <a:pt x="54168" y="72434"/>
                </a:lnTo>
                <a:close/>
              </a:path>
              <a:path w="723900" h="118110">
                <a:moveTo>
                  <a:pt x="669730" y="45294"/>
                </a:moveTo>
                <a:lnTo>
                  <a:pt x="53938" y="53384"/>
                </a:lnTo>
                <a:lnTo>
                  <a:pt x="37722" y="63136"/>
                </a:lnTo>
                <a:lnTo>
                  <a:pt x="54168" y="72434"/>
                </a:lnTo>
                <a:lnTo>
                  <a:pt x="669981" y="64332"/>
                </a:lnTo>
                <a:lnTo>
                  <a:pt x="686177" y="54592"/>
                </a:lnTo>
                <a:lnTo>
                  <a:pt x="669730" y="45294"/>
                </a:lnTo>
                <a:close/>
              </a:path>
              <a:path w="723900" h="118110">
                <a:moveTo>
                  <a:pt x="23494" y="55092"/>
                </a:moveTo>
                <a:lnTo>
                  <a:pt x="23749" y="71539"/>
                </a:lnTo>
                <a:lnTo>
                  <a:pt x="37722" y="63136"/>
                </a:lnTo>
                <a:lnTo>
                  <a:pt x="23494" y="55092"/>
                </a:lnTo>
                <a:close/>
              </a:path>
              <a:path w="723900" h="118110">
                <a:moveTo>
                  <a:pt x="37722" y="63136"/>
                </a:moveTo>
                <a:lnTo>
                  <a:pt x="23749" y="71539"/>
                </a:lnTo>
                <a:lnTo>
                  <a:pt x="52584" y="71539"/>
                </a:lnTo>
                <a:lnTo>
                  <a:pt x="37722" y="63136"/>
                </a:lnTo>
                <a:close/>
              </a:path>
              <a:path w="723900" h="118110">
                <a:moveTo>
                  <a:pt x="686177" y="54592"/>
                </a:moveTo>
                <a:lnTo>
                  <a:pt x="669981" y="64332"/>
                </a:lnTo>
                <a:lnTo>
                  <a:pt x="705231" y="63868"/>
                </a:lnTo>
                <a:lnTo>
                  <a:pt x="705214" y="62636"/>
                </a:lnTo>
                <a:lnTo>
                  <a:pt x="700405" y="62636"/>
                </a:lnTo>
                <a:lnTo>
                  <a:pt x="686177" y="54592"/>
                </a:lnTo>
                <a:close/>
              </a:path>
              <a:path w="723900" h="118110">
                <a:moveTo>
                  <a:pt x="51098" y="55092"/>
                </a:moveTo>
                <a:lnTo>
                  <a:pt x="23494" y="55092"/>
                </a:lnTo>
                <a:lnTo>
                  <a:pt x="37722" y="63136"/>
                </a:lnTo>
                <a:lnTo>
                  <a:pt x="51098" y="55092"/>
                </a:lnTo>
                <a:close/>
              </a:path>
              <a:path w="723900" h="118110">
                <a:moveTo>
                  <a:pt x="700151" y="46189"/>
                </a:moveTo>
                <a:lnTo>
                  <a:pt x="686177" y="54592"/>
                </a:lnTo>
                <a:lnTo>
                  <a:pt x="700405" y="62636"/>
                </a:lnTo>
                <a:lnTo>
                  <a:pt x="700151" y="46189"/>
                </a:lnTo>
                <a:close/>
              </a:path>
              <a:path w="723900" h="118110">
                <a:moveTo>
                  <a:pt x="704995" y="46189"/>
                </a:moveTo>
                <a:lnTo>
                  <a:pt x="700151" y="46189"/>
                </a:lnTo>
                <a:lnTo>
                  <a:pt x="700405" y="62636"/>
                </a:lnTo>
                <a:lnTo>
                  <a:pt x="705214" y="62636"/>
                </a:lnTo>
                <a:lnTo>
                  <a:pt x="704995" y="46189"/>
                </a:lnTo>
                <a:close/>
              </a:path>
              <a:path w="723900" h="118110">
                <a:moveTo>
                  <a:pt x="704976" y="44830"/>
                </a:moveTo>
                <a:lnTo>
                  <a:pt x="669730" y="45294"/>
                </a:lnTo>
                <a:lnTo>
                  <a:pt x="686177" y="54592"/>
                </a:lnTo>
                <a:lnTo>
                  <a:pt x="700151" y="46189"/>
                </a:lnTo>
                <a:lnTo>
                  <a:pt x="704995" y="46189"/>
                </a:lnTo>
                <a:lnTo>
                  <a:pt x="704976" y="44830"/>
                </a:lnTo>
                <a:close/>
              </a:path>
              <a:path w="723900" h="118110">
                <a:moveTo>
                  <a:pt x="628395" y="0"/>
                </a:moveTo>
                <a:lnTo>
                  <a:pt x="622554" y="1650"/>
                </a:lnTo>
                <a:lnTo>
                  <a:pt x="620013" y="6210"/>
                </a:lnTo>
                <a:lnTo>
                  <a:pt x="617347" y="10794"/>
                </a:lnTo>
                <a:lnTo>
                  <a:pt x="618998" y="16611"/>
                </a:lnTo>
                <a:lnTo>
                  <a:pt x="669730" y="45294"/>
                </a:lnTo>
                <a:lnTo>
                  <a:pt x="704976" y="44830"/>
                </a:lnTo>
                <a:lnTo>
                  <a:pt x="707509" y="44830"/>
                </a:lnTo>
                <a:lnTo>
                  <a:pt x="632968" y="2666"/>
                </a:lnTo>
                <a:lnTo>
                  <a:pt x="62839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4133"/>
          </a:p>
        </p:txBody>
      </p:sp>
      <p:grpSp>
        <p:nvGrpSpPr>
          <p:cNvPr id="15" name="object 15"/>
          <p:cNvGrpSpPr/>
          <p:nvPr/>
        </p:nvGrpSpPr>
        <p:grpSpPr>
          <a:xfrm>
            <a:off x="6139127" y="7444571"/>
            <a:ext cx="1278467" cy="148167"/>
            <a:chOff x="3079750" y="5583428"/>
            <a:chExt cx="958850" cy="111125"/>
          </a:xfrm>
        </p:grpSpPr>
        <p:sp>
          <p:nvSpPr>
            <p:cNvPr id="16" name="object 16"/>
            <p:cNvSpPr/>
            <p:nvPr/>
          </p:nvSpPr>
          <p:spPr>
            <a:xfrm>
              <a:off x="3079750" y="5583428"/>
              <a:ext cx="276225" cy="111125"/>
            </a:xfrm>
            <a:custGeom>
              <a:avLst/>
              <a:gdLst/>
              <a:ahLst/>
              <a:cxnLst/>
              <a:rect l="l" t="t" r="r" b="b"/>
              <a:pathLst>
                <a:path w="276225" h="111125">
                  <a:moveTo>
                    <a:pt x="238491" y="55372"/>
                  </a:moveTo>
                  <a:lnTo>
                    <a:pt x="171830" y="94246"/>
                  </a:lnTo>
                  <a:lnTo>
                    <a:pt x="170306" y="100076"/>
                  </a:lnTo>
                  <a:lnTo>
                    <a:pt x="175640" y="109169"/>
                  </a:lnTo>
                  <a:lnTo>
                    <a:pt x="181483" y="110705"/>
                  </a:lnTo>
                  <a:lnTo>
                    <a:pt x="185927" y="108051"/>
                  </a:lnTo>
                  <a:lnTo>
                    <a:pt x="259898" y="64897"/>
                  </a:lnTo>
                  <a:lnTo>
                    <a:pt x="257301" y="64897"/>
                  </a:lnTo>
                  <a:lnTo>
                    <a:pt x="257301" y="63601"/>
                  </a:lnTo>
                  <a:lnTo>
                    <a:pt x="252602" y="63601"/>
                  </a:lnTo>
                  <a:lnTo>
                    <a:pt x="238491" y="55372"/>
                  </a:lnTo>
                  <a:close/>
                </a:path>
                <a:path w="276225" h="111125">
                  <a:moveTo>
                    <a:pt x="222158" y="45847"/>
                  </a:moveTo>
                  <a:lnTo>
                    <a:pt x="0" y="45847"/>
                  </a:lnTo>
                  <a:lnTo>
                    <a:pt x="0" y="64897"/>
                  </a:lnTo>
                  <a:lnTo>
                    <a:pt x="222158" y="64897"/>
                  </a:lnTo>
                  <a:lnTo>
                    <a:pt x="238491" y="55372"/>
                  </a:lnTo>
                  <a:lnTo>
                    <a:pt x="222158" y="45847"/>
                  </a:lnTo>
                  <a:close/>
                </a:path>
                <a:path w="276225" h="111125">
                  <a:moveTo>
                    <a:pt x="259906" y="45847"/>
                  </a:moveTo>
                  <a:lnTo>
                    <a:pt x="257301" y="45847"/>
                  </a:lnTo>
                  <a:lnTo>
                    <a:pt x="257301" y="64897"/>
                  </a:lnTo>
                  <a:lnTo>
                    <a:pt x="259898" y="64897"/>
                  </a:lnTo>
                  <a:lnTo>
                    <a:pt x="276225" y="55372"/>
                  </a:lnTo>
                  <a:lnTo>
                    <a:pt x="259906" y="45847"/>
                  </a:lnTo>
                  <a:close/>
                </a:path>
                <a:path w="276225" h="111125">
                  <a:moveTo>
                    <a:pt x="252602" y="47142"/>
                  </a:moveTo>
                  <a:lnTo>
                    <a:pt x="238491" y="55372"/>
                  </a:lnTo>
                  <a:lnTo>
                    <a:pt x="252602" y="63601"/>
                  </a:lnTo>
                  <a:lnTo>
                    <a:pt x="252602" y="47142"/>
                  </a:lnTo>
                  <a:close/>
                </a:path>
                <a:path w="276225" h="111125">
                  <a:moveTo>
                    <a:pt x="257301" y="47142"/>
                  </a:moveTo>
                  <a:lnTo>
                    <a:pt x="252602" y="47142"/>
                  </a:lnTo>
                  <a:lnTo>
                    <a:pt x="252602" y="63601"/>
                  </a:lnTo>
                  <a:lnTo>
                    <a:pt x="257301" y="63601"/>
                  </a:lnTo>
                  <a:lnTo>
                    <a:pt x="257301" y="47142"/>
                  </a:lnTo>
                  <a:close/>
                </a:path>
                <a:path w="276225" h="111125">
                  <a:moveTo>
                    <a:pt x="181483" y="0"/>
                  </a:moveTo>
                  <a:lnTo>
                    <a:pt x="175640" y="1524"/>
                  </a:lnTo>
                  <a:lnTo>
                    <a:pt x="172974" y="6121"/>
                  </a:lnTo>
                  <a:lnTo>
                    <a:pt x="170306" y="10668"/>
                  </a:lnTo>
                  <a:lnTo>
                    <a:pt x="171830" y="16497"/>
                  </a:lnTo>
                  <a:lnTo>
                    <a:pt x="238491" y="55372"/>
                  </a:lnTo>
                  <a:lnTo>
                    <a:pt x="252602" y="47142"/>
                  </a:lnTo>
                  <a:lnTo>
                    <a:pt x="257301" y="47142"/>
                  </a:lnTo>
                  <a:lnTo>
                    <a:pt x="257301" y="45847"/>
                  </a:lnTo>
                  <a:lnTo>
                    <a:pt x="259906" y="45847"/>
                  </a:lnTo>
                  <a:lnTo>
                    <a:pt x="185927" y="2667"/>
                  </a:lnTo>
                  <a:lnTo>
                    <a:pt x="18148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4133"/>
            </a:p>
          </p:txBody>
        </p:sp>
        <p:sp>
          <p:nvSpPr>
            <p:cNvPr id="17" name="object 17"/>
            <p:cNvSpPr/>
            <p:nvPr/>
          </p:nvSpPr>
          <p:spPr>
            <a:xfrm>
              <a:off x="3371850" y="5583428"/>
              <a:ext cx="666750" cy="111125"/>
            </a:xfrm>
            <a:custGeom>
              <a:avLst/>
              <a:gdLst/>
              <a:ahLst/>
              <a:cxnLst/>
              <a:rect l="l" t="t" r="r" b="b"/>
              <a:pathLst>
                <a:path w="666750" h="111125">
                  <a:moveTo>
                    <a:pt x="629016" y="55372"/>
                  </a:moveTo>
                  <a:lnTo>
                    <a:pt x="562355" y="94246"/>
                  </a:lnTo>
                  <a:lnTo>
                    <a:pt x="560832" y="100076"/>
                  </a:lnTo>
                  <a:lnTo>
                    <a:pt x="566165" y="109169"/>
                  </a:lnTo>
                  <a:lnTo>
                    <a:pt x="571880" y="110705"/>
                  </a:lnTo>
                  <a:lnTo>
                    <a:pt x="650419" y="64897"/>
                  </a:lnTo>
                  <a:lnTo>
                    <a:pt x="647953" y="64897"/>
                  </a:lnTo>
                  <a:lnTo>
                    <a:pt x="647953" y="63601"/>
                  </a:lnTo>
                  <a:lnTo>
                    <a:pt x="643127" y="63601"/>
                  </a:lnTo>
                  <a:lnTo>
                    <a:pt x="629016" y="55372"/>
                  </a:lnTo>
                  <a:close/>
                </a:path>
                <a:path w="666750" h="111125">
                  <a:moveTo>
                    <a:pt x="94741" y="0"/>
                  </a:moveTo>
                  <a:lnTo>
                    <a:pt x="90297" y="2667"/>
                  </a:lnTo>
                  <a:lnTo>
                    <a:pt x="0" y="55372"/>
                  </a:lnTo>
                  <a:lnTo>
                    <a:pt x="90297" y="108051"/>
                  </a:lnTo>
                  <a:lnTo>
                    <a:pt x="94741" y="110693"/>
                  </a:lnTo>
                  <a:lnTo>
                    <a:pt x="100584" y="109169"/>
                  </a:lnTo>
                  <a:lnTo>
                    <a:pt x="105917" y="100076"/>
                  </a:lnTo>
                  <a:lnTo>
                    <a:pt x="104394" y="94246"/>
                  </a:lnTo>
                  <a:lnTo>
                    <a:pt x="54066" y="64897"/>
                  </a:lnTo>
                  <a:lnTo>
                    <a:pt x="18796" y="64897"/>
                  </a:lnTo>
                  <a:lnTo>
                    <a:pt x="18796" y="45847"/>
                  </a:lnTo>
                  <a:lnTo>
                    <a:pt x="54066" y="45847"/>
                  </a:lnTo>
                  <a:lnTo>
                    <a:pt x="104394" y="16497"/>
                  </a:lnTo>
                  <a:lnTo>
                    <a:pt x="105917" y="10668"/>
                  </a:lnTo>
                  <a:lnTo>
                    <a:pt x="103250" y="6121"/>
                  </a:lnTo>
                  <a:lnTo>
                    <a:pt x="100584" y="1524"/>
                  </a:lnTo>
                  <a:lnTo>
                    <a:pt x="94741" y="0"/>
                  </a:lnTo>
                  <a:close/>
                </a:path>
                <a:path w="666750" h="111125">
                  <a:moveTo>
                    <a:pt x="54066" y="45847"/>
                  </a:moveTo>
                  <a:lnTo>
                    <a:pt x="18796" y="45847"/>
                  </a:lnTo>
                  <a:lnTo>
                    <a:pt x="18796" y="64897"/>
                  </a:lnTo>
                  <a:lnTo>
                    <a:pt x="54066" y="64897"/>
                  </a:lnTo>
                  <a:lnTo>
                    <a:pt x="51845" y="63601"/>
                  </a:lnTo>
                  <a:lnTo>
                    <a:pt x="23622" y="63601"/>
                  </a:lnTo>
                  <a:lnTo>
                    <a:pt x="23622" y="47142"/>
                  </a:lnTo>
                  <a:lnTo>
                    <a:pt x="51845" y="47142"/>
                  </a:lnTo>
                  <a:lnTo>
                    <a:pt x="54066" y="45847"/>
                  </a:lnTo>
                  <a:close/>
                </a:path>
                <a:path w="666750" h="111125">
                  <a:moveTo>
                    <a:pt x="612683" y="45847"/>
                  </a:moveTo>
                  <a:lnTo>
                    <a:pt x="54066" y="45847"/>
                  </a:lnTo>
                  <a:lnTo>
                    <a:pt x="37733" y="55372"/>
                  </a:lnTo>
                  <a:lnTo>
                    <a:pt x="54066" y="64897"/>
                  </a:lnTo>
                  <a:lnTo>
                    <a:pt x="612683" y="64897"/>
                  </a:lnTo>
                  <a:lnTo>
                    <a:pt x="629016" y="55372"/>
                  </a:lnTo>
                  <a:lnTo>
                    <a:pt x="612683" y="45847"/>
                  </a:lnTo>
                  <a:close/>
                </a:path>
                <a:path w="666750" h="111125">
                  <a:moveTo>
                    <a:pt x="650431" y="45847"/>
                  </a:moveTo>
                  <a:lnTo>
                    <a:pt x="647953" y="45847"/>
                  </a:lnTo>
                  <a:lnTo>
                    <a:pt x="647953" y="64897"/>
                  </a:lnTo>
                  <a:lnTo>
                    <a:pt x="650419" y="64897"/>
                  </a:lnTo>
                  <a:lnTo>
                    <a:pt x="666750" y="55372"/>
                  </a:lnTo>
                  <a:lnTo>
                    <a:pt x="650431" y="45847"/>
                  </a:lnTo>
                  <a:close/>
                </a:path>
                <a:path w="666750" h="111125">
                  <a:moveTo>
                    <a:pt x="23622" y="47142"/>
                  </a:moveTo>
                  <a:lnTo>
                    <a:pt x="23622" y="63601"/>
                  </a:lnTo>
                  <a:lnTo>
                    <a:pt x="37733" y="55372"/>
                  </a:lnTo>
                  <a:lnTo>
                    <a:pt x="23622" y="47142"/>
                  </a:lnTo>
                  <a:close/>
                </a:path>
                <a:path w="666750" h="111125">
                  <a:moveTo>
                    <a:pt x="37733" y="55372"/>
                  </a:moveTo>
                  <a:lnTo>
                    <a:pt x="23622" y="63601"/>
                  </a:lnTo>
                  <a:lnTo>
                    <a:pt x="51845" y="63601"/>
                  </a:lnTo>
                  <a:lnTo>
                    <a:pt x="37733" y="55372"/>
                  </a:lnTo>
                  <a:close/>
                </a:path>
                <a:path w="666750" h="111125">
                  <a:moveTo>
                    <a:pt x="643127" y="47142"/>
                  </a:moveTo>
                  <a:lnTo>
                    <a:pt x="629016" y="55372"/>
                  </a:lnTo>
                  <a:lnTo>
                    <a:pt x="643127" y="63601"/>
                  </a:lnTo>
                  <a:lnTo>
                    <a:pt x="643127" y="47142"/>
                  </a:lnTo>
                  <a:close/>
                </a:path>
                <a:path w="666750" h="111125">
                  <a:moveTo>
                    <a:pt x="647953" y="47142"/>
                  </a:moveTo>
                  <a:lnTo>
                    <a:pt x="643127" y="47142"/>
                  </a:lnTo>
                  <a:lnTo>
                    <a:pt x="643127" y="63601"/>
                  </a:lnTo>
                  <a:lnTo>
                    <a:pt x="647953" y="63601"/>
                  </a:lnTo>
                  <a:lnTo>
                    <a:pt x="647953" y="47142"/>
                  </a:lnTo>
                  <a:close/>
                </a:path>
                <a:path w="666750" h="111125">
                  <a:moveTo>
                    <a:pt x="51845" y="47142"/>
                  </a:moveTo>
                  <a:lnTo>
                    <a:pt x="23622" y="47142"/>
                  </a:lnTo>
                  <a:lnTo>
                    <a:pt x="37733" y="55372"/>
                  </a:lnTo>
                  <a:lnTo>
                    <a:pt x="51845" y="47142"/>
                  </a:lnTo>
                  <a:close/>
                </a:path>
                <a:path w="666750" h="111125">
                  <a:moveTo>
                    <a:pt x="571880" y="0"/>
                  </a:moveTo>
                  <a:lnTo>
                    <a:pt x="566165" y="1524"/>
                  </a:lnTo>
                  <a:lnTo>
                    <a:pt x="563499" y="6121"/>
                  </a:lnTo>
                  <a:lnTo>
                    <a:pt x="560832" y="10668"/>
                  </a:lnTo>
                  <a:lnTo>
                    <a:pt x="562355" y="16497"/>
                  </a:lnTo>
                  <a:lnTo>
                    <a:pt x="629016" y="55372"/>
                  </a:lnTo>
                  <a:lnTo>
                    <a:pt x="643127" y="47142"/>
                  </a:lnTo>
                  <a:lnTo>
                    <a:pt x="647953" y="47142"/>
                  </a:lnTo>
                  <a:lnTo>
                    <a:pt x="647953" y="45847"/>
                  </a:lnTo>
                  <a:lnTo>
                    <a:pt x="650431" y="45847"/>
                  </a:lnTo>
                  <a:lnTo>
                    <a:pt x="57188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4133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15732" y="7760230"/>
            <a:ext cx="10701867" cy="42667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667" spc="-200" dirty="0">
                <a:latin typeface="Arial"/>
                <a:cs typeface="Arial"/>
              </a:rPr>
              <a:t>The</a:t>
            </a:r>
            <a:r>
              <a:rPr sz="2667" spc="-147" dirty="0">
                <a:latin typeface="Arial"/>
                <a:cs typeface="Arial"/>
              </a:rPr>
              <a:t> </a:t>
            </a:r>
            <a:r>
              <a:rPr sz="2667" spc="-53" dirty="0">
                <a:latin typeface="Arial"/>
                <a:cs typeface="Arial"/>
              </a:rPr>
              <a:t>cut</a:t>
            </a:r>
            <a:r>
              <a:rPr sz="2667" spc="-127" dirty="0">
                <a:latin typeface="Arial"/>
                <a:cs typeface="Arial"/>
              </a:rPr>
              <a:t> </a:t>
            </a:r>
            <a:r>
              <a:rPr sz="2667" spc="-140" dirty="0">
                <a:latin typeface="Arial"/>
                <a:cs typeface="Arial"/>
              </a:rPr>
              <a:t>is</a:t>
            </a:r>
            <a:r>
              <a:rPr sz="2667" spc="-127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not</a:t>
            </a:r>
            <a:r>
              <a:rPr sz="2667" spc="-140" dirty="0">
                <a:latin typeface="Arial"/>
                <a:cs typeface="Arial"/>
              </a:rPr>
              <a:t> </a:t>
            </a:r>
            <a:r>
              <a:rPr sz="2667" spc="-27" dirty="0">
                <a:latin typeface="Arial"/>
                <a:cs typeface="Arial"/>
              </a:rPr>
              <a:t>“visible”</a:t>
            </a:r>
            <a:r>
              <a:rPr sz="2667" spc="-93" dirty="0">
                <a:latin typeface="Arial"/>
                <a:cs typeface="Arial"/>
              </a:rPr>
              <a:t> </a:t>
            </a:r>
            <a:r>
              <a:rPr sz="2667" spc="-33" dirty="0">
                <a:latin typeface="Arial"/>
                <a:cs typeface="Arial"/>
              </a:rPr>
              <a:t>from</a:t>
            </a:r>
            <a:r>
              <a:rPr sz="2667" spc="-140" dirty="0">
                <a:latin typeface="Arial"/>
                <a:cs typeface="Arial"/>
              </a:rPr>
              <a:t> </a:t>
            </a:r>
            <a:r>
              <a:rPr sz="2667" spc="-240" dirty="0">
                <a:latin typeface="Arial"/>
                <a:cs typeface="Arial"/>
              </a:rPr>
              <a:t>A</a:t>
            </a:r>
            <a:r>
              <a:rPr sz="2667" spc="-140" dirty="0">
                <a:latin typeface="Arial"/>
                <a:cs typeface="Arial"/>
              </a:rPr>
              <a:t> </a:t>
            </a:r>
            <a:r>
              <a:rPr sz="2667" spc="-60" dirty="0">
                <a:latin typeface="Arial"/>
                <a:cs typeface="Arial"/>
              </a:rPr>
              <a:t>(cut</a:t>
            </a:r>
            <a:r>
              <a:rPr sz="2667" spc="-107" dirty="0">
                <a:latin typeface="Arial"/>
                <a:cs typeface="Arial"/>
              </a:rPr>
              <a:t> </a:t>
            </a:r>
            <a:r>
              <a:rPr sz="2667" spc="-140" dirty="0">
                <a:latin typeface="Arial"/>
                <a:cs typeface="Arial"/>
              </a:rPr>
              <a:t>is</a:t>
            </a:r>
            <a:r>
              <a:rPr sz="2667" spc="-133" dirty="0">
                <a:latin typeface="Arial"/>
                <a:cs typeface="Arial"/>
              </a:rPr>
              <a:t> </a:t>
            </a:r>
            <a:r>
              <a:rPr sz="2667" spc="-120" dirty="0">
                <a:latin typeface="Arial"/>
                <a:cs typeface="Arial"/>
              </a:rPr>
              <a:t>nested</a:t>
            </a:r>
            <a:r>
              <a:rPr sz="2667" spc="-113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too</a:t>
            </a:r>
            <a:r>
              <a:rPr sz="2667" spc="-147" dirty="0">
                <a:latin typeface="Arial"/>
                <a:cs typeface="Arial"/>
              </a:rPr>
              <a:t> </a:t>
            </a:r>
            <a:r>
              <a:rPr sz="2667" spc="-127" dirty="0">
                <a:latin typeface="Arial"/>
                <a:cs typeface="Arial"/>
              </a:rPr>
              <a:t>deep </a:t>
            </a:r>
            <a:r>
              <a:rPr sz="2667" spc="-33" dirty="0">
                <a:latin typeface="Arial"/>
                <a:cs typeface="Arial"/>
              </a:rPr>
              <a:t>from</a:t>
            </a:r>
            <a:r>
              <a:rPr sz="2667" spc="-147" dirty="0">
                <a:latin typeface="Arial"/>
                <a:cs typeface="Arial"/>
              </a:rPr>
              <a:t> </a:t>
            </a:r>
            <a:r>
              <a:rPr sz="2667" spc="-27" dirty="0">
                <a:latin typeface="Arial"/>
                <a:cs typeface="Arial"/>
              </a:rPr>
              <a:t>point</a:t>
            </a:r>
            <a:r>
              <a:rPr sz="2667" spc="-1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of</a:t>
            </a:r>
            <a:r>
              <a:rPr sz="2667" spc="-147" dirty="0">
                <a:latin typeface="Arial"/>
                <a:cs typeface="Arial"/>
              </a:rPr>
              <a:t> </a:t>
            </a:r>
            <a:r>
              <a:rPr sz="2667" spc="-87" dirty="0">
                <a:latin typeface="Arial"/>
                <a:cs typeface="Arial"/>
              </a:rPr>
              <a:t>view</a:t>
            </a:r>
            <a:r>
              <a:rPr sz="2667" spc="-1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of</a:t>
            </a:r>
            <a:r>
              <a:rPr sz="2667" spc="-140" dirty="0">
                <a:latin typeface="Arial"/>
                <a:cs typeface="Arial"/>
              </a:rPr>
              <a:t> </a:t>
            </a:r>
            <a:r>
              <a:rPr sz="2667" spc="-160" dirty="0">
                <a:latin typeface="Arial"/>
                <a:cs typeface="Arial"/>
              </a:rPr>
              <a:t>A)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971D8-48E6-8A3B-78AD-B009E1BFB75B}"/>
              </a:ext>
            </a:extLst>
          </p:cNvPr>
          <p:cNvSpPr txBox="1"/>
          <p:nvPr/>
        </p:nvSpPr>
        <p:spPr>
          <a:xfrm>
            <a:off x="7417594" y="1551262"/>
            <a:ext cx="845076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This cut discards choice points in R, Q, P,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two rules for C are a choice point when trying to prove C, for example.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cut does not discard choice points in B or A because those choice points are out of the scope of the cut: scope shown in </a:t>
            </a:r>
            <a:r>
              <a:rPr lang="en-US" dirty="0">
                <a:solidFill>
                  <a:srgbClr val="FF0000"/>
                </a:solidFill>
              </a:rPr>
              <a:t>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N</a:t>
            </a:r>
            <a:r>
              <a:rPr lang="en-US" dirty="0"/>
              <a:t>egation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220636"/>
            <a:ext cx="13233517" cy="563874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74121" indent="-457189">
              <a:spcBef>
                <a:spcPts val="127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In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Prolog, negation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 defined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as: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27"/>
              </a:spcBef>
              <a:buClr>
                <a:srgbClr val="C00000"/>
              </a:buClr>
              <a:buFont typeface="Arial"/>
              <a:buChar char="•"/>
            </a:pPr>
            <a:endParaRPr sz="5267" dirty="0">
              <a:latin typeface="Arial"/>
              <a:cs typeface="Arial"/>
            </a:endParaRPr>
          </a:p>
          <a:p>
            <a:pPr marL="16933"/>
            <a:r>
              <a:rPr sz="2667" b="1" spc="-7" dirty="0">
                <a:latin typeface="Arial"/>
                <a:cs typeface="Arial"/>
              </a:rPr>
              <a:t>not(</a:t>
            </a:r>
            <a:r>
              <a:rPr sz="2667" b="1" spc="-4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P)</a:t>
            </a:r>
            <a:r>
              <a:rPr sz="2667" b="1" spc="-4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:-</a:t>
            </a:r>
            <a:endParaRPr sz="2667" dirty="0">
              <a:latin typeface="Arial"/>
              <a:cs typeface="Arial"/>
            </a:endParaRPr>
          </a:p>
          <a:p>
            <a:pPr marL="390304">
              <a:spcBef>
                <a:spcPts val="1440"/>
              </a:spcBef>
            </a:pPr>
            <a:r>
              <a:rPr sz="2667" b="1" spc="-353" dirty="0">
                <a:latin typeface="Arial"/>
                <a:cs typeface="Arial"/>
              </a:rPr>
              <a:t>P</a:t>
            </a:r>
            <a:r>
              <a:rPr sz="2667" b="1" spc="-7" dirty="0">
                <a:latin typeface="Arial"/>
                <a:cs typeface="Arial"/>
              </a:rPr>
              <a:t>,</a:t>
            </a:r>
            <a:r>
              <a:rPr sz="2667" b="1" spc="-2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!,</a:t>
            </a:r>
            <a:r>
              <a:rPr sz="2667" b="1" spc="-20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fail</a:t>
            </a:r>
            <a:r>
              <a:rPr lang="en-US" sz="2667" b="1" spc="-7" dirty="0">
                <a:latin typeface="Arial"/>
                <a:cs typeface="Arial"/>
              </a:rPr>
              <a:t>      % if P is true, then commit to fail</a:t>
            </a:r>
            <a:endParaRPr sz="2667" dirty="0">
              <a:latin typeface="Arial"/>
              <a:cs typeface="Arial"/>
            </a:endParaRPr>
          </a:p>
          <a:p>
            <a:pPr marL="390304">
              <a:spcBef>
                <a:spcPts val="1440"/>
              </a:spcBef>
            </a:pPr>
            <a:r>
              <a:rPr sz="2667" b="1" spc="-7" dirty="0">
                <a:latin typeface="Arial"/>
                <a:cs typeface="Arial"/>
              </a:rPr>
              <a:t>;</a:t>
            </a:r>
            <a:r>
              <a:rPr lang="en-US" sz="2667" b="1" spc="-7" dirty="0">
                <a:latin typeface="Arial"/>
                <a:cs typeface="Arial"/>
              </a:rPr>
              <a:t>                 % this line makes a choice point that would be discarded by the cut</a:t>
            </a:r>
            <a:endParaRPr sz="2667" dirty="0">
              <a:latin typeface="Arial"/>
              <a:cs typeface="Arial"/>
            </a:endParaRPr>
          </a:p>
          <a:p>
            <a:pPr marL="390304">
              <a:spcBef>
                <a:spcPts val="1440"/>
              </a:spcBef>
            </a:pPr>
            <a:r>
              <a:rPr sz="2667" b="1" spc="-7" dirty="0">
                <a:latin typeface="Arial"/>
                <a:cs typeface="Arial"/>
              </a:rPr>
              <a:t>true.</a:t>
            </a:r>
            <a:r>
              <a:rPr lang="en-US" sz="2667" b="1" spc="-7" dirty="0">
                <a:latin typeface="Arial"/>
                <a:cs typeface="Arial"/>
              </a:rPr>
              <a:t>          % P must be false because the cut wasn't reached</a:t>
            </a:r>
          </a:p>
          <a:p>
            <a:pPr marL="390304">
              <a:spcBef>
                <a:spcPts val="1440"/>
              </a:spcBef>
            </a:pPr>
            <a:r>
              <a:rPr lang="en-US" sz="2667" b="1" spc="-7" dirty="0">
                <a:latin typeface="Arial"/>
                <a:cs typeface="Arial"/>
              </a:rPr>
              <a:t>                  % so not(P) is true</a:t>
            </a:r>
            <a:endParaRPr sz="26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33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333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This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 called</a:t>
            </a:r>
            <a:r>
              <a:rPr sz="2667" spc="27" dirty="0">
                <a:latin typeface="Arial"/>
                <a:cs typeface="Arial"/>
              </a:rPr>
              <a:t> </a:t>
            </a:r>
            <a:r>
              <a:rPr sz="2667" i="1" spc="-7" dirty="0">
                <a:latin typeface="Arial"/>
                <a:cs typeface="Arial"/>
              </a:rPr>
              <a:t>negation</a:t>
            </a:r>
            <a:r>
              <a:rPr sz="2667" i="1" dirty="0">
                <a:latin typeface="Arial"/>
                <a:cs typeface="Arial"/>
              </a:rPr>
              <a:t> </a:t>
            </a:r>
            <a:r>
              <a:rPr sz="2667" i="1" spc="-7" dirty="0">
                <a:latin typeface="Arial"/>
                <a:cs typeface="Arial"/>
              </a:rPr>
              <a:t>as failure</a:t>
            </a:r>
            <a:endParaRPr sz="5267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2667" b="1" spc="-7" dirty="0">
                <a:latin typeface="Arial"/>
                <a:cs typeface="Arial"/>
              </a:rPr>
              <a:t>not</a:t>
            </a:r>
            <a:r>
              <a:rPr sz="2667" b="1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can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be written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 a prefix operator: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lang="en-US" sz="2667" b="1" spc="-7" dirty="0">
                <a:latin typeface="Arial"/>
                <a:cs typeface="Arial"/>
              </a:rPr>
              <a:t>\+</a:t>
            </a:r>
            <a:r>
              <a:rPr sz="2667" b="1" spc="7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P</a:t>
            </a:r>
            <a:endParaRPr sz="266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043"/>
            <a:ext cx="9475914" cy="756617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 marR="6773" indent="1606087">
              <a:lnSpc>
                <a:spcPct val="100000"/>
              </a:lnSpc>
              <a:spcBef>
                <a:spcPts val="140"/>
              </a:spcBef>
            </a:pPr>
            <a:r>
              <a:rPr lang="en-US" spc="-20" dirty="0"/>
              <a:t>Negation Example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2848981" y="2646950"/>
            <a:ext cx="9924484" cy="29950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0304" marR="6264330" indent="-374217">
              <a:lnSpc>
                <a:spcPct val="145000"/>
              </a:lnSpc>
              <a:spcBef>
                <a:spcPts val="133"/>
              </a:spcBef>
            </a:pPr>
            <a:r>
              <a:rPr sz="2667" b="1" spc="-7" dirty="0">
                <a:latin typeface="Arial"/>
                <a:cs typeface="Arial"/>
              </a:rPr>
              <a:t>likes(</a:t>
            </a:r>
            <a:r>
              <a:rPr lang="en-US" sz="2667" b="1" spc="-47" dirty="0">
                <a:latin typeface="Arial"/>
                <a:cs typeface="Arial"/>
              </a:rPr>
              <a:t>john</a:t>
            </a:r>
            <a:r>
              <a:rPr sz="2667" b="1" spc="-47" dirty="0">
                <a:latin typeface="Arial"/>
                <a:cs typeface="Arial"/>
              </a:rPr>
              <a:t>, </a:t>
            </a:r>
            <a:r>
              <a:rPr sz="2667" b="1" spc="-7" dirty="0">
                <a:latin typeface="Arial"/>
                <a:cs typeface="Arial"/>
              </a:rPr>
              <a:t>X) :- </a:t>
            </a:r>
            <a:r>
              <a:rPr sz="2667" b="1" spc="-727" dirty="0">
                <a:latin typeface="Arial"/>
                <a:cs typeface="Arial"/>
              </a:rPr>
              <a:t> </a:t>
            </a:r>
            <a:r>
              <a:rPr lang="en-US" sz="2667" b="1" spc="-7" dirty="0">
                <a:latin typeface="Arial"/>
                <a:cs typeface="Arial"/>
              </a:rPr>
              <a:t>music</a:t>
            </a:r>
            <a:r>
              <a:rPr sz="2667" b="1" spc="-7" dirty="0">
                <a:latin typeface="Arial"/>
                <a:cs typeface="Arial"/>
              </a:rPr>
              <a:t>(X), </a:t>
            </a:r>
            <a:endParaRPr lang="en-US" sz="2667" b="1" spc="-7" dirty="0">
              <a:latin typeface="Arial"/>
              <a:cs typeface="Arial"/>
            </a:endParaRPr>
          </a:p>
          <a:p>
            <a:pPr marL="390304" marR="6264330" indent="-374217">
              <a:lnSpc>
                <a:spcPct val="145000"/>
              </a:lnSpc>
              <a:spcBef>
                <a:spcPts val="133"/>
              </a:spcBef>
            </a:pPr>
            <a:r>
              <a:rPr lang="en-CA" sz="2667" b="1" spc="-7" dirty="0">
                <a:latin typeface="Arial"/>
                <a:cs typeface="Arial"/>
              </a:rPr>
              <a:t>    \+</a:t>
            </a:r>
            <a:r>
              <a:rPr sz="2667" b="1" spc="-60" dirty="0">
                <a:latin typeface="Arial"/>
                <a:cs typeface="Arial"/>
              </a:rPr>
              <a:t> </a:t>
            </a:r>
            <a:r>
              <a:rPr lang="en-US" sz="2667" b="1" spc="-7" dirty="0" err="1">
                <a:latin typeface="Arial"/>
                <a:cs typeface="Arial"/>
              </a:rPr>
              <a:t>heavy_metal</a:t>
            </a:r>
            <a:r>
              <a:rPr sz="2667" b="1" spc="-7" dirty="0">
                <a:latin typeface="Arial"/>
                <a:cs typeface="Arial"/>
              </a:rPr>
              <a:t>(X).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2333" dirty="0">
              <a:latin typeface="Arial"/>
              <a:cs typeface="Arial"/>
            </a:endParaRPr>
          </a:p>
          <a:p>
            <a:pPr marL="474132" indent="-457200"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John likes all music except </a:t>
            </a:r>
            <a:r>
              <a:rPr lang="en-US" sz="2667" spc="-7" dirty="0" err="1">
                <a:latin typeface="Arial"/>
                <a:cs typeface="Arial"/>
              </a:rPr>
              <a:t>heavy_metal</a:t>
            </a:r>
            <a:endParaRPr lang="en-US" sz="2667" spc="-7" dirty="0">
              <a:latin typeface="Arial"/>
              <a:cs typeface="Arial"/>
            </a:endParaRPr>
          </a:p>
          <a:p>
            <a:pPr marL="474132" indent="-457200"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This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more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readable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than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formulation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with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cut + fail</a:t>
            </a:r>
            <a:endParaRPr sz="266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043"/>
            <a:ext cx="9475914" cy="756617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  <a:tabLst>
                <a:tab pos="2693179" algn="l"/>
              </a:tabLst>
            </a:pPr>
            <a:r>
              <a:rPr spc="-40" dirty="0"/>
              <a:t>N</a:t>
            </a:r>
            <a:r>
              <a:rPr lang="en-US" spc="-40" dirty="0"/>
              <a:t>egation</a:t>
            </a:r>
            <a:r>
              <a:rPr spc="-40" dirty="0"/>
              <a:t>	</a:t>
            </a:r>
            <a:r>
              <a:rPr lang="en-US" dirty="0"/>
              <a:t>as</a:t>
            </a:r>
            <a:r>
              <a:rPr spc="-113" dirty="0"/>
              <a:t> </a:t>
            </a:r>
            <a:r>
              <a:rPr lang="en-US" spc="-33" dirty="0"/>
              <a:t>Failure</a:t>
            </a:r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2747381" y="2220637"/>
            <a:ext cx="10169312" cy="43410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74121" indent="-457189">
              <a:spcBef>
                <a:spcPts val="127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Not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exactly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 same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negation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in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logic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(mathematics)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27"/>
              </a:spcBef>
              <a:buClr>
                <a:srgbClr val="C00000"/>
              </a:buClr>
              <a:buFont typeface="Arial"/>
              <a:buChar char="•"/>
            </a:pPr>
            <a:endParaRPr sz="5267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13" dirty="0">
                <a:latin typeface="Arial"/>
                <a:cs typeface="Arial"/>
              </a:rPr>
              <a:t>Negation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failure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makes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“closed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world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assumption”</a:t>
            </a:r>
            <a:endParaRPr sz="2667" dirty="0">
              <a:latin typeface="Arial"/>
              <a:cs typeface="Arial"/>
            </a:endParaRPr>
          </a:p>
          <a:p>
            <a:pPr marL="474121" marR="6773" indent="-457189">
              <a:lnSpc>
                <a:spcPct val="125000"/>
              </a:lnSpc>
              <a:spcBef>
                <a:spcPts val="640"/>
              </a:spcBef>
              <a:buClr>
                <a:srgbClr val="C00000"/>
              </a:buClr>
              <a:buSzPct val="125000"/>
              <a:buFontTx/>
              <a:buChar char="•"/>
              <a:tabLst>
                <a:tab pos="473275" algn="l"/>
                <a:tab pos="474121" algn="l"/>
              </a:tabLst>
            </a:pPr>
            <a:r>
              <a:rPr lang="en-CA" sz="2667" spc="-7" dirty="0">
                <a:cs typeface="Arial"/>
              </a:rPr>
              <a:t>Standard</a:t>
            </a:r>
            <a:r>
              <a:rPr lang="en-CA" sz="2667" dirty="0">
                <a:cs typeface="Arial"/>
              </a:rPr>
              <a:t> </a:t>
            </a:r>
            <a:r>
              <a:rPr lang="en-CA" sz="2667" spc="-7" dirty="0">
                <a:cs typeface="Arial"/>
              </a:rPr>
              <a:t>abbreviation:</a:t>
            </a:r>
            <a:r>
              <a:rPr lang="en-CA" sz="2667" spc="13" dirty="0">
                <a:cs typeface="Arial"/>
              </a:rPr>
              <a:t> </a:t>
            </a:r>
            <a:r>
              <a:rPr lang="en-CA" sz="2667" spc="-40" dirty="0">
                <a:cs typeface="Arial"/>
              </a:rPr>
              <a:t>CWA</a:t>
            </a:r>
            <a:r>
              <a:rPr lang="en-CA" sz="2667" spc="-133" dirty="0">
                <a:cs typeface="Arial"/>
              </a:rPr>
              <a:t> </a:t>
            </a:r>
            <a:r>
              <a:rPr lang="en-CA" sz="2667" spc="-7" dirty="0">
                <a:cs typeface="Arial"/>
              </a:rPr>
              <a:t>=</a:t>
            </a:r>
            <a:r>
              <a:rPr lang="en-CA" sz="2667" dirty="0">
                <a:cs typeface="Arial"/>
              </a:rPr>
              <a:t> </a:t>
            </a:r>
            <a:r>
              <a:rPr lang="en-CA" sz="2667" spc="-7" dirty="0">
                <a:cs typeface="Arial"/>
              </a:rPr>
              <a:t>Closed</a:t>
            </a:r>
            <a:r>
              <a:rPr lang="en-CA" sz="2667" spc="27" dirty="0">
                <a:cs typeface="Arial"/>
              </a:rPr>
              <a:t> </a:t>
            </a:r>
            <a:r>
              <a:rPr lang="en-CA" sz="2667" spc="-13" dirty="0">
                <a:cs typeface="Arial"/>
              </a:rPr>
              <a:t>World</a:t>
            </a:r>
            <a:r>
              <a:rPr lang="en-CA" sz="2667" spc="-133" dirty="0">
                <a:cs typeface="Arial"/>
              </a:rPr>
              <a:t> </a:t>
            </a:r>
            <a:r>
              <a:rPr lang="en-CA" sz="2667" spc="-7" dirty="0">
                <a:cs typeface="Arial"/>
              </a:rPr>
              <a:t>Assumption</a:t>
            </a:r>
            <a:endParaRPr lang="en-CA" sz="2667" dirty="0">
              <a:cs typeface="Arial"/>
            </a:endParaRPr>
          </a:p>
          <a:p>
            <a:pPr marL="474121" marR="6773" indent="-457189">
              <a:lnSpc>
                <a:spcPct val="125000"/>
              </a:lnSpc>
              <a:spcBef>
                <a:spcPts val="640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The CWA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is: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Everything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that Prolog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cannot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derive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from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program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 </a:t>
            </a:r>
            <a:r>
              <a:rPr sz="2667" spc="-7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assumed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to be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false</a:t>
            </a:r>
            <a:endParaRPr sz="5267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lang="en-US" sz="2667" spc="-7" dirty="0">
                <a:latin typeface="Arial"/>
                <a:cs typeface="Arial"/>
              </a:rPr>
              <a:t>SWI Prolog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notation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for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not</a:t>
            </a:r>
            <a:r>
              <a:rPr sz="2667" b="1" spc="1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P</a:t>
            </a:r>
            <a:r>
              <a:rPr sz="2667" b="1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is:</a:t>
            </a:r>
            <a:endParaRPr sz="2667" dirty="0">
              <a:latin typeface="Arial"/>
              <a:cs typeface="Arial"/>
            </a:endParaRPr>
          </a:p>
          <a:p>
            <a:pPr marL="1329233">
              <a:spcBef>
                <a:spcPts val="1440"/>
              </a:spcBef>
            </a:pPr>
            <a:r>
              <a:rPr sz="2667" spc="-7" dirty="0">
                <a:latin typeface="Arial"/>
                <a:cs typeface="Arial"/>
              </a:rPr>
              <a:t>\+</a:t>
            </a:r>
            <a:r>
              <a:rPr sz="2667" spc="-8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</a:t>
            </a:r>
            <a:endParaRPr sz="266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81" y="541398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  <a:tabLst>
                <a:tab pos="2229218" algn="l"/>
                <a:tab pos="4230688" algn="l"/>
              </a:tabLst>
            </a:pPr>
            <a:r>
              <a:rPr dirty="0"/>
              <a:t>C</a:t>
            </a:r>
            <a:r>
              <a:rPr lang="en-US" dirty="0"/>
              <a:t>losed </a:t>
            </a:r>
            <a:r>
              <a:rPr dirty="0"/>
              <a:t>W</a:t>
            </a:r>
            <a:r>
              <a:rPr lang="en-US" dirty="0"/>
              <a:t>orld Assumption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442582" y="1630950"/>
            <a:ext cx="12328495" cy="5331887"/>
          </a:xfrm>
          <a:prstGeom prst="rect">
            <a:avLst/>
          </a:prstGeom>
        </p:spPr>
        <p:txBody>
          <a:bodyPr vert="horz" wrap="square" lIns="0" tIns="199813" rIns="0" bIns="0" rtlCol="0">
            <a:spAutoFit/>
          </a:bodyPr>
          <a:lstStyle/>
          <a:p>
            <a:pPr marL="474121" indent="-457189">
              <a:spcBef>
                <a:spcPts val="1573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What</a:t>
            </a:r>
            <a:r>
              <a:rPr sz="2667" dirty="0">
                <a:latin typeface="Arial"/>
                <a:cs typeface="Arial"/>
              </a:rPr>
              <a:t> </a:t>
            </a:r>
            <a:r>
              <a:rPr lang="en-US" sz="2667" dirty="0">
                <a:latin typeface="Arial"/>
                <a:cs typeface="Arial"/>
              </a:rPr>
              <a:t>does </a:t>
            </a:r>
            <a:r>
              <a:rPr sz="2667" spc="-7" dirty="0">
                <a:latin typeface="Arial"/>
                <a:cs typeface="Arial"/>
              </a:rPr>
              <a:t>yes/no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mean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under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33" dirty="0">
                <a:latin typeface="Arial"/>
                <a:cs typeface="Arial"/>
              </a:rPr>
              <a:t>CWA?</a:t>
            </a:r>
            <a:r>
              <a:rPr sz="2667" spc="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Consider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this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single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line</a:t>
            </a:r>
            <a:r>
              <a:rPr sz="2667" spc="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program:</a:t>
            </a:r>
            <a:endParaRPr sz="2667" dirty="0">
              <a:latin typeface="Arial"/>
              <a:cs typeface="Arial"/>
            </a:endParaRPr>
          </a:p>
          <a:p>
            <a:pPr marL="481741">
              <a:spcBef>
                <a:spcPts val="1440"/>
              </a:spcBef>
            </a:pPr>
            <a:r>
              <a:rPr sz="2667" b="1" spc="-7" dirty="0">
                <a:latin typeface="Arial"/>
                <a:cs typeface="Arial"/>
              </a:rPr>
              <a:t>round(</a:t>
            </a:r>
            <a:r>
              <a:rPr lang="en-US" sz="2667" b="1" spc="-20" dirty="0">
                <a:latin typeface="Arial"/>
                <a:cs typeface="Arial"/>
              </a:rPr>
              <a:t>sun</a:t>
            </a:r>
            <a:r>
              <a:rPr sz="2667" b="1" spc="-7" dirty="0">
                <a:latin typeface="Arial"/>
                <a:cs typeface="Arial"/>
              </a:rPr>
              <a:t>).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2333" dirty="0">
              <a:latin typeface="Arial"/>
              <a:cs typeface="Arial"/>
            </a:endParaRPr>
          </a:p>
          <a:p>
            <a:pPr marL="474121" indent="-457189"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How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should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Prolog’s</a:t>
            </a:r>
            <a:r>
              <a:rPr sz="2667" spc="33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answers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be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understood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in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 following?</a:t>
            </a:r>
            <a:endParaRPr sz="5267" dirty="0">
              <a:latin typeface="Arial"/>
              <a:cs typeface="Arial"/>
            </a:endParaRPr>
          </a:p>
          <a:p>
            <a:pPr marL="16933">
              <a:tabLst>
                <a:tab pos="523227" algn="l"/>
              </a:tabLst>
            </a:pPr>
            <a:r>
              <a:rPr sz="2667" b="1" spc="-7" dirty="0">
                <a:latin typeface="Arial"/>
                <a:cs typeface="Arial"/>
              </a:rPr>
              <a:t>?-	round(</a:t>
            </a:r>
            <a:r>
              <a:rPr lang="en-US" sz="2667" b="1" spc="-7" dirty="0">
                <a:latin typeface="Arial"/>
                <a:cs typeface="Arial"/>
              </a:rPr>
              <a:t>sun</a:t>
            </a:r>
            <a:r>
              <a:rPr sz="2667" b="1" spc="-7" dirty="0">
                <a:latin typeface="Arial"/>
                <a:cs typeface="Arial"/>
              </a:rPr>
              <a:t>).</a:t>
            </a:r>
            <a:endParaRPr sz="2667" dirty="0">
              <a:latin typeface="Arial"/>
              <a:cs typeface="Arial"/>
            </a:endParaRPr>
          </a:p>
          <a:p>
            <a:pPr marL="481741">
              <a:spcBef>
                <a:spcPts val="1440"/>
              </a:spcBef>
              <a:tabLst>
                <a:tab pos="2455272" algn="l"/>
              </a:tabLst>
            </a:pPr>
            <a:r>
              <a:rPr lang="en-US" sz="2667" b="1" spc="-7" dirty="0">
                <a:latin typeface="Arial"/>
                <a:cs typeface="Arial"/>
              </a:rPr>
              <a:t>true</a:t>
            </a:r>
            <a:r>
              <a:rPr sz="2667" b="1" spc="-7" dirty="0">
                <a:latin typeface="Arial"/>
                <a:cs typeface="Arial"/>
              </a:rPr>
              <a:t>	</a:t>
            </a:r>
            <a:r>
              <a:rPr sz="2667" spc="-7" dirty="0">
                <a:latin typeface="Arial"/>
                <a:cs typeface="Arial"/>
              </a:rPr>
              <a:t>%</a:t>
            </a:r>
            <a:r>
              <a:rPr sz="2667" spc="-53" dirty="0">
                <a:latin typeface="Arial"/>
                <a:cs typeface="Arial"/>
              </a:rPr>
              <a:t> </a:t>
            </a:r>
            <a:r>
              <a:rPr lang="en-US" sz="2667" spc="-67" dirty="0">
                <a:latin typeface="Arial"/>
                <a:cs typeface="Arial"/>
              </a:rPr>
              <a:t>true</a:t>
            </a:r>
            <a:r>
              <a:rPr sz="2667" spc="-67" dirty="0">
                <a:latin typeface="Arial"/>
                <a:cs typeface="Arial"/>
              </a:rPr>
              <a:t>,</a:t>
            </a:r>
            <a:r>
              <a:rPr sz="2667" spc="-7" dirty="0">
                <a:latin typeface="Arial"/>
                <a:cs typeface="Arial"/>
              </a:rPr>
              <a:t> round</a:t>
            </a:r>
            <a:r>
              <a:rPr lang="en-US" sz="2667" spc="-7" dirty="0">
                <a:latin typeface="Arial"/>
                <a:cs typeface="Arial"/>
              </a:rPr>
              <a:t>(sun</a:t>
            </a:r>
            <a:r>
              <a:rPr sz="2667" spc="-7" dirty="0">
                <a:latin typeface="Arial"/>
                <a:cs typeface="Arial"/>
              </a:rPr>
              <a:t>)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logically</a:t>
            </a:r>
            <a:r>
              <a:rPr sz="2667" spc="3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follows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from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program</a:t>
            </a:r>
            <a:endParaRPr sz="2667" dirty="0">
              <a:latin typeface="Arial"/>
              <a:cs typeface="Arial"/>
            </a:endParaRPr>
          </a:p>
          <a:p>
            <a:pPr marL="16933">
              <a:spcBef>
                <a:spcPts val="1440"/>
              </a:spcBef>
              <a:tabLst>
                <a:tab pos="523227" algn="l"/>
              </a:tabLst>
            </a:pPr>
            <a:r>
              <a:rPr sz="2667" b="1" spc="-7" dirty="0">
                <a:latin typeface="Arial"/>
                <a:cs typeface="Arial"/>
              </a:rPr>
              <a:t>?-	round(</a:t>
            </a:r>
            <a:r>
              <a:rPr lang="en-US" sz="2667" b="1" spc="-33" dirty="0">
                <a:latin typeface="Arial"/>
                <a:cs typeface="Arial"/>
              </a:rPr>
              <a:t>earth</a:t>
            </a:r>
            <a:r>
              <a:rPr sz="2667" b="1" spc="-7" dirty="0">
                <a:latin typeface="Arial"/>
                <a:cs typeface="Arial"/>
              </a:rPr>
              <a:t>).</a:t>
            </a:r>
            <a:endParaRPr sz="2667" dirty="0">
              <a:latin typeface="Arial"/>
              <a:cs typeface="Arial"/>
            </a:endParaRPr>
          </a:p>
          <a:p>
            <a:pPr marL="481741">
              <a:spcBef>
                <a:spcPts val="1440"/>
              </a:spcBef>
              <a:tabLst>
                <a:tab pos="2455272" algn="l"/>
              </a:tabLst>
            </a:pPr>
            <a:r>
              <a:rPr lang="en-US" sz="2667" b="1" spc="-7" dirty="0">
                <a:latin typeface="Arial"/>
                <a:cs typeface="Arial"/>
              </a:rPr>
              <a:t>false</a:t>
            </a:r>
            <a:r>
              <a:rPr sz="2667" b="1" spc="-7" dirty="0">
                <a:latin typeface="Arial"/>
                <a:cs typeface="Arial"/>
              </a:rPr>
              <a:t>	</a:t>
            </a:r>
            <a:r>
              <a:rPr sz="2667" spc="-7" dirty="0">
                <a:latin typeface="Arial"/>
                <a:cs typeface="Arial"/>
              </a:rPr>
              <a:t>%</a:t>
            </a:r>
            <a:r>
              <a:rPr sz="2667" dirty="0">
                <a:latin typeface="Arial"/>
                <a:cs typeface="Arial"/>
              </a:rPr>
              <a:t> </a:t>
            </a:r>
            <a:r>
              <a:rPr lang="en-US" sz="2667" spc="-7" dirty="0">
                <a:latin typeface="Arial"/>
                <a:cs typeface="Arial"/>
              </a:rPr>
              <a:t>false </a:t>
            </a:r>
            <a:r>
              <a:rPr sz="2667" spc="-7" dirty="0">
                <a:latin typeface="Arial"/>
                <a:cs typeface="Arial"/>
              </a:rPr>
              <a:t>means: I don’t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33" dirty="0">
                <a:latin typeface="Arial"/>
                <a:cs typeface="Arial"/>
              </a:rPr>
              <a:t>know,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can’t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be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derived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from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13" dirty="0">
                <a:latin typeface="Arial"/>
                <a:cs typeface="Arial"/>
              </a:rPr>
              <a:t>program</a:t>
            </a:r>
            <a:endParaRPr sz="2667" dirty="0">
              <a:latin typeface="Arial"/>
              <a:cs typeface="Arial"/>
            </a:endParaRPr>
          </a:p>
          <a:p>
            <a:pPr marL="16933">
              <a:spcBef>
                <a:spcPts val="1440"/>
              </a:spcBef>
              <a:tabLst>
                <a:tab pos="523227" algn="l"/>
              </a:tabLst>
            </a:pPr>
            <a:r>
              <a:rPr sz="2667" b="1" spc="-7" dirty="0">
                <a:latin typeface="Arial"/>
                <a:cs typeface="Arial"/>
              </a:rPr>
              <a:t>?-	</a:t>
            </a:r>
            <a:r>
              <a:rPr lang="en-US" sz="2667" b="1" spc="-7" dirty="0">
                <a:latin typeface="Arial"/>
                <a:cs typeface="Arial"/>
              </a:rPr>
              <a:t>\+</a:t>
            </a:r>
            <a:r>
              <a:rPr sz="2667" b="1" spc="-33" dirty="0">
                <a:latin typeface="Arial"/>
                <a:cs typeface="Arial"/>
              </a:rPr>
              <a:t> </a:t>
            </a:r>
            <a:r>
              <a:rPr sz="2667" b="1" spc="-7" dirty="0">
                <a:latin typeface="Arial"/>
                <a:cs typeface="Arial"/>
              </a:rPr>
              <a:t>round(earth).</a:t>
            </a:r>
            <a:endParaRPr sz="2667" dirty="0">
              <a:latin typeface="Arial"/>
              <a:cs typeface="Arial"/>
            </a:endParaRPr>
          </a:p>
          <a:p>
            <a:pPr marL="481741">
              <a:spcBef>
                <a:spcPts val="1440"/>
              </a:spcBef>
              <a:tabLst>
                <a:tab pos="2455272" algn="l"/>
              </a:tabLst>
            </a:pPr>
            <a:r>
              <a:rPr lang="en-US" sz="2667" b="1" spc="-7" dirty="0">
                <a:latin typeface="Arial"/>
                <a:cs typeface="Arial"/>
              </a:rPr>
              <a:t>true</a:t>
            </a:r>
            <a:r>
              <a:rPr sz="2667" b="1" spc="-7" dirty="0">
                <a:latin typeface="Arial"/>
                <a:cs typeface="Arial"/>
              </a:rPr>
              <a:t>	</a:t>
            </a:r>
            <a:r>
              <a:rPr sz="2667" spc="-7" dirty="0">
                <a:latin typeface="Arial"/>
                <a:cs typeface="Arial"/>
              </a:rPr>
              <a:t>%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It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follows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from</a:t>
            </a:r>
            <a:r>
              <a:rPr sz="2667" spc="-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the program,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but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only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under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40" dirty="0">
                <a:latin typeface="Arial"/>
                <a:cs typeface="Arial"/>
              </a:rPr>
              <a:t>CWA</a:t>
            </a:r>
            <a:endParaRPr sz="266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81" y="1058470"/>
            <a:ext cx="9475914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P</a:t>
            </a:r>
            <a:r>
              <a:rPr lang="en-US" dirty="0"/>
              <a:t>roblems</a:t>
            </a:r>
            <a:r>
              <a:rPr spc="-60" dirty="0"/>
              <a:t> </a:t>
            </a:r>
            <a:r>
              <a:rPr lang="en-US" dirty="0"/>
              <a:t>with</a:t>
            </a:r>
            <a:r>
              <a:rPr spc="-60" dirty="0"/>
              <a:t> </a:t>
            </a:r>
            <a:r>
              <a:rPr lang="en-US" spc="-40" dirty="0"/>
              <a:t>Negation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2747380" y="2118631"/>
            <a:ext cx="13092841" cy="59675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6773" indent="-457189">
              <a:lnSpc>
                <a:spcPct val="125000"/>
              </a:lnSpc>
              <a:spcBef>
                <a:spcPts val="133"/>
              </a:spcBef>
              <a:buClr>
                <a:srgbClr val="C00000"/>
              </a:buClr>
              <a:buSzPct val="125000"/>
              <a:buChar char="•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Negation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failure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is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defined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through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lang="en-US" sz="2667" spc="-13" dirty="0">
                <a:latin typeface="Arial"/>
                <a:cs typeface="Arial"/>
              </a:rPr>
              <a:t>non-logical </a:t>
            </a:r>
            <a:r>
              <a:rPr sz="2667" spc="-7" dirty="0">
                <a:latin typeface="Arial"/>
                <a:cs typeface="Arial"/>
              </a:rPr>
              <a:t>cut, so we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can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expect some </a:t>
            </a:r>
            <a:r>
              <a:rPr sz="2667" spc="-7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difficulties. Consider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this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example: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% person(X) means that X is a person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person(jack).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person(</a:t>
            </a:r>
            <a:r>
              <a:rPr lang="en-US" sz="3200" dirty="0" err="1">
                <a:latin typeface="Arial"/>
                <a:cs typeface="Arial"/>
              </a:rPr>
              <a:t>judy</a:t>
            </a:r>
            <a:r>
              <a:rPr lang="en-US" sz="3200" dirty="0">
                <a:latin typeface="Arial"/>
                <a:cs typeface="Arial"/>
              </a:rPr>
              <a:t>).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person(jeff).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% male(X) means that X is male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male(jack).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male(jeff).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% female(X) means that X is female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female(X):-</a:t>
            </a:r>
          </a:p>
          <a:p>
            <a:pPr>
              <a:spcBef>
                <a:spcPts val="40"/>
              </a:spcBef>
            </a:pPr>
            <a:r>
              <a:rPr lang="en-US" sz="3200" dirty="0">
                <a:latin typeface="Arial"/>
                <a:cs typeface="Arial"/>
              </a:rPr>
              <a:t>    \+ male(X).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5F58-9B1E-050B-9E4A-0E756BF2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6"/>
            <a:ext cx="10708559" cy="835352"/>
          </a:xfrm>
        </p:spPr>
        <p:txBody>
          <a:bodyPr/>
          <a:lstStyle/>
          <a:p>
            <a:r>
              <a:rPr lang="en-US" dirty="0"/>
              <a:t>Unexpected results due to negation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0AC35-9AC2-9BFD-212B-7CC4D91EB1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4E09B-792B-CEC3-6597-5EBB8C35946A}"/>
              </a:ext>
            </a:extLst>
          </p:cNvPr>
          <p:cNvSpPr txBox="1"/>
          <p:nvPr/>
        </p:nvSpPr>
        <p:spPr>
          <a:xfrm>
            <a:off x="1195753" y="1941342"/>
            <a:ext cx="1429277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male(jack).</a:t>
            </a:r>
          </a:p>
          <a:p>
            <a:r>
              <a:rPr lang="en-CA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true.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female(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judy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</a:p>
          <a:p>
            <a:r>
              <a:rPr lang="en-CA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true.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male(X).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jack </a:t>
            </a:r>
            <a:r>
              <a:rPr lang="en-CA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jeff.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female(X).</a:t>
            </a:r>
          </a:p>
          <a:p>
            <a:r>
              <a:rPr lang="en-CA" b="1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false.              % nobody is female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female(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judy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</a:p>
          <a:p>
            <a:r>
              <a:rPr lang="en-CA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true.               % </a:t>
            </a:r>
            <a:r>
              <a:rPr lang="en-CA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judy</a:t>
            </a:r>
            <a:r>
              <a:rPr lang="en-CA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is female but nobody is female?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 </a:t>
            </a:r>
          </a:p>
        </p:txBody>
      </p:sp>
    </p:spTree>
    <p:extLst>
      <p:ext uri="{BB962C8B-B14F-4D97-AF65-F5344CB8AC3E}">
        <p14:creationId xmlns:p14="http://schemas.microsoft.com/office/powerpoint/2010/main" val="3034665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829A-990E-E883-BE4C-84CEF080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430740"/>
            <a:ext cx="13451759" cy="877555"/>
          </a:xfrm>
        </p:spPr>
        <p:txBody>
          <a:bodyPr/>
          <a:lstStyle/>
          <a:p>
            <a:r>
              <a:rPr lang="en-US" dirty="0"/>
              <a:t>Negation is non-logical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E508E-53A2-9AD3-AA7E-79B3F254B75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E20D8-5C64-DC68-6431-EC7C61EF6ABA}"/>
              </a:ext>
            </a:extLst>
          </p:cNvPr>
          <p:cNvSpPr txBox="1"/>
          <p:nvPr/>
        </p:nvSpPr>
        <p:spPr>
          <a:xfrm>
            <a:off x="590843" y="1178978"/>
            <a:ext cx="14447520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Negation gives incorrect answers when the negated term involves unbound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term with no unbound variables is called a "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gound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term"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Order matters with negation: delay negation as much as possible to increase chances all variables will be bound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\+ X = a.   </a:t>
            </a:r>
          </a:p>
          <a:p>
            <a:r>
              <a:rPr lang="en-CA" b="1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false.</a:t>
            </a:r>
            <a:endParaRPr lang="en-CA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\+ X = a, X = b.</a:t>
            </a:r>
          </a:p>
          <a:p>
            <a:r>
              <a:rPr lang="en-CA" b="1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false.</a:t>
            </a:r>
            <a:endParaRPr lang="en-CA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X = b, \+ X =a.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b.</a:t>
            </a:r>
          </a:p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 </a:t>
            </a:r>
          </a:p>
        </p:txBody>
      </p:sp>
    </p:spTree>
    <p:extLst>
      <p:ext uri="{BB962C8B-B14F-4D97-AF65-F5344CB8AC3E}">
        <p14:creationId xmlns:p14="http://schemas.microsoft.com/office/powerpoint/2010/main" val="244529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2476-61DF-F38F-4BFE-93CAA48A8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13" y="627688"/>
            <a:ext cx="15322762" cy="1335973"/>
          </a:xfrm>
        </p:spPr>
        <p:txBody>
          <a:bodyPr/>
          <a:lstStyle/>
          <a:p>
            <a:r>
              <a:rPr lang="en-US" dirty="0"/>
              <a:t>When does order matter due to unbound variables?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5DB29-1A1C-24BA-BC65-E82BC3E9BB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B4160-0BCA-C7D9-1004-9BCED2C3D4EC}"/>
              </a:ext>
            </a:extLst>
          </p:cNvPr>
          <p:cNvSpPr txBox="1"/>
          <p:nvPr/>
        </p:nvSpPr>
        <p:spPr>
          <a:xfrm>
            <a:off x="1871002" y="1561512"/>
            <a:ext cx="1138076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of these is a problem if we change the order:</a:t>
            </a:r>
          </a:p>
          <a:p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Recursion and infinite loops</a:t>
            </a:r>
          </a:p>
          <a:p>
            <a:r>
              <a:rPr lang="en-US" dirty="0"/>
              <a:t>ancestor(X,Z):-</a:t>
            </a:r>
          </a:p>
          <a:p>
            <a:r>
              <a:rPr lang="en-US" dirty="0"/>
              <a:t>   parent(X,Y),     </a:t>
            </a:r>
          </a:p>
          <a:p>
            <a:r>
              <a:rPr lang="en-US" dirty="0"/>
              <a:t>   ancestor(Y,Z).       % recursion after Y is bound by parent(X,Y)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Arithmetic</a:t>
            </a:r>
          </a:p>
          <a:p>
            <a:r>
              <a:rPr lang="en-US" dirty="0"/>
              <a:t>X = 4, Y is X * 3.      % arithmetic after X is bound by X = 4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Negation</a:t>
            </a:r>
          </a:p>
          <a:p>
            <a:r>
              <a:rPr lang="en-US" dirty="0"/>
              <a:t>X = b, \+ X = a.        % negation after X </a:t>
            </a:r>
            <a:r>
              <a:rPr lang="en-US"/>
              <a:t>is bound by X =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92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Conclusion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In this lesson, you learned about Prolog negation, and the cut operator.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next lesson, you will learn to use knowledge representation when developing Prolog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33209</TotalTime>
  <Words>1199</Words>
  <Application>Microsoft Macintosh PowerPoint</Application>
  <PresentationFormat>Custom</PresentationFormat>
  <Paragraphs>211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Helvetica</vt:lpstr>
      <vt:lpstr>Menlo</vt:lpstr>
      <vt:lpstr>Wingdings</vt:lpstr>
      <vt:lpstr>Office Theme</vt:lpstr>
      <vt:lpstr>Prolog Cut and Negation</vt:lpstr>
      <vt:lpstr>Lesson Overview (Agenda)</vt:lpstr>
      <vt:lpstr>Cut operator</vt:lpstr>
      <vt:lpstr>Example of cut (we would not use it). Student Grades</vt:lpstr>
      <vt:lpstr>Prolog: Convert Number Grade to Letter</vt:lpstr>
      <vt:lpstr>Seems to work? (no, not good)</vt:lpstr>
      <vt:lpstr>PowerPoint Presentation</vt:lpstr>
      <vt:lpstr>THE SCOPE OF CUT</vt:lpstr>
      <vt:lpstr>Negation</vt:lpstr>
      <vt:lpstr>Negation Example</vt:lpstr>
      <vt:lpstr>Negation as Failure</vt:lpstr>
      <vt:lpstr>Closed World Assumption</vt:lpstr>
      <vt:lpstr>Problems with Negation</vt:lpstr>
      <vt:lpstr>Unexpected results due to negation</vt:lpstr>
      <vt:lpstr>Negation is non-logical</vt:lpstr>
      <vt:lpstr>When does order matter due to unbound variables?</vt:lpstr>
      <vt:lpstr>Conclusion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215</cp:revision>
  <dcterms:created xsi:type="dcterms:W3CDTF">2016-12-21T16:02:28Z</dcterms:created>
  <dcterms:modified xsi:type="dcterms:W3CDTF">2025-02-05T21:49:17Z</dcterms:modified>
</cp:coreProperties>
</file>