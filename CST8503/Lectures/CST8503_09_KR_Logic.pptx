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2"/>
    <p:sldId id="335" r:id="rId3"/>
    <p:sldId id="345" r:id="rId4"/>
    <p:sldId id="346" r:id="rId5"/>
    <p:sldId id="347" r:id="rId6"/>
    <p:sldId id="348" r:id="rId7"/>
    <p:sldId id="389" r:id="rId8"/>
    <p:sldId id="390" r:id="rId9"/>
    <p:sldId id="349" r:id="rId10"/>
    <p:sldId id="339" r:id="rId11"/>
    <p:sldId id="340" r:id="rId12"/>
    <p:sldId id="399" r:id="rId13"/>
    <p:sldId id="352" r:id="rId14"/>
    <p:sldId id="350" r:id="rId15"/>
    <p:sldId id="351" r:id="rId16"/>
    <p:sldId id="353" r:id="rId17"/>
    <p:sldId id="395" r:id="rId18"/>
    <p:sldId id="396" r:id="rId19"/>
    <p:sldId id="397" r:id="rId20"/>
    <p:sldId id="354" r:id="rId21"/>
    <p:sldId id="355" r:id="rId22"/>
    <p:sldId id="356" r:id="rId23"/>
    <p:sldId id="357" r:id="rId24"/>
    <p:sldId id="391" r:id="rId25"/>
    <p:sldId id="393" r:id="rId26"/>
    <p:sldId id="392" r:id="rId27"/>
    <p:sldId id="394" r:id="rId28"/>
    <p:sldId id="398" r:id="rId29"/>
    <p:sldId id="341" r:id="rId30"/>
    <p:sldId id="342" r:id="rId31"/>
    <p:sldId id="343" r:id="rId32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6" autoAdjust="0"/>
    <p:restoredTop sz="94694" autoAdjust="0"/>
  </p:normalViewPr>
  <p:slideViewPr>
    <p:cSldViewPr snapToGrid="0" snapToObjects="1">
      <p:cViewPr varScale="1">
        <p:scale>
          <a:sx n="91" d="100"/>
          <a:sy n="91" d="100"/>
        </p:scale>
        <p:origin x="616" y="184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95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  <p:sldLayoutId id="2147483706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Representation: Logic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0" y="768365"/>
            <a:ext cx="11891737" cy="578521"/>
          </a:xfrm>
        </p:spPr>
        <p:txBody>
          <a:bodyPr/>
          <a:lstStyle/>
          <a:p>
            <a:r>
              <a:rPr lang="en-US" dirty="0"/>
              <a:t>Knowledge Representation Languages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Mathematical Logic Hierarchy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Proposition Calculus (0</a:t>
            </a:r>
            <a:r>
              <a:rPr lang="en-U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th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order)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No variables or quantifiers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Propositions together with logical connectives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Predicate Calculus (1</a:t>
            </a:r>
            <a:r>
              <a:rPr lang="en-U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st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order)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Adds Variables for terms, and quantification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Second Order Logics (2</a:t>
            </a:r>
            <a:r>
              <a:rPr lang="en-U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nd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order)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Adds variables for predicates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5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E73E-9F30-AD4C-BB14-8F24743F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Calculus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F4628-B063-8949-B5F5-79604BACA2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3719" y="1559407"/>
            <a:ext cx="11615780" cy="635153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Propositions are true or false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The moon is made of cheese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Socrates is a man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Men are mortal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The population of the world is 3 million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Questions are not propositions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What is the meaning of life, the universe, and everything?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Where is the door?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E3489-BF39-2D43-A661-E041DC6436D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6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B613-14AD-384B-AA7D-A3661F7F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Calculus (cont'd)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25DADB5-555B-EF4C-A7EA-6807A87A7EB3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r>
                  <a:rPr lang="en-US" dirty="0"/>
                  <a:t>Propositional Calculus or Propositional Logic is about propositions and their combinations</a:t>
                </a:r>
              </a:p>
              <a:p>
                <a:r>
                  <a:rPr lang="en-US" dirty="0"/>
                  <a:t>Combine Propositions with logical connectives: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/>
                  <a:t>		not (negation)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dirty="0"/>
                  <a:t> 		or (disjunction)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		and (conjunction)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	       implies (conditional)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		equivalence (bi-conditional)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25DADB5-555B-EF4C-A7EA-6807A87A7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2074" t="-2222" b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AE0DD-BC6E-4143-8FCA-419A352B3D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90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BB1D-AC69-8A47-B7FE-FB445D07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7D1CF-7696-EA47-BC53-2BF63459B5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56509"/>
            <a:ext cx="11615780" cy="5678825"/>
          </a:xfrm>
        </p:spPr>
        <p:txBody>
          <a:bodyPr/>
          <a:lstStyle/>
          <a:p>
            <a:r>
              <a:rPr lang="en-US" dirty="0"/>
              <a:t>How logical are humans?</a:t>
            </a:r>
          </a:p>
          <a:p>
            <a:r>
              <a:rPr lang="en-US" dirty="0"/>
              <a:t>Truth tables show the truth value of propositions and their combinations</a:t>
            </a:r>
          </a:p>
          <a:p>
            <a:r>
              <a:rPr lang="en-US" dirty="0"/>
              <a:t>We can use symbols like p and q to represent propositions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AC2F8-C7B0-FF40-B045-FDD1D060667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10A1AAC-95F8-E74C-8048-C2AB48CBA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4584029"/>
                  </p:ext>
                </p:extLst>
              </p:nvPr>
            </p:nvGraphicFramePr>
            <p:xfrm>
              <a:off x="1201576" y="4715933"/>
              <a:ext cx="10838391" cy="2819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12797">
                      <a:extLst>
                        <a:ext uri="{9D8B030D-6E8A-4147-A177-3AD203B41FA5}">
                          <a16:colId xmlns:a16="http://schemas.microsoft.com/office/drawing/2014/main" val="2665252964"/>
                        </a:ext>
                      </a:extLst>
                    </a:gridCol>
                    <a:gridCol w="3612797">
                      <a:extLst>
                        <a:ext uri="{9D8B030D-6E8A-4147-A177-3AD203B41FA5}">
                          <a16:colId xmlns:a16="http://schemas.microsoft.com/office/drawing/2014/main" val="2564479188"/>
                        </a:ext>
                      </a:extLst>
                    </a:gridCol>
                    <a:gridCol w="3612797">
                      <a:extLst>
                        <a:ext uri="{9D8B030D-6E8A-4147-A177-3AD203B41FA5}">
                          <a16:colId xmlns:a16="http://schemas.microsoft.com/office/drawing/2014/main" val="40057854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4618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12523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903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094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331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10A1AAC-95F8-E74C-8048-C2AB48CBA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4584029"/>
                  </p:ext>
                </p:extLst>
              </p:nvPr>
            </p:nvGraphicFramePr>
            <p:xfrm>
              <a:off x="1201576" y="4715933"/>
              <a:ext cx="10838391" cy="2819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12797">
                      <a:extLst>
                        <a:ext uri="{9D8B030D-6E8A-4147-A177-3AD203B41FA5}">
                          <a16:colId xmlns:a16="http://schemas.microsoft.com/office/drawing/2014/main" val="2665252964"/>
                        </a:ext>
                      </a:extLst>
                    </a:gridCol>
                    <a:gridCol w="3612797">
                      <a:extLst>
                        <a:ext uri="{9D8B030D-6E8A-4147-A177-3AD203B41FA5}">
                          <a16:colId xmlns:a16="http://schemas.microsoft.com/office/drawing/2014/main" val="2564479188"/>
                        </a:ext>
                      </a:extLst>
                    </a:gridCol>
                    <a:gridCol w="3612797">
                      <a:extLst>
                        <a:ext uri="{9D8B030D-6E8A-4147-A177-3AD203B41FA5}">
                          <a16:colId xmlns:a16="http://schemas.microsoft.com/office/drawing/2014/main" val="4005785449"/>
                        </a:ext>
                      </a:extLst>
                    </a:gridCol>
                  </a:tblGrid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3333" r="-702" b="-42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618254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1252349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903829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094703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331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07744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BB1D-AC69-8A47-B7FE-FB445D07D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314977"/>
            <a:ext cx="9475914" cy="1335973"/>
          </a:xfrm>
        </p:spPr>
        <p:txBody>
          <a:bodyPr/>
          <a:lstStyle/>
          <a:p>
            <a:r>
              <a:rPr lang="en-US" dirty="0"/>
              <a:t>Logical Equivalence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967D1CF-7696-EA47-BC53-2BF63459B560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357745"/>
                <a:ext cx="11615780" cy="6177589"/>
              </a:xfrm>
            </p:spPr>
            <p:txBody>
              <a:bodyPr/>
              <a:lstStyle/>
              <a:p>
                <a:r>
                  <a:rPr lang="en-US" dirty="0"/>
                  <a:t>It turns out we don't need all of the connectives</a:t>
                </a:r>
              </a:p>
              <a:p>
                <a:r>
                  <a:rPr lang="en-US" dirty="0"/>
                  <a:t>Truth table proves P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dirty="0"/>
                  <a:t> is logically equivalent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There is </a:t>
                </a:r>
                <a:r>
                  <a:rPr lang="en-US" b="1" dirty="0"/>
                  <a:t>no way </a:t>
                </a:r>
                <a:r>
                  <a:rPr lang="en-US" dirty="0"/>
                  <a:t>to assign values to P or Q to make these two formulas (formulae) different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967D1CF-7696-EA47-BC53-2BF63459B5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357745"/>
                <a:ext cx="11615780" cy="6177589"/>
              </a:xfrm>
              <a:blipFill>
                <a:blip r:embed="rId2"/>
                <a:stretch>
                  <a:fillRect l="-2074" t="-1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AC2F8-C7B0-FF40-B045-FDD1D060667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10A1AAC-95F8-E74C-8048-C2AB48CBA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5117556"/>
                  </p:ext>
                </p:extLst>
              </p:nvPr>
            </p:nvGraphicFramePr>
            <p:xfrm>
              <a:off x="1201576" y="4715933"/>
              <a:ext cx="10838392" cy="2819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598">
                      <a:extLst>
                        <a:ext uri="{9D8B030D-6E8A-4147-A177-3AD203B41FA5}">
                          <a16:colId xmlns:a16="http://schemas.microsoft.com/office/drawing/2014/main" val="2665252964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2564479188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4005785449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25303051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4618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12523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903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094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331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10A1AAC-95F8-E74C-8048-C2AB48CBA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5117556"/>
                  </p:ext>
                </p:extLst>
              </p:nvPr>
            </p:nvGraphicFramePr>
            <p:xfrm>
              <a:off x="1201576" y="4715933"/>
              <a:ext cx="10838392" cy="2819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598">
                      <a:extLst>
                        <a:ext uri="{9D8B030D-6E8A-4147-A177-3AD203B41FA5}">
                          <a16:colId xmlns:a16="http://schemas.microsoft.com/office/drawing/2014/main" val="2665252964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2564479188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4005785449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2530305140"/>
                        </a:ext>
                      </a:extLst>
                    </a:gridCol>
                  </a:tblGrid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939" t="-13333" r="-101408" b="-42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533" t="-13333" r="-935" b="-42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618254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1252349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903829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094703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331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858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6A9C-727E-2943-8ABC-03991B64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P is false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C6EFD-FAE5-1343-B6F2-836BA7AF7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89036"/>
            <a:ext cx="11615780" cy="1427956"/>
          </a:xfrm>
        </p:spPr>
        <p:txBody>
          <a:bodyPr/>
          <a:lstStyle/>
          <a:p>
            <a:r>
              <a:rPr lang="en-US" dirty="0"/>
              <a:t>Many of us have some trouble with the last line of the previous truth table: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3B30DF-FD05-7045-A9EF-23CAA2A8F6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CEC458AD-FE31-F447-B0D9-22B6184876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2788292"/>
                  </p:ext>
                </p:extLst>
              </p:nvPr>
            </p:nvGraphicFramePr>
            <p:xfrm>
              <a:off x="1201575" y="2925009"/>
              <a:ext cx="108383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12797">
                      <a:extLst>
                        <a:ext uri="{9D8B030D-6E8A-4147-A177-3AD203B41FA5}">
                          <a16:colId xmlns:a16="http://schemas.microsoft.com/office/drawing/2014/main" val="2665252964"/>
                        </a:ext>
                      </a:extLst>
                    </a:gridCol>
                    <a:gridCol w="3612797">
                      <a:extLst>
                        <a:ext uri="{9D8B030D-6E8A-4147-A177-3AD203B41FA5}">
                          <a16:colId xmlns:a16="http://schemas.microsoft.com/office/drawing/2014/main" val="2564479188"/>
                        </a:ext>
                      </a:extLst>
                    </a:gridCol>
                    <a:gridCol w="3612797">
                      <a:extLst>
                        <a:ext uri="{9D8B030D-6E8A-4147-A177-3AD203B41FA5}">
                          <a16:colId xmlns:a16="http://schemas.microsoft.com/office/drawing/2014/main" val="40057854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4618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331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CEC458AD-FE31-F447-B0D9-22B6184876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2788292"/>
                  </p:ext>
                </p:extLst>
              </p:nvPr>
            </p:nvGraphicFramePr>
            <p:xfrm>
              <a:off x="1201575" y="2925009"/>
              <a:ext cx="108383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12797">
                      <a:extLst>
                        <a:ext uri="{9D8B030D-6E8A-4147-A177-3AD203B41FA5}">
                          <a16:colId xmlns:a16="http://schemas.microsoft.com/office/drawing/2014/main" val="2665252964"/>
                        </a:ext>
                      </a:extLst>
                    </a:gridCol>
                    <a:gridCol w="3612797">
                      <a:extLst>
                        <a:ext uri="{9D8B030D-6E8A-4147-A177-3AD203B41FA5}">
                          <a16:colId xmlns:a16="http://schemas.microsoft.com/office/drawing/2014/main" val="2564479188"/>
                        </a:ext>
                      </a:extLst>
                    </a:gridCol>
                    <a:gridCol w="3612797">
                      <a:extLst>
                        <a:ext uri="{9D8B030D-6E8A-4147-A177-3AD203B41FA5}">
                          <a16:colId xmlns:a16="http://schemas.microsoft.com/office/drawing/2014/main" val="4005785449"/>
                        </a:ext>
                      </a:extLst>
                    </a:gridCol>
                  </a:tblGrid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3333" r="-702" b="-1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618254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331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CCEF689-AA0B-5041-BB14-76B5469EE29C}"/>
              </a:ext>
            </a:extLst>
          </p:cNvPr>
          <p:cNvSpPr txBox="1">
            <a:spLocks/>
          </p:cNvSpPr>
          <p:nvPr/>
        </p:nvSpPr>
        <p:spPr>
          <a:xfrm>
            <a:off x="812881" y="4479360"/>
            <a:ext cx="11615780" cy="35856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ts val="1600"/>
              </a:spcBef>
              <a:buClr>
                <a:schemeClr val="accent2"/>
              </a:buClr>
              <a:buFontTx/>
              <a:buNone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Arial"/>
              <a:buChar char="•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ts val="1104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rgbClr val="599A83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Our intuition tells us that so much falsity in P and Q cannot result in truth?</a:t>
            </a:r>
          </a:p>
          <a:p>
            <a:r>
              <a:rPr lang="en-US" dirty="0"/>
              <a:t>Explanation: P-&gt;Q is not as strong as our human intuition wants to make it.  It's saying that if P is true, then there is more to the story.  But if P is false, you can stop reading, the story is already finished, in that we know the overall statement is true.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35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E6BD-E667-7D4C-9A11-57DA925C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438233"/>
            <a:ext cx="9475914" cy="805352"/>
          </a:xfrm>
        </p:spPr>
        <p:txBody>
          <a:bodyPr/>
          <a:lstStyle/>
          <a:p>
            <a:r>
              <a:rPr lang="en-US" dirty="0"/>
              <a:t>When P is false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6CA0E-4C26-4E4B-BFEA-680DBB4349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41" y="1019623"/>
            <a:ext cx="15444706" cy="7104754"/>
          </a:xfrm>
        </p:spPr>
        <p:txBody>
          <a:bodyPr/>
          <a:lstStyle/>
          <a:p>
            <a:r>
              <a:rPr lang="en-US" dirty="0"/>
              <a:t>Think of the following P-&gt;Q, F -&gt; F statement, which is true:</a:t>
            </a:r>
          </a:p>
          <a:p>
            <a:r>
              <a:rPr lang="en-US" dirty="0"/>
              <a:t>If 2 &lt; 1 then all humans are extremely wealthy</a:t>
            </a:r>
          </a:p>
          <a:p>
            <a:r>
              <a:rPr lang="en-US" dirty="0"/>
              <a:t>Our human intuition wants to say, no it's not true, because "making" 2 &lt; 1 true would not cause humans to be wealthy, the concepts are unrelated</a:t>
            </a:r>
          </a:p>
          <a:p>
            <a:r>
              <a:rPr lang="en-US" dirty="0"/>
              <a:t>After we get used to it, we can see that 2&lt;1 is simply false, and it doesn't make sense to imagine "making" it true. The "making" it true is not part of the statement (it's a weak statement).</a:t>
            </a:r>
          </a:p>
          <a:p>
            <a:r>
              <a:rPr lang="en-US" dirty="0"/>
              <a:t>Our intuition wants to draw a causal relationship between "making" P true, and causing Q (all humans to be wealthy).</a:t>
            </a:r>
          </a:p>
          <a:p>
            <a:r>
              <a:rPr lang="en-US" dirty="0"/>
              <a:t>Our intuition wants to say "no such relationship exists" so "false"</a:t>
            </a:r>
          </a:p>
          <a:p>
            <a:r>
              <a:rPr lang="en-US" dirty="0"/>
              <a:t>Logic says </a:t>
            </a:r>
            <a:r>
              <a:rPr lang="en-US" b="1" dirty="0"/>
              <a:t>if </a:t>
            </a:r>
            <a:r>
              <a:rPr lang="en-US" dirty="0"/>
              <a:t>P is </a:t>
            </a:r>
            <a:r>
              <a:rPr lang="en-US" b="1" dirty="0"/>
              <a:t>false</a:t>
            </a:r>
            <a:r>
              <a:rPr lang="en-US" dirty="0"/>
              <a:t>, then the statement is </a:t>
            </a:r>
            <a:r>
              <a:rPr lang="en-US" b="1" dirty="0"/>
              <a:t>true</a:t>
            </a:r>
            <a:r>
              <a:rPr lang="en-US" dirty="0"/>
              <a:t> and it doesn't matter what Q 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9CF2A-68C5-F24D-A573-E442C6DA35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51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BE11-E179-F248-81CA-53968744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 about logic?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E5B5C-FA80-CE4B-A4D7-B2BD864D1C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1615780" cy="582506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Propositional Calculus is a tool that allows us to derive conclusions from combinations of simpler statements known to be true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are seeing the workings of a system where we can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Make statements that we know to be true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/>
              <a:t>logical entailments</a:t>
            </a:r>
            <a:r>
              <a:rPr lang="en-US" dirty="0"/>
              <a:t> of those statements are also true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Prolog systematically finds logical entailments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EB6FF-EECB-F740-AD88-156B9E2CDF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814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1255895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propositional calculus you recall by filling in the truth table: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C320D53-96D9-314F-B8F8-A0EFE010F8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2395775"/>
                  </p:ext>
                </p:extLst>
              </p:nvPr>
            </p:nvGraphicFramePr>
            <p:xfrm>
              <a:off x="1201576" y="4715933"/>
              <a:ext cx="10838392" cy="2819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598">
                      <a:extLst>
                        <a:ext uri="{9D8B030D-6E8A-4147-A177-3AD203B41FA5}">
                          <a16:colId xmlns:a16="http://schemas.microsoft.com/office/drawing/2014/main" val="2665252964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2564479188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4005785449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25303051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4618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12523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9038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094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331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C320D53-96D9-314F-B8F8-A0EFE010F8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2395775"/>
                  </p:ext>
                </p:extLst>
              </p:nvPr>
            </p:nvGraphicFramePr>
            <p:xfrm>
              <a:off x="1201576" y="4715933"/>
              <a:ext cx="10838392" cy="2819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598">
                      <a:extLst>
                        <a:ext uri="{9D8B030D-6E8A-4147-A177-3AD203B41FA5}">
                          <a16:colId xmlns:a16="http://schemas.microsoft.com/office/drawing/2014/main" val="2665252964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2564479188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4005785449"/>
                        </a:ext>
                      </a:extLst>
                    </a:gridCol>
                    <a:gridCol w="2709598">
                      <a:extLst>
                        <a:ext uri="{9D8B030D-6E8A-4147-A177-3AD203B41FA5}">
                          <a16:colId xmlns:a16="http://schemas.microsoft.com/office/drawing/2014/main" val="2530305140"/>
                        </a:ext>
                      </a:extLst>
                    </a:gridCol>
                  </a:tblGrid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9" t="-13333" r="-101408" b="-42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533" t="-13333" r="-935" b="-42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4618254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1252349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903829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094703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331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785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Predicate Calculus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7"/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1" y="1902941"/>
                <a:ext cx="14904913" cy="6203091"/>
              </a:xfrm>
            </p:spPr>
            <p:txBody>
              <a:bodyPr/>
              <a:lstStyle/>
              <a:p>
                <a:r>
                  <a:rPr lang="en-US" dirty="0"/>
                  <a:t>Predicate Calculus (or first-order predicate calculus FOPC or first-order logic FOL) gives us all of propositional calculus, plus the following logical symbols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Variables to represent terms, or "things in the domain"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Quantifiers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dirty="0"/>
                  <a:t> universal quantification, </a:t>
                </a:r>
                <a:r>
                  <a:rPr lang="en-US" dirty="0" err="1"/>
                  <a:t>forall</a:t>
                </a:r>
                <a:endParaRPr lang="en-US" dirty="0"/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existential quantification, exists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equality symbol</a:t>
                </a:r>
              </a:p>
            </p:txBody>
          </p:sp>
        </mc:Choice>
        <mc:Fallback xmlns="">
          <p:sp>
            <p:nvSpPr>
              <p:cNvPr id="8" name="Tex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1" y="1902941"/>
                <a:ext cx="14904913" cy="6203091"/>
              </a:xfrm>
              <a:blipFill>
                <a:blip r:embed="rId2"/>
                <a:stretch>
                  <a:fillRect l="-1617" t="-1633" r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7259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62DD-A931-5E9C-323C-9872CE8C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948" y="444808"/>
            <a:ext cx="14999204" cy="807217"/>
          </a:xfrm>
        </p:spPr>
        <p:txBody>
          <a:bodyPr/>
          <a:lstStyle/>
          <a:p>
            <a:r>
              <a:rPr lang="en-US" dirty="0"/>
              <a:t>First Order Logic equivalents to Prolog statements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69029-EB66-F0B6-7B71-0DF9D8E618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0D27068-FAE3-11F3-97B4-74440C3A01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85990" y="1069145"/>
              <a:ext cx="14085608" cy="72921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7518">
                      <a:extLst>
                        <a:ext uri="{9D8B030D-6E8A-4147-A177-3AD203B41FA5}">
                          <a16:colId xmlns:a16="http://schemas.microsoft.com/office/drawing/2014/main" val="2544686267"/>
                        </a:ext>
                      </a:extLst>
                    </a:gridCol>
                    <a:gridCol w="8208090">
                      <a:extLst>
                        <a:ext uri="{9D8B030D-6E8A-4147-A177-3AD203B41FA5}">
                          <a16:colId xmlns:a16="http://schemas.microsoft.com/office/drawing/2014/main" val="2998633994"/>
                        </a:ext>
                      </a:extLst>
                    </a:gridCol>
                  </a:tblGrid>
                  <a:tr h="12023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Prolog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510832"/>
                      </a:ext>
                    </a:extLst>
                  </a:tr>
                  <a:tr h="12023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ancestor(X,Y) :- parent(X,Y).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 ∀</m:t>
                                </m:r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𝑌𝑝𝑎𝑟𝑒𝑛𝑡</m:t>
                                </m:r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CA" b="0" i="1" baseline="0" smtClean="0">
                                    <a:latin typeface="Cambria Math" panose="02040503050406030204" pitchFamily="18" charset="0"/>
                                  </a:rPr>
                                  <m:t>)→</m:t>
                                </m:r>
                                <m:r>
                                  <a:rPr lang="en-CA" b="0" i="1" baseline="0" dirty="0" smtClean="0">
                                    <a:latin typeface="Cambria Math" panose="02040503050406030204" pitchFamily="18" charset="0"/>
                                  </a:rPr>
                                  <m:t>𝑎𝑛𝑐𝑒𝑠𝑡𝑜𝑟</m:t>
                                </m:r>
                                <m:r>
                                  <a:rPr lang="en-CA" b="0" i="1" baseline="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i="1" baseline="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baseline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baseline="0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CA" b="0" i="1" baseline="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5621077"/>
                      </a:ext>
                    </a:extLst>
                  </a:tr>
                  <a:tr h="170396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ancestor(X,Z) :-</a:t>
                          </a:r>
                        </a:p>
                        <a:p>
                          <a:r>
                            <a:rPr lang="en-US" dirty="0"/>
                            <a:t>    parent(X,Y),</a:t>
                          </a:r>
                        </a:p>
                        <a:p>
                          <a:r>
                            <a:rPr lang="en-US" dirty="0"/>
                            <a:t>    ancestor(Y,Z).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𝑝𝑎𝑟𝑒𝑛𝑡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𝑎𝑛𝑐𝑒𝑠𝑡𝑜𝑟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𝑎𝑛𝑐𝑒𝑠𝑡𝑜𝑟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8305539"/>
                      </a:ext>
                    </a:extLst>
                  </a:tr>
                  <a:tr h="12023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parent(</a:t>
                          </a:r>
                          <a:r>
                            <a:rPr lang="en-US" dirty="0" err="1"/>
                            <a:t>john,sue</a:t>
                          </a:r>
                          <a:r>
                            <a:rPr lang="en-US" dirty="0"/>
                            <a:t>).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𝑝𝑎𝑟𝑒𝑛𝑡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𝑗𝑜h𝑛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𝑠𝑢𝑒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4904319"/>
                      </a:ext>
                    </a:extLst>
                  </a:tr>
                  <a:tr h="12023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parent(</a:t>
                          </a:r>
                          <a:r>
                            <a:rPr lang="en-US" dirty="0" err="1"/>
                            <a:t>X,sue</a:t>
                          </a:r>
                          <a:r>
                            <a:rPr lang="en-US" dirty="0"/>
                            <a:t>):-</a:t>
                          </a:r>
                        </a:p>
                        <a:p>
                          <a:r>
                            <a:rPr lang="en-US" dirty="0"/>
                            <a:t>    X = john</a:t>
                          </a:r>
                        </a:p>
                        <a:p>
                          <a:r>
                            <a:rPr lang="en-US" dirty="0"/>
                            <a:t>    ;</a:t>
                          </a:r>
                        </a:p>
                        <a:p>
                          <a:r>
                            <a:rPr lang="en-US" dirty="0"/>
                            <a:t>    X = sally.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𝑗𝑜h𝑛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𝑠𝑎𝑙𝑙𝑦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𝑝𝑎𝑟𝑒𝑛𝑡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𝑠𝑢𝑒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5051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0D27068-FAE3-11F3-97B4-74440C3A01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85990" y="1069145"/>
              <a:ext cx="14085608" cy="72921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77518">
                      <a:extLst>
                        <a:ext uri="{9D8B030D-6E8A-4147-A177-3AD203B41FA5}">
                          <a16:colId xmlns:a16="http://schemas.microsoft.com/office/drawing/2014/main" val="2544686267"/>
                        </a:ext>
                      </a:extLst>
                    </a:gridCol>
                    <a:gridCol w="8208090">
                      <a:extLst>
                        <a:ext uri="{9D8B030D-6E8A-4147-A177-3AD203B41FA5}">
                          <a16:colId xmlns:a16="http://schemas.microsoft.com/office/drawing/2014/main" val="2998633994"/>
                        </a:ext>
                      </a:extLst>
                    </a:gridCol>
                  </a:tblGrid>
                  <a:tr h="12023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Prolog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510832"/>
                      </a:ext>
                    </a:extLst>
                  </a:tr>
                  <a:tr h="12023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ancestor(X,Y) :- parent(X,Y).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716" t="-106316" r="-309" b="-4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5621077"/>
                      </a:ext>
                    </a:extLst>
                  </a:tr>
                  <a:tr h="170396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ancestor(X,Z) :-</a:t>
                          </a:r>
                        </a:p>
                        <a:p>
                          <a:r>
                            <a:rPr lang="en-US" dirty="0"/>
                            <a:t>    parent(X,Y),</a:t>
                          </a:r>
                        </a:p>
                        <a:p>
                          <a:r>
                            <a:rPr lang="en-US" dirty="0"/>
                            <a:t>    ancestor(Y,Z).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716" t="-146269" r="-309" b="-1985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305539"/>
                      </a:ext>
                    </a:extLst>
                  </a:tr>
                  <a:tr h="12023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parent(</a:t>
                          </a:r>
                          <a:r>
                            <a:rPr lang="en-US" dirty="0" err="1"/>
                            <a:t>john,sue</a:t>
                          </a:r>
                          <a:r>
                            <a:rPr lang="en-US" dirty="0"/>
                            <a:t>).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716" t="-347368" r="-309" b="-1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4904319"/>
                      </a:ext>
                    </a:extLst>
                  </a:tr>
                  <a:tr h="1981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parent(</a:t>
                          </a:r>
                          <a:r>
                            <a:rPr lang="en-US" dirty="0" err="1"/>
                            <a:t>X,sue</a:t>
                          </a:r>
                          <a:r>
                            <a:rPr lang="en-US" dirty="0"/>
                            <a:t>):-</a:t>
                          </a:r>
                        </a:p>
                        <a:p>
                          <a:r>
                            <a:rPr lang="en-US" dirty="0"/>
                            <a:t>    X = john</a:t>
                          </a:r>
                        </a:p>
                        <a:p>
                          <a:r>
                            <a:rPr lang="en-US" dirty="0"/>
                            <a:t>    ;</a:t>
                          </a:r>
                        </a:p>
                        <a:p>
                          <a:r>
                            <a:rPr lang="en-US" dirty="0"/>
                            <a:t>    X = sally.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716" t="-272436" r="-309" b="-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50510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557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8555-8B47-0C44-AEE7-D085A501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Calculus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B19C1-6D8F-C949-A153-C8212B7C7E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As well as the additional logical symbols, predicate calculus adds non-logical symbols:</a:t>
            </a:r>
          </a:p>
          <a:p>
            <a:r>
              <a:rPr lang="en-US" dirty="0"/>
              <a:t>	function symbols of different arity</a:t>
            </a:r>
          </a:p>
          <a:p>
            <a:r>
              <a:rPr lang="en-US" dirty="0"/>
              <a:t>		for example: +, -, 0, 1, 2, </a:t>
            </a:r>
            <a:r>
              <a:rPr lang="en-US" dirty="0" err="1"/>
              <a:t>todd</a:t>
            </a:r>
            <a:r>
              <a:rPr lang="en-US" dirty="0"/>
              <a:t>, triangle</a:t>
            </a:r>
          </a:p>
          <a:p>
            <a:r>
              <a:rPr lang="en-US" dirty="0"/>
              <a:t>	predicate symbols of different arity</a:t>
            </a:r>
          </a:p>
          <a:p>
            <a:r>
              <a:rPr lang="en-US" dirty="0"/>
              <a:t>		for example: &lt;, </a:t>
            </a:r>
            <a:r>
              <a:rPr lang="en-US" dirty="0" err="1"/>
              <a:t>rides_a_bike</a:t>
            </a:r>
            <a:r>
              <a:rPr lang="en-US" dirty="0"/>
              <a:t>, </a:t>
            </a:r>
            <a:r>
              <a:rPr lang="en-US" dirty="0" err="1"/>
              <a:t>triangle_exists</a:t>
            </a:r>
            <a:r>
              <a:rPr lang="en-US" dirty="0"/>
              <a:t>,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D794E-A1C3-2E46-A845-5FE9EAD4D03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582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F2398-C6AB-514C-8912-9BDAABC2C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505128"/>
            <a:ext cx="9475914" cy="1335973"/>
          </a:xfrm>
        </p:spPr>
        <p:txBody>
          <a:bodyPr/>
          <a:lstStyle/>
          <a:p>
            <a:r>
              <a:rPr lang="en-US" dirty="0"/>
              <a:t>First-order terms represent things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66A28-473A-ED41-8012-1A900E56A4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With the additional symbols, we can build terms that represent things in our domain of discourse:</a:t>
            </a:r>
          </a:p>
          <a:p>
            <a:r>
              <a:rPr lang="en-US" dirty="0"/>
              <a:t>	</a:t>
            </a:r>
            <a:r>
              <a:rPr lang="en-CA" b="1" dirty="0"/>
              <a:t>Variables: </a:t>
            </a:r>
            <a:r>
              <a:rPr lang="en-CA" dirty="0"/>
              <a:t> Any variable is a term.</a:t>
            </a:r>
          </a:p>
          <a:p>
            <a:r>
              <a:rPr lang="en-CA" b="1" dirty="0"/>
              <a:t>       Functions:</a:t>
            </a:r>
            <a:r>
              <a:rPr lang="en-CA" dirty="0"/>
              <a:t> Any expression </a:t>
            </a:r>
            <a:r>
              <a:rPr lang="en-CA" i="1" dirty="0"/>
              <a:t>f</a:t>
            </a:r>
            <a:r>
              <a:rPr lang="en-CA" dirty="0"/>
              <a:t>(</a:t>
            </a:r>
            <a:r>
              <a:rPr lang="en-CA" i="1" dirty="0"/>
              <a:t>t</a:t>
            </a:r>
            <a:r>
              <a:rPr lang="en-CA" baseline="-25000" dirty="0"/>
              <a:t>1</a:t>
            </a:r>
            <a:r>
              <a:rPr lang="en-CA" dirty="0"/>
              <a:t>,...,</a:t>
            </a:r>
            <a:r>
              <a:rPr lang="en-CA" i="1" dirty="0" err="1"/>
              <a:t>t</a:t>
            </a:r>
            <a:r>
              <a:rPr lang="en-CA" i="1" baseline="-25000" dirty="0" err="1"/>
              <a:t>n</a:t>
            </a:r>
            <a:r>
              <a:rPr lang="en-CA" dirty="0"/>
              <a:t>) of </a:t>
            </a:r>
            <a:r>
              <a:rPr lang="en-CA" i="1" dirty="0"/>
              <a:t>n</a:t>
            </a:r>
            <a:r>
              <a:rPr lang="en-CA" dirty="0"/>
              <a:t> arguments, where each argument </a:t>
            </a:r>
            <a:r>
              <a:rPr lang="en-CA" i="1" dirty="0" err="1"/>
              <a:t>t</a:t>
            </a:r>
            <a:r>
              <a:rPr lang="en-CA" i="1" baseline="-25000" dirty="0" err="1"/>
              <a:t>i</a:t>
            </a:r>
            <a:r>
              <a:rPr lang="en-CA" dirty="0"/>
              <a:t> is a term and </a:t>
            </a:r>
            <a:r>
              <a:rPr lang="en-CA" i="1" dirty="0"/>
              <a:t>f</a:t>
            </a:r>
            <a:r>
              <a:rPr lang="en-CA" dirty="0"/>
              <a:t> is a function symbol of arity </a:t>
            </a:r>
            <a:r>
              <a:rPr lang="en-CA" i="1" dirty="0"/>
              <a:t>n,</a:t>
            </a:r>
            <a:r>
              <a:rPr lang="en-CA" dirty="0"/>
              <a:t> is a term. </a:t>
            </a:r>
          </a:p>
          <a:p>
            <a:r>
              <a:rPr lang="en-CA" dirty="0"/>
              <a:t>	</a:t>
            </a:r>
            <a:r>
              <a:rPr lang="en-CA" b="1" dirty="0"/>
              <a:t>Constants</a:t>
            </a:r>
            <a:r>
              <a:rPr lang="en-CA" dirty="0"/>
              <a:t>: A special case of a function term where the arity is 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F1EDE-E32E-814A-B2D7-1EA11F2549C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638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907DD-9C2E-7F41-B0B4-C91FE714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C97DA-14F6-3749-B46F-416A12077D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+(3,4) : a term that denotes a number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3 is a constant, which strictly speaking is a function that takes no arguments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4 is another function of no arguments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+ is a function of arity 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temperature_of</a:t>
            </a:r>
            <a:r>
              <a:rPr lang="en-US" dirty="0"/>
              <a:t>(mars) : a term that denotes a temperature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mars is a constant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temperature_of</a:t>
            </a:r>
            <a:r>
              <a:rPr lang="en-US" dirty="0"/>
              <a:t> is a function of arity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7184A-9839-964A-87EE-1938A94216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763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0405-B94D-2E4F-8FE8-9444DF3F2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 Formulas represent statements about things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23BBF-7C19-EE44-A8CF-2E7BEEF0AF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1615780" cy="5866630"/>
          </a:xfrm>
        </p:spPr>
        <p:txBody>
          <a:bodyPr/>
          <a:lstStyle/>
          <a:p>
            <a:r>
              <a:rPr lang="en-US" dirty="0"/>
              <a:t>We saw that terms represent </a:t>
            </a:r>
            <a:r>
              <a:rPr lang="en-US" b="1" i="1" dirty="0"/>
              <a:t>things</a:t>
            </a:r>
            <a:r>
              <a:rPr lang="en-US" dirty="0"/>
              <a:t>.</a:t>
            </a:r>
          </a:p>
          <a:p>
            <a:r>
              <a:rPr lang="en-US" dirty="0"/>
              <a:t>Formulas, or well-formed formulas (formulae), or </a:t>
            </a:r>
            <a:r>
              <a:rPr lang="en-US" dirty="0" err="1"/>
              <a:t>wwfs</a:t>
            </a:r>
            <a:r>
              <a:rPr lang="en-US" dirty="0"/>
              <a:t>, are built up from predicates (and equality) that take terms as arguments, and </a:t>
            </a:r>
            <a:r>
              <a:rPr lang="en-US" b="1" i="1" dirty="0"/>
              <a:t>make true or false statements about things</a:t>
            </a:r>
          </a:p>
          <a:p>
            <a:r>
              <a:rPr lang="en-US" dirty="0"/>
              <a:t>for example: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=(+(1,1),2)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&lt;(</a:t>
            </a:r>
            <a:r>
              <a:rPr lang="en-US" dirty="0" err="1"/>
              <a:t>temperature_of</a:t>
            </a:r>
            <a:r>
              <a:rPr lang="en-US" dirty="0"/>
              <a:t>(mars),3)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rides_a_bike</a:t>
            </a:r>
            <a:r>
              <a:rPr lang="en-US" dirty="0"/>
              <a:t>(</a:t>
            </a:r>
            <a:r>
              <a:rPr lang="en-US" dirty="0" err="1"/>
              <a:t>todd</a:t>
            </a:r>
            <a:r>
              <a:rPr lang="en-US" dirty="0"/>
              <a:t>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	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193D5-DBF4-254A-928E-7685711F78E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181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C6CC-8F3F-D83D-DC55-C3AF4BA1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82" y="241893"/>
            <a:ext cx="15858336" cy="672508"/>
          </a:xfrm>
        </p:spPr>
        <p:txBody>
          <a:bodyPr/>
          <a:lstStyle/>
          <a:p>
            <a:r>
              <a:rPr lang="en-US" dirty="0"/>
              <a:t>Prolog terminology vs Predicate Calculus terminology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24BEC-5411-AB03-D069-3BB05C9965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588" y="1260763"/>
            <a:ext cx="15216830" cy="7051963"/>
          </a:xfrm>
        </p:spPr>
        <p:txBody>
          <a:bodyPr/>
          <a:lstStyle/>
          <a:p>
            <a:r>
              <a:rPr lang="en-US" dirty="0"/>
              <a:t>Unfortunately, the terminology differs between the Predicate Calculus and Prolog: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term in FOL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is a function applied to zero or more arguments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represents a thing, 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for example +(3,4) with two arguments represents a number, seven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4 with zero arguments represents a number, four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 err="1"/>
              <a:t>mother_of</a:t>
            </a:r>
            <a:r>
              <a:rPr lang="en-US" dirty="0"/>
              <a:t>(bob) with one argument represents a person, bob's mother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Atomic Well-formed formula (WWF), also called "atom", in FOL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is a predicate applied to zero or more arguments which are terms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represents a true-or-false statement about zero or more terms (things)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A86D8-9F48-4D61-5ED9-66385614022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787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277CA28-6F09-A563-98C8-8F611A5EE4B2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Non-atomic WWF in FOL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Is also a statement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Involves logical connectives like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∧,∨</m:t>
                    </m:r>
                  </m:oMath>
                </a14:m>
                <a:r>
                  <a:rPr lang="en-US" dirty="0"/>
                  <a:t> (not, and, or)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277CA28-6F09-A563-98C8-8F611A5EE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1965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06DD4-B2E7-7960-A029-2E7DF39AFEB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C92168-698D-C7AE-66EB-BE699A7F467F}"/>
              </a:ext>
            </a:extLst>
          </p:cNvPr>
          <p:cNvSpPr txBox="1">
            <a:spLocks/>
          </p:cNvSpPr>
          <p:nvPr/>
        </p:nvSpPr>
        <p:spPr>
          <a:xfrm>
            <a:off x="199082" y="241892"/>
            <a:ext cx="15858336" cy="1366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78158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kern="1200" baseline="0">
                <a:solidFill>
                  <a:srgbClr val="00673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Prolog terminology vs Predicate Calculus terminology</a:t>
            </a:r>
          </a:p>
          <a:p>
            <a:r>
              <a:rPr lang="en-US" dirty="0"/>
              <a:t>(cont'd)</a:t>
            </a:r>
          </a:p>
        </p:txBody>
      </p:sp>
    </p:spTree>
    <p:extLst>
      <p:ext uri="{BB962C8B-B14F-4D97-AF65-F5344CB8AC3E}">
        <p14:creationId xmlns:p14="http://schemas.microsoft.com/office/powerpoint/2010/main" val="2589633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80EDD-6ACA-E65D-06AB-B0354C672E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235" y="1026621"/>
            <a:ext cx="14700738" cy="73295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term in Prolog is any structure: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Functions applied to arguments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+(3,4)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 err="1"/>
              <a:t>mother_of</a:t>
            </a:r>
            <a:r>
              <a:rPr lang="en-US" dirty="0"/>
              <a:t>(bob)</a:t>
            </a:r>
          </a:p>
          <a:p>
            <a:pPr marL="1727273" lvl="1">
              <a:buFont typeface="Arial" panose="020B0604020202020204" pitchFamily="34" charset="0"/>
              <a:buChar char="•"/>
            </a:pPr>
            <a:r>
              <a:rPr lang="en-US" dirty="0"/>
              <a:t>Predicates applied to arguments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&gt;(4,3)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parent(</a:t>
            </a:r>
            <a:r>
              <a:rPr lang="en-US" dirty="0" err="1"/>
              <a:t>bill,bob</a:t>
            </a:r>
            <a:r>
              <a:rPr lang="en-US" dirty="0"/>
              <a:t>)</a:t>
            </a:r>
          </a:p>
          <a:p>
            <a:pPr marL="1727273" lvl="1">
              <a:buFont typeface="Arial" panose="020B0604020202020204" pitchFamily="34" charset="0"/>
              <a:buChar char="•"/>
            </a:pPr>
            <a:r>
              <a:rPr lang="en-US" dirty="0"/>
              <a:t>Everything is a term, even something such as  a:-</a:t>
            </a:r>
            <a:r>
              <a:rPr lang="en-US" dirty="0" err="1"/>
              <a:t>b,c</a:t>
            </a:r>
            <a:endParaRPr lang="en-US" dirty="0"/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:-(a,','(</a:t>
            </a:r>
            <a:r>
              <a:rPr lang="en-US" dirty="0" err="1"/>
              <a:t>b,c</a:t>
            </a:r>
            <a:r>
              <a:rPr lang="en-US" dirty="0"/>
              <a:t>))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atom in Prolog is a function of no arguments, such as a, </a:t>
            </a:r>
            <a:r>
              <a:rPr lang="en-US" dirty="0" err="1"/>
              <a:t>todd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numbers in prolog are also functions of no arguments, such as 3, 66,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89074-89A0-E88B-E80D-5CF63AD0D52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BA306A-EC2F-811E-774E-87AC3EF63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082" y="204849"/>
            <a:ext cx="16058506" cy="13359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78158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kern="1200" baseline="0">
                <a:solidFill>
                  <a:srgbClr val="00673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Prolog terminology vs Predicate Calculus terminology</a:t>
            </a:r>
          </a:p>
        </p:txBody>
      </p:sp>
    </p:spTree>
    <p:extLst>
      <p:ext uri="{BB962C8B-B14F-4D97-AF65-F5344CB8AC3E}">
        <p14:creationId xmlns:p14="http://schemas.microsoft.com/office/powerpoint/2010/main" val="798614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77EA-30B9-2049-A9EC-8FC6771F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 Formulas (cont'd)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6A648FE-3827-7845-BF4E-3FE19E981106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2404534"/>
                <a:ext cx="14138152" cy="5130800"/>
              </a:xfrm>
            </p:spPr>
            <p:txBody>
              <a:bodyPr/>
              <a:lstStyle/>
              <a:p>
                <a:r>
                  <a:rPr lang="en-US" dirty="0"/>
                  <a:t>We can also use the logical connectives and other logical symbols in formulas</a:t>
                </a:r>
              </a:p>
              <a:p>
                <a:r>
                  <a:rPr lang="en-US" dirty="0"/>
                  <a:t>These are examples of statements which may be true or false:</a:t>
                </a:r>
              </a:p>
              <a:p>
                <a:r>
                  <a:rPr lang="en-US" dirty="0"/>
                  <a:t>Example1: For all x, there exists a y such that y is greater than 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Example2: It's </a:t>
                </a:r>
                <a:r>
                  <a:rPr lang="en-US" dirty="0">
                    <a:solidFill>
                      <a:srgbClr val="FF0000"/>
                    </a:solidFill>
                  </a:rPr>
                  <a:t>not the case that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there exists an x such that</a:t>
                </a:r>
                <a:r>
                  <a:rPr lang="en-US" dirty="0"/>
                  <a:t> </a:t>
                </a:r>
                <a:r>
                  <a:rPr lang="en-US" dirty="0" err="1">
                    <a:solidFill>
                      <a:srgbClr val="7030A0"/>
                    </a:solidFill>
                  </a:rPr>
                  <a:t>forall</a:t>
                </a:r>
                <a:r>
                  <a:rPr lang="en-US" dirty="0">
                    <a:solidFill>
                      <a:srgbClr val="7030A0"/>
                    </a:solidFill>
                  </a:rPr>
                  <a:t> y, y</a:t>
                </a:r>
                <a:r>
                  <a:rPr lang="en-US" dirty="0"/>
                  <a:t> is </a:t>
                </a:r>
                <a:r>
                  <a:rPr lang="en-US" dirty="0">
                    <a:solidFill>
                      <a:srgbClr val="43B02A"/>
                    </a:solidFill>
                  </a:rPr>
                  <a:t>greater than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x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&gt;(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6A648FE-3827-7845-BF4E-3FE19E9811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2404534"/>
                <a:ext cx="14138152" cy="5130800"/>
              </a:xfrm>
              <a:blipFill>
                <a:blip r:embed="rId2"/>
                <a:stretch>
                  <a:fillRect l="-1704" t="-2222" r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685D0-3638-0B4F-A35E-001EB00380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348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C428-EAE0-EB4B-AA56-CB68FE8E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Formulas (cont'd)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8065C1-FFF6-5D40-B77B-CC6018AD791C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79" y="1793394"/>
                <a:ext cx="11615780" cy="6214533"/>
              </a:xfrm>
            </p:spPr>
            <p:txBody>
              <a:bodyPr/>
              <a:lstStyle/>
              <a:p>
                <a:r>
                  <a:rPr lang="en-US" dirty="0"/>
                  <a:t>Let's look closer at the ordering of the quantifiers in statements like these. </a:t>
                </a:r>
              </a:p>
              <a:p>
                <a:r>
                  <a:rPr lang="en-US" dirty="0"/>
                  <a:t>True statement: It's not the case that there exists an x such that every y is greater than 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one below looks similar but says something completely different: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 (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False statement: it's not the case that </a:t>
                </a:r>
                <a:r>
                  <a:rPr lang="en-US" dirty="0" err="1"/>
                  <a:t>forall</a:t>
                </a:r>
                <a:r>
                  <a:rPr lang="en-US" dirty="0"/>
                  <a:t> x, there exists a y such that y is greater than 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8065C1-FFF6-5D40-B77B-CC6018AD7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79" y="1793394"/>
                <a:ext cx="11615780" cy="6214533"/>
              </a:xfrm>
              <a:blipFill>
                <a:blip r:embed="rId2"/>
                <a:stretch>
                  <a:fillRect l="-2074" t="-1837" r="-1092" b="-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78F37-DE7F-E947-A58A-5E246ADEE2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5EE99-DAE6-744E-937E-347851950DAB}"/>
              </a:ext>
            </a:extLst>
          </p:cNvPr>
          <p:cNvSpPr txBox="1"/>
          <p:nvPr/>
        </p:nvSpPr>
        <p:spPr>
          <a:xfrm>
            <a:off x="7675418" y="4121727"/>
            <a:ext cx="65" cy="4770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22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8276-D137-2E4B-AEAF-643D825F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reader friendly with infix notation of greater-than?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DBBE68-202B-0B49-94F3-177D5D0362CC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r>
                  <a:rPr lang="en-US" dirty="0"/>
                  <a:t>Often we find infix notation for &gt; is easier to read than prefix.</a:t>
                </a:r>
              </a:p>
              <a:p>
                <a:r>
                  <a:rPr lang="en-US" dirty="0"/>
                  <a:t>True statement: It's not the case that there exists an x such that every y is greater than 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looks similar but says something completely different: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 (∀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False statement: it's not the case that </a:t>
                </a:r>
                <a:r>
                  <a:rPr lang="en-US" dirty="0" err="1"/>
                  <a:t>forall</a:t>
                </a:r>
                <a:r>
                  <a:rPr lang="en-US" dirty="0"/>
                  <a:t> x, there exists a y such that y is greater than 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DBBE68-202B-0B49-94F3-177D5D0362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2074" t="-2222" r="-1092" b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90C00-B6FC-5D46-97D7-26789040DA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00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8276-D137-2E4B-AEAF-643D825F2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239939" cy="1614617"/>
          </a:xfrm>
        </p:spPr>
        <p:txBody>
          <a:bodyPr/>
          <a:lstStyle/>
          <a:p>
            <a:r>
              <a:rPr lang="en-US" dirty="0"/>
              <a:t>Now, without the negation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DBBE68-202B-0B49-94F3-177D5D0362CC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204768" y="1715764"/>
                <a:ext cx="11615780" cy="5979445"/>
              </a:xfrm>
            </p:spPr>
            <p:txBody>
              <a:bodyPr/>
              <a:lstStyle/>
              <a:p>
                <a:r>
                  <a:rPr lang="en-US" dirty="0"/>
                  <a:t>Let's look at the two statements on the previous slide, but change them by removing the negation symbol:</a:t>
                </a:r>
              </a:p>
              <a:p>
                <a:r>
                  <a:rPr lang="en-US" dirty="0"/>
                  <a:t>Example1: False statement: there exists an x such that every y is greater than 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Example2: This looks similar but says something completely different: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True statement: </a:t>
                </a:r>
                <a:r>
                  <a:rPr lang="en-US" dirty="0" err="1"/>
                  <a:t>forall</a:t>
                </a:r>
                <a:r>
                  <a:rPr lang="en-US" dirty="0"/>
                  <a:t> x, there exists a y such that y is greater than x (think of y = x + 1 where no matter what x is, y is greater)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DBBE68-202B-0B49-94F3-177D5D0362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204768" y="1715764"/>
                <a:ext cx="11615780" cy="5979445"/>
              </a:xfrm>
              <a:blipFill>
                <a:blip r:embed="rId2"/>
                <a:stretch>
                  <a:fillRect l="-2186" t="-1695" r="-546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90C00-B6FC-5D46-97D7-26789040DA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717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04E7-8B58-C940-AA20-9DC3911A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1988719" cy="840301"/>
          </a:xfrm>
        </p:spPr>
        <p:txBody>
          <a:bodyPr/>
          <a:lstStyle/>
          <a:p>
            <a:r>
              <a:rPr lang="en-US" dirty="0"/>
              <a:t>More intuitive example?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95BA0DF-E976-5F49-9887-F953760C81C2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755648"/>
                <a:ext cx="11615780" cy="5779686"/>
              </a:xfrm>
            </p:spPr>
            <p:txBody>
              <a:bodyPr/>
              <a:lstStyle/>
              <a:p>
                <a:r>
                  <a:rPr lang="en-US" dirty="0"/>
                  <a:t>Ordering of the quantifiers is important.</a:t>
                </a:r>
              </a:p>
              <a:p>
                <a:r>
                  <a:rPr lang="en-US" dirty="0"/>
                  <a:t>Consider </a:t>
                </a:r>
                <a:r>
                  <a:rPr lang="en-US" dirty="0" err="1"/>
                  <a:t>mother_of</a:t>
                </a:r>
                <a:r>
                  <a:rPr lang="en-US" dirty="0"/>
                  <a:t>(</a:t>
                </a:r>
                <a:r>
                  <a:rPr lang="en-US" dirty="0" err="1"/>
                  <a:t>x,y</a:t>
                </a:r>
                <a:r>
                  <a:rPr lang="en-US" dirty="0"/>
                  <a:t>) to mean "x is the mother of y"</a:t>
                </a:r>
              </a:p>
              <a:p>
                <a:r>
                  <a:rPr lang="en-US" dirty="0"/>
                  <a:t>In infix notation: x </a:t>
                </a:r>
                <a:r>
                  <a:rPr lang="en-US" dirty="0" err="1"/>
                  <a:t>mother_of</a:t>
                </a:r>
                <a:r>
                  <a:rPr lang="en-US" dirty="0"/>
                  <a:t> y </a:t>
                </a:r>
              </a:p>
              <a:p>
                <a:r>
                  <a:rPr lang="en-US" dirty="0"/>
                  <a:t>Everyone has a mother, and it's the </a:t>
                </a:r>
                <a:r>
                  <a:rPr lang="en-US" b="1" dirty="0"/>
                  <a:t>same</a:t>
                </a:r>
                <a:r>
                  <a:rPr lang="en-US" dirty="0"/>
                  <a:t> mother: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𝑚𝑜𝑡h𝑒𝑟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Now, same variables, different order of quantifiers:</a:t>
                </a:r>
              </a:p>
              <a:p>
                <a:r>
                  <a:rPr lang="en-US" dirty="0"/>
                  <a:t> Everyone has a possibly different mother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𝑚𝑜𝑡h𝑒𝑟</m:t>
                      </m:r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95BA0DF-E976-5F49-9887-F953760C8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755648"/>
                <a:ext cx="11615780" cy="5779686"/>
              </a:xfrm>
              <a:blipFill>
                <a:blip r:embed="rId2"/>
                <a:stretch>
                  <a:fillRect l="-2074" t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F24F5-8FCF-8F46-959B-B64724F7C9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390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532C-BFBD-7646-90CF-451BBCEE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universal quantifiers?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76C4EEF-E437-6243-9A42-FC061EB02D0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883664"/>
                <a:ext cx="11615780" cy="5651670"/>
              </a:xfrm>
            </p:spPr>
            <p:txBody>
              <a:bodyPr/>
              <a:lstStyle/>
              <a:p>
                <a:r>
                  <a:rPr lang="en-US" dirty="0"/>
                  <a:t>In the previous slides, the ordering of exists and </a:t>
                </a:r>
                <a:r>
                  <a:rPr lang="en-US" dirty="0" err="1"/>
                  <a:t>forall</a:t>
                </a:r>
                <a:r>
                  <a:rPr lang="en-US" dirty="0"/>
                  <a:t> does affect meaning.</a:t>
                </a:r>
              </a:p>
              <a:p>
                <a:r>
                  <a:rPr lang="en-US" dirty="0"/>
                  <a:t>The ordering of universal quantifiers (</a:t>
                </a:r>
                <a:r>
                  <a:rPr lang="en-US" dirty="0" err="1"/>
                  <a:t>forall</a:t>
                </a:r>
                <a:r>
                  <a:rPr lang="en-US" dirty="0"/>
                  <a:t>) does not matter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𝑓𝑒𝑙𝑙𝑜𝑤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h𝑢𝑚𝑎𝑛</m:t>
                      </m:r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Everybody is </a:t>
                </a:r>
                <a:r>
                  <a:rPr lang="en-US" dirty="0" err="1"/>
                  <a:t>fellow_human_of</a:t>
                </a:r>
                <a:r>
                  <a:rPr lang="en-US" dirty="0"/>
                  <a:t> everybody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𝑓𝑒𝑙𝑙𝑜𝑤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h𝑢𝑚𝑎𝑛</m:t>
                      </m:r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two statements mean the same thing (logically equivalent)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76C4EEF-E437-6243-9A42-FC061EB02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883664"/>
                <a:ext cx="11615780" cy="5651670"/>
              </a:xfrm>
              <a:blipFill>
                <a:blip r:embed="rId2"/>
                <a:stretch>
                  <a:fillRect l="-2074" t="-2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F8AB3-BE39-FC47-B407-FFD31A935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15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3C71-7AA5-D144-A182-BC60E7D3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CEC48-E411-534B-ABF6-4CD1BC3D6C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517904"/>
            <a:ext cx="11615780" cy="6017430"/>
          </a:xfrm>
        </p:spPr>
        <p:txBody>
          <a:bodyPr/>
          <a:lstStyle/>
          <a:p>
            <a:r>
              <a:rPr lang="en-US" dirty="0"/>
              <a:t>A variable that is not bound to any quantifier in a formula is called a </a:t>
            </a:r>
            <a:r>
              <a:rPr lang="en-US" b="1" i="1" dirty="0"/>
              <a:t>free</a:t>
            </a:r>
            <a:r>
              <a:rPr lang="en-US" dirty="0"/>
              <a:t> variable</a:t>
            </a:r>
          </a:p>
          <a:p>
            <a:r>
              <a:rPr lang="en-US" dirty="0"/>
              <a:t>We don't want to write logical sentences with free variables because those variable values depend on the interpretation</a:t>
            </a:r>
          </a:p>
          <a:p>
            <a:r>
              <a:rPr lang="en-US" dirty="0"/>
              <a:t>We are trying to say things that are true </a:t>
            </a:r>
            <a:r>
              <a:rPr lang="en-US" b="1" dirty="0"/>
              <a:t>regardless</a:t>
            </a:r>
            <a:r>
              <a:rPr lang="en-US" dirty="0"/>
              <a:t> of interpretation, and free variables prevent that</a:t>
            </a:r>
          </a:p>
          <a:p>
            <a:r>
              <a:rPr lang="en-US" dirty="0"/>
              <a:t>So, when we see free variables in </a:t>
            </a:r>
            <a:r>
              <a:rPr lang="en-US" dirty="0" err="1"/>
              <a:t>Sitcalc</a:t>
            </a:r>
            <a:r>
              <a:rPr lang="en-US" dirty="0"/>
              <a:t> or Prolog, they aren't actually free, they are implicitly </a:t>
            </a:r>
            <a:r>
              <a:rPr lang="en-US" b="1" dirty="0" err="1"/>
              <a:t>prenex</a:t>
            </a:r>
            <a:r>
              <a:rPr lang="en-US" b="1" dirty="0"/>
              <a:t> universally quantified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79C0D-78ED-DA43-A860-59D83C3E532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72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83FF7-E460-A94F-8A4A-D1E3EC06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Prenex</a:t>
            </a:r>
            <a:r>
              <a:rPr lang="en-US" dirty="0"/>
              <a:t> universal quantification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33923-D11B-CA44-B82C-D326FFDEF8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73936"/>
            <a:ext cx="11615780" cy="6053328"/>
          </a:xfrm>
        </p:spPr>
        <p:txBody>
          <a:bodyPr/>
          <a:lstStyle/>
          <a:p>
            <a:r>
              <a:rPr lang="en-US" dirty="0"/>
              <a:t>A formula is in </a:t>
            </a:r>
            <a:r>
              <a:rPr lang="en-US" b="1" i="1" dirty="0" err="1"/>
              <a:t>prenex</a:t>
            </a:r>
            <a:r>
              <a:rPr lang="en-US" b="1" i="1" dirty="0"/>
              <a:t> normal form </a:t>
            </a:r>
            <a:r>
              <a:rPr lang="en-US" dirty="0"/>
              <a:t>when all the quantifiers are together on the left side of the formula, in what's called the </a:t>
            </a:r>
            <a:r>
              <a:rPr lang="en-US" b="1" i="1" dirty="0"/>
              <a:t>prefix</a:t>
            </a:r>
            <a:r>
              <a:rPr lang="en-US" dirty="0"/>
              <a:t>.</a:t>
            </a:r>
          </a:p>
          <a:p>
            <a:r>
              <a:rPr lang="en-US" dirty="0"/>
              <a:t>A related idea is </a:t>
            </a:r>
            <a:r>
              <a:rPr lang="en-US" b="1" i="1" dirty="0" err="1"/>
              <a:t>prenex</a:t>
            </a:r>
            <a:r>
              <a:rPr lang="en-US" b="1" i="1" dirty="0"/>
              <a:t> universal quantification</a:t>
            </a:r>
            <a:r>
              <a:rPr lang="en-US" dirty="0"/>
              <a:t>, which is when a variable is universally quantified and the quantifier is in the prefix.</a:t>
            </a:r>
          </a:p>
          <a:p>
            <a:r>
              <a:rPr lang="en-US" dirty="0"/>
              <a:t>If there are no free variables in a formula, and all quantifiers in the prefix are universal, then we can drop the prefix if we assume all resulting free variables are </a:t>
            </a:r>
            <a:r>
              <a:rPr lang="en-US" dirty="0" err="1"/>
              <a:t>prenex</a:t>
            </a:r>
            <a:r>
              <a:rPr lang="en-US" dirty="0"/>
              <a:t> universally quantified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B89B9-EC0E-3B42-8E89-E6F54D6F45E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205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70EB-5380-FFC3-7883-DA8518A3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4225482" cy="1335973"/>
          </a:xfrm>
        </p:spPr>
        <p:txBody>
          <a:bodyPr/>
          <a:lstStyle/>
          <a:p>
            <a:r>
              <a:rPr lang="en-US"/>
              <a:t>FOL Axioms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3AA85-5F0B-2F98-442A-9F73E35F16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31851"/>
            <a:ext cx="15182084" cy="674378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can “create” a new world by making statements that are true in that world, very much like an author writing a novel makes statements about what is true in that novel world.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Unlike a novelist, we make our statements using first-order logic sentences instead of (for example) English sentences.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statements we make in first-order logic, to specify a world, are called axioms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Axioms are taken to be true without proof </a:t>
            </a:r>
            <a:r>
              <a:rPr lang="en-US" b="1" dirty="0"/>
              <a:t>because</a:t>
            </a:r>
            <a:r>
              <a:rPr lang="en-US" dirty="0"/>
              <a:t> they are stated, similarly to how a novelist makes statements about the characters of a novel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Axioms must be consistent, because a contradiction can be used to prove anything by contradiction (inconsistent axioms are useless to us).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1058D-4BAE-2A94-3BDC-D3C110598B7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200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7"/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1" y="1346887"/>
                <a:ext cx="14904913" cy="6759146"/>
              </a:xfrm>
            </p:spPr>
            <p:txBody>
              <a:bodyPr/>
              <a:lstStyle/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Let’s see how many key concepts from first-order predicate calculus you recall by answering the following questions!</a:t>
                </a:r>
              </a:p>
              <a:p>
                <a:r>
                  <a:rPr lang="en-US" dirty="0"/>
                  <a:t>Which of the following are FOL terms or not FOL terms: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 err="1"/>
                  <a:t>t</a:t>
                </a:r>
                <a:r>
                  <a:rPr lang="en-US" b="0" dirty="0" err="1"/>
                  <a:t>odd</a:t>
                </a:r>
                <a:endParaRPr lang="en-US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 err="1"/>
                  <a:t>t</a:t>
                </a:r>
                <a:r>
                  <a:rPr lang="en-US" b="0" dirty="0" err="1"/>
                  <a:t>emperature_of</a:t>
                </a:r>
                <a:r>
                  <a:rPr lang="en-US" b="0" dirty="0"/>
                  <a:t>(</a:t>
                </a:r>
                <a:r>
                  <a:rPr lang="en-US" b="0" dirty="0" err="1"/>
                  <a:t>todd</a:t>
                </a:r>
                <a:r>
                  <a:rPr lang="en-US" b="0" dirty="0"/>
                  <a:t>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loves(</a:t>
                </a:r>
                <a:r>
                  <a:rPr lang="en-US" dirty="0" err="1"/>
                  <a:t>cathy,joseph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1" y="1346887"/>
                <a:ext cx="14904913" cy="6759146"/>
              </a:xfrm>
              <a:blipFill>
                <a:blip r:embed="rId2"/>
                <a:stretch>
                  <a:fillRect l="-1617" t="-1501" r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627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</a:rPr>
              <a:t>Higher-order logic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/>
              <a:t>Second-order (and higher-order) logic involves quantifying over not just variables (terms), but also predicates</a:t>
            </a:r>
          </a:p>
          <a:p>
            <a:r>
              <a:rPr lang="en-US" dirty="0"/>
              <a:t>These systems are more expressive, but things get complicated</a:t>
            </a:r>
          </a:p>
          <a:p>
            <a:r>
              <a:rPr lang="en-CA" dirty="0"/>
              <a:t>Their model-theoretic properties are less well-behaved than those of first-order logic</a:t>
            </a:r>
          </a:p>
          <a:p>
            <a:r>
              <a:rPr lang="en-CA" dirty="0"/>
              <a:t>In this course, we will limit our scope to First Order Logic (FOL) in order to benefit from the nice model-theoretic properties of FOL</a:t>
            </a:r>
          </a:p>
          <a:p>
            <a:r>
              <a:rPr lang="en-CA" dirty="0"/>
              <a:t>First Order Logic can be converted to clausal form</a:t>
            </a:r>
          </a:p>
          <a:p>
            <a:r>
              <a:rPr lang="en-CA" dirty="0"/>
              <a:t>All </a:t>
            </a:r>
            <a:r>
              <a:rPr lang="en-CA" dirty="0" err="1"/>
              <a:t>Prolog</a:t>
            </a:r>
            <a:r>
              <a:rPr lang="en-CA" dirty="0"/>
              <a:t> programs are sets of Horn clauses, a specific clausal 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95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Higher Order Logic you recall by answering the following questions!</a:t>
            </a:r>
          </a:p>
          <a:p>
            <a:endParaRPr lang="en-US" dirty="0"/>
          </a:p>
          <a:p>
            <a:r>
              <a:rPr lang="en-US" dirty="0"/>
              <a:t>If Higher-Order logics are more expressive, why do we limit ourselves to First-Order logic in this course?</a:t>
            </a:r>
          </a:p>
        </p:txBody>
      </p:sp>
    </p:spTree>
    <p:extLst>
      <p:ext uri="{BB962C8B-B14F-4D97-AF65-F5344CB8AC3E}">
        <p14:creationId xmlns:p14="http://schemas.microsoft.com/office/powerpoint/2010/main" val="210160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68314</TotalTime>
  <Words>2407</Words>
  <Application>Microsoft Macintosh PowerPoint</Application>
  <PresentationFormat>Custom</PresentationFormat>
  <Paragraphs>299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 Math</vt:lpstr>
      <vt:lpstr>Helvetica</vt:lpstr>
      <vt:lpstr>Wingdings</vt:lpstr>
      <vt:lpstr>Office Theme</vt:lpstr>
      <vt:lpstr>Knowledge Representation: Logic</vt:lpstr>
      <vt:lpstr>Knowledge Representation Languages</vt:lpstr>
      <vt:lpstr>Propositional Calculus</vt:lpstr>
      <vt:lpstr>Propositional Calculus (cont'd)</vt:lpstr>
      <vt:lpstr>Truth tables</vt:lpstr>
      <vt:lpstr>Logical Equivalence</vt:lpstr>
      <vt:lpstr>When P is false</vt:lpstr>
      <vt:lpstr>When P is false (cont'd)</vt:lpstr>
      <vt:lpstr>Why do we care about logic?</vt:lpstr>
      <vt:lpstr>Time to check your learning!</vt:lpstr>
      <vt:lpstr>Predicate Calculus</vt:lpstr>
      <vt:lpstr>First Order Logic equivalents to Prolog statements</vt:lpstr>
      <vt:lpstr>Predicate Calculus (cont'd)</vt:lpstr>
      <vt:lpstr>First-order terms represent things</vt:lpstr>
      <vt:lpstr>Term examples</vt:lpstr>
      <vt:lpstr>FOL Formulas represent statements about things</vt:lpstr>
      <vt:lpstr>Prolog terminology vs Predicate Calculus terminology</vt:lpstr>
      <vt:lpstr>PowerPoint Presentation</vt:lpstr>
      <vt:lpstr>Prolog terminology vs Predicate Calculus terminology</vt:lpstr>
      <vt:lpstr>FOL Formulas (cont'd)</vt:lpstr>
      <vt:lpstr>Formulas (cont'd)</vt:lpstr>
      <vt:lpstr>More reader friendly with infix notation of greater-than?</vt:lpstr>
      <vt:lpstr>Now, without the negation</vt:lpstr>
      <vt:lpstr>More intuitive example?</vt:lpstr>
      <vt:lpstr>Order of universal quantifiers?</vt:lpstr>
      <vt:lpstr>Free variables</vt:lpstr>
      <vt:lpstr>Prenex universal quantification</vt:lpstr>
      <vt:lpstr>FOL Axioms</vt:lpstr>
      <vt:lpstr>Time to check your learning!</vt:lpstr>
      <vt:lpstr>Higher-order logic</vt:lpstr>
      <vt:lpstr>Time to check your learning!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236</cp:revision>
  <dcterms:created xsi:type="dcterms:W3CDTF">2016-12-21T16:02:28Z</dcterms:created>
  <dcterms:modified xsi:type="dcterms:W3CDTF">2025-10-30T14:37:48Z</dcterms:modified>
</cp:coreProperties>
</file>