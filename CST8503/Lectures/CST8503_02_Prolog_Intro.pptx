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335" r:id="rId3"/>
    <p:sldId id="346" r:id="rId4"/>
    <p:sldId id="365" r:id="rId5"/>
    <p:sldId id="361" r:id="rId6"/>
    <p:sldId id="362" r:id="rId7"/>
    <p:sldId id="363" r:id="rId8"/>
    <p:sldId id="364" r:id="rId9"/>
    <p:sldId id="347" r:id="rId10"/>
    <p:sldId id="348" r:id="rId11"/>
    <p:sldId id="349" r:id="rId12"/>
    <p:sldId id="350" r:id="rId13"/>
    <p:sldId id="351" r:id="rId14"/>
    <p:sldId id="352" r:id="rId15"/>
    <p:sldId id="339" r:id="rId16"/>
    <p:sldId id="340" r:id="rId17"/>
    <p:sldId id="353" r:id="rId18"/>
    <p:sldId id="366" r:id="rId19"/>
    <p:sldId id="367" r:id="rId20"/>
    <p:sldId id="354" r:id="rId21"/>
    <p:sldId id="355" r:id="rId22"/>
    <p:sldId id="356" r:id="rId23"/>
    <p:sldId id="357" r:id="rId24"/>
    <p:sldId id="368" r:id="rId25"/>
    <p:sldId id="341" r:id="rId26"/>
    <p:sldId id="342" r:id="rId27"/>
    <p:sldId id="358" r:id="rId28"/>
    <p:sldId id="359" r:id="rId29"/>
    <p:sldId id="360" r:id="rId30"/>
    <p:sldId id="343" r:id="rId31"/>
    <p:sldId id="344" r:id="rId32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2" autoAdjust="0"/>
    <p:restoredTop sz="94607" autoAdjust="0"/>
  </p:normalViewPr>
  <p:slideViewPr>
    <p:cSldViewPr snapToGrid="0" snapToObjects="1">
      <p:cViewPr varScale="1">
        <p:scale>
          <a:sx n="79" d="100"/>
          <a:sy n="79" d="100"/>
        </p:scale>
        <p:origin x="224" y="60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79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2658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631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Programs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started using Prolog facts, rules, </a:t>
            </a:r>
            <a:r>
              <a:rPr lang="en-US"/>
              <a:t>and variables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Lesson Overview (Agenda)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the following lesson, we will explore: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Basics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Example: reasoning about family relationships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B8C9-AA0E-8845-8A0E-171609E4A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346365"/>
            <a:ext cx="9475914" cy="1757974"/>
          </a:xfrm>
        </p:spPr>
        <p:txBody>
          <a:bodyPr/>
          <a:lstStyle/>
          <a:p>
            <a:r>
              <a:rPr lang="en-US" dirty="0"/>
              <a:t>Prolog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6A734-0227-EF48-BB5D-A7D1284B7B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052945"/>
            <a:ext cx="14856613" cy="716279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Prolog name comes from </a:t>
            </a:r>
            <a:r>
              <a:rPr lang="en-US" dirty="0" err="1"/>
              <a:t>PROgramming</a:t>
            </a:r>
            <a:r>
              <a:rPr lang="en-US" dirty="0"/>
              <a:t> in </a:t>
            </a:r>
            <a:r>
              <a:rPr lang="en-US" dirty="0" err="1"/>
              <a:t>LOGic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 NOT try to compare Prolog programming to the programming you know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There are no loops, no if-statements, and no variables of the kind you're used to)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 NOT try to translate from Python to Prolog or vice versa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Prolog = Declarative Programming: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Declare facts and rules (prolog program)  </a:t>
            </a:r>
            <a:r>
              <a:rPr lang="en-US" b="1" dirty="0"/>
              <a:t>|:</a:t>
            </a:r>
            <a:r>
              <a:rPr lang="en-US" dirty="0"/>
              <a:t> prompt, or enter in file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Run prolog interpreter and load program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Issue query (run the program)   </a:t>
            </a:r>
            <a:r>
              <a:rPr lang="en-US" b="1" dirty="0"/>
              <a:t>?-</a:t>
            </a:r>
            <a:r>
              <a:rPr lang="en-US" dirty="0"/>
              <a:t> prompt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Prolog will find a set of variable bindings such that the query is true, or state "no" if it isn't true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FFFF0-93A3-884E-821A-561FB85AC30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7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9542-EB94-58DE-5D2A-2858ED74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179615"/>
            <a:ext cx="12282633" cy="1924724"/>
          </a:xfrm>
        </p:spPr>
        <p:txBody>
          <a:bodyPr/>
          <a:lstStyle/>
          <a:p>
            <a:r>
              <a:rPr lang="en-US" dirty="0"/>
              <a:t>TWO contexts, </a:t>
            </a:r>
            <a:br>
              <a:rPr lang="en-US" dirty="0"/>
            </a:br>
            <a:r>
              <a:rPr lang="en-US" dirty="0"/>
              <a:t>code looks same,</a:t>
            </a:r>
            <a:br>
              <a:rPr lang="en-US" dirty="0"/>
            </a:br>
            <a:r>
              <a:rPr lang="en-US" dirty="0"/>
              <a:t>but different meaning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C277-211E-DA5C-6B3D-BF9F837A53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6126761" cy="5130800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/>
              <a:t>1. Writing a Prolog program</a:t>
            </a:r>
          </a:p>
          <a:p>
            <a:r>
              <a:rPr lang="en-US" dirty="0"/>
              <a:t>Typing Prolog code </a:t>
            </a:r>
            <a:r>
              <a:rPr lang="en-US" b="1" dirty="0"/>
              <a:t>into a file</a:t>
            </a:r>
          </a:p>
          <a:p>
            <a:r>
              <a:rPr lang="en-US" dirty="0"/>
              <a:t>or Prompt is </a:t>
            </a:r>
            <a:r>
              <a:rPr lang="en-US" b="1" dirty="0"/>
              <a:t>|:</a:t>
            </a:r>
          </a:p>
          <a:p>
            <a:r>
              <a:rPr lang="en-US" dirty="0"/>
              <a:t>You are making </a:t>
            </a:r>
            <a:r>
              <a:rPr lang="en-US" b="1" dirty="0"/>
              <a:t>true statements</a:t>
            </a:r>
          </a:p>
          <a:p>
            <a:r>
              <a:rPr lang="en-US" dirty="0"/>
              <a:t>parent(</a:t>
            </a:r>
            <a:r>
              <a:rPr lang="en-US" dirty="0" err="1"/>
              <a:t>jim,todd</a:t>
            </a:r>
            <a:r>
              <a:rPr lang="en-US" dirty="0"/>
              <a:t>).</a:t>
            </a:r>
          </a:p>
          <a:p>
            <a:r>
              <a:rPr lang="en-US" dirty="0"/>
              <a:t>parent(</a:t>
            </a:r>
            <a:r>
              <a:rPr lang="en-US" dirty="0" err="1"/>
              <a:t>jim,X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0F272-19D4-275D-E669-1A50337C4B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33161" y="2404534"/>
            <a:ext cx="6411545" cy="5629123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Running a Prolog program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Typ</a:t>
            </a:r>
            <a:r>
              <a:rPr lang="en-US" sz="3200" dirty="0" err="1">
                <a:solidFill>
                  <a:srgbClr val="423F3F"/>
                </a:solidFill>
                <a:latin typeface="Arial"/>
              </a:rPr>
              <a:t>ing</a:t>
            </a:r>
            <a:r>
              <a:rPr lang="en-US" sz="3200" dirty="0">
                <a:solidFill>
                  <a:srgbClr val="423F3F"/>
                </a:solidFill>
                <a:latin typeface="Arial"/>
              </a:rPr>
              <a:t> Prolog queries into </a:t>
            </a:r>
            <a:r>
              <a:rPr lang="en-US" sz="3200" b="1" dirty="0">
                <a:solidFill>
                  <a:srgbClr val="423F3F"/>
                </a:solidFill>
                <a:latin typeface="Arial"/>
              </a:rPr>
              <a:t>a Prolog interpreter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423F3F"/>
                </a:solidFill>
                <a:latin typeface="Arial"/>
              </a:rPr>
              <a:t>Prompt is </a:t>
            </a:r>
            <a:r>
              <a:rPr lang="en-US" sz="3200" b="1" dirty="0">
                <a:solidFill>
                  <a:srgbClr val="423F3F"/>
                </a:solidFill>
                <a:latin typeface="Arial"/>
              </a:rPr>
              <a:t>?-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</a:t>
            </a:r>
            <a:r>
              <a:rPr lang="en-US" sz="3200" dirty="0">
                <a:solidFill>
                  <a:srgbClr val="423F3F"/>
                </a:solidFill>
                <a:latin typeface="Arial"/>
              </a:rPr>
              <a:t> are asking </a:t>
            </a:r>
            <a:r>
              <a:rPr lang="en-US" sz="3200" b="1" dirty="0">
                <a:solidFill>
                  <a:srgbClr val="423F3F"/>
                </a:solidFill>
                <a:latin typeface="Arial"/>
              </a:rPr>
              <a:t>questions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?- parent(</a:t>
            </a: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jim,todd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423F3F"/>
                </a:solidFill>
                <a:latin typeface="Arial"/>
              </a:rPr>
              <a:t>?- parent(</a:t>
            </a:r>
            <a:r>
              <a:rPr lang="en-US" sz="3200" dirty="0" err="1">
                <a:solidFill>
                  <a:srgbClr val="423F3F"/>
                </a:solidFill>
                <a:latin typeface="Arial"/>
              </a:rPr>
              <a:t>jim,X</a:t>
            </a:r>
            <a:r>
              <a:rPr lang="en-US" sz="3200" dirty="0">
                <a:solidFill>
                  <a:srgbClr val="423F3F"/>
                </a:solidFill>
                <a:latin typeface="Arial"/>
              </a:rPr>
              <a:t>).</a:t>
            </a:r>
          </a:p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599A83"/>
              </a:buClr>
              <a:buSzTx/>
              <a:buFontTx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Meaning is different from context 1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E1C57-7237-FCA9-27EC-3AF7DADC58D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821AF-7004-455C-9773-EFDAA822F43C}"/>
              </a:ext>
            </a:extLst>
          </p:cNvPr>
          <p:cNvSpPr txBox="1"/>
          <p:nvPr/>
        </p:nvSpPr>
        <p:spPr>
          <a:xfrm>
            <a:off x="7641771" y="4702630"/>
            <a:ext cx="63681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90399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ECB9-7E9B-B7D8-6B9F-F03048A4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188747"/>
            <a:ext cx="9475914" cy="1335973"/>
          </a:xfrm>
        </p:spPr>
        <p:txBody>
          <a:bodyPr/>
          <a:lstStyle/>
          <a:p>
            <a:r>
              <a:rPr lang="en-US" dirty="0"/>
              <a:t>Prolog programs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1743F-18B7-4E27-9E41-865F150260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3" y="856732"/>
            <a:ext cx="12376627" cy="741443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prolog program is a set of statements which are facts and rules, called clauses.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writing a prolog program, the programmer has a "world" in mind, and the programmer thinks of and writes down all of the true statements about that world, in prolog syntax.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Usually we put the set of clauses into a text file with a name that ends with the .pl extension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Beware the Perl programming language also uses the .pl extension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Beware that Windows File Explorer (by default) doesn't show the extension of a filename, when you see </a:t>
            </a:r>
            <a:r>
              <a:rPr lang="en-US" dirty="0" err="1"/>
              <a:t>myfile.pl</a:t>
            </a:r>
            <a:r>
              <a:rPr lang="en-US" dirty="0"/>
              <a:t> it might actually have the name </a:t>
            </a:r>
            <a:r>
              <a:rPr lang="en-US" dirty="0" err="1"/>
              <a:t>myfile.pl.txt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4C1F8-0CEF-1F89-C5D5-F1980CC36D0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DAD5-0EE0-F806-4F81-4FAB2489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Interpreter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35278-3A99-5E6F-2874-F1A646AFC8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3"/>
            <a:ext cx="11615780" cy="57003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prolog interpreter is necessary to run a prolog program.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user runs the prolog interpreter and </a:t>
            </a:r>
            <a:r>
              <a:rPr lang="en-US" b="1" dirty="0"/>
              <a:t>consult</a:t>
            </a:r>
            <a:r>
              <a:rPr lang="en-US" dirty="0"/>
              <a:t>s the program file, causing the prolog interpreter to read the prolog program from the file and store the clauses in its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pseudo-file called </a:t>
            </a:r>
            <a:r>
              <a:rPr lang="en-US" b="1" dirty="0"/>
              <a:t>user</a:t>
            </a:r>
            <a:r>
              <a:rPr lang="en-US" dirty="0"/>
              <a:t> corresponds to the programmer typing directly into the interpreter, and those clauses disappear when the interpreter shuts down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After the program has been consulted into the interpreter, it is ready to run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D6AD7-6906-CCF7-65CC-F65BE771CC5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22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D44A-C1A9-41F0-030A-9CB9CF1F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426111"/>
            <a:ext cx="9475914" cy="1335973"/>
          </a:xfrm>
        </p:spPr>
        <p:txBody>
          <a:bodyPr/>
          <a:lstStyle/>
          <a:p>
            <a:r>
              <a:rPr lang="en-US" dirty="0"/>
              <a:t>Running a Prolog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C29BE-F7EE-F9D8-93EE-C03975A421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209553"/>
            <a:ext cx="13348004" cy="680032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order to run a Prolog program, after the clauses have been loaded into the interpreter from a file, the user asks questions and receives answers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questions are issued in Prolog syntax, and they might involve variables.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output of a Prolog program is the answer to the question, which might be false or true.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the answer is true, the output also includes the </a:t>
            </a:r>
            <a:r>
              <a:rPr lang="en-US" b="1" dirty="0"/>
              <a:t>variable bindings</a:t>
            </a:r>
            <a:r>
              <a:rPr lang="en-US" dirty="0"/>
              <a:t> that make the question true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true answer can be thought of as "true if the variables have these values"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14D9F-64D9-5E22-441F-4E72385C35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9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AC81-507A-1BE4-C012-5395A7C0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Prolog: what are the stages?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CEA6-2812-CFB5-71DB-729E44BA7B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104337"/>
            <a:ext cx="13332609" cy="627129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Modeling: imagine the world you are representing, and what is true about that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Programming</a:t>
            </a:r>
            <a:r>
              <a:rPr lang="en-US" dirty="0"/>
              <a:t>: Write down all the relevant true facts and rules about that world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Launch the prolog interpreter and consult the program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Running the Program</a:t>
            </a:r>
            <a:r>
              <a:rPr lang="en-US" dirty="0"/>
              <a:t>: issue queries (questions) to the Prolog interpreter and receive the answers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distribute your prolog program to your friends, family and other users, you distribute a binary of the interpreter with your program pre-consulted, set up to automatically issue </a:t>
            </a:r>
            <a:r>
              <a:rPr lang="en-US"/>
              <a:t>a kickoff query </a:t>
            </a:r>
            <a:r>
              <a:rPr lang="en-US" dirty="0"/>
              <a:t>when it runs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E6B7C-2E60-CD23-D9DD-14209B5E21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2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BC06-F59E-AE4C-A477-9C290B41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Basics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1C996-BC92-A741-B8B0-8D6B450B1C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2006600"/>
            <a:ext cx="11615780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Usually we put facts and rules in a file (or several files), using a ".pl" extension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load our program, we run the prolog interpreter (</a:t>
            </a:r>
            <a:r>
              <a:rPr lang="en-US" dirty="0" err="1"/>
              <a:t>swipl</a:t>
            </a:r>
            <a:r>
              <a:rPr lang="en-US" dirty="0"/>
              <a:t>):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Supply our files as arguments on command line</a:t>
            </a:r>
          </a:p>
          <a:p>
            <a:pPr lvl="2" indent="0">
              <a:buNone/>
            </a:pPr>
            <a:r>
              <a:rPr lang="en-US" dirty="0"/>
              <a:t>Or</a:t>
            </a:r>
          </a:p>
          <a:p>
            <a:pPr marL="1727273" lvl="1"/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consult</a:t>
            </a:r>
            <a:r>
              <a:rPr lang="en-US" dirty="0"/>
              <a:t> </a:t>
            </a:r>
            <a:r>
              <a:rPr lang="en-US" dirty="0" err="1"/>
              <a:t>builtin</a:t>
            </a:r>
            <a:r>
              <a:rPr lang="en-US" dirty="0"/>
              <a:t> predicate</a:t>
            </a:r>
          </a:p>
          <a:p>
            <a:pPr marL="2477567"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consult </a:t>
            </a:r>
            <a:r>
              <a:rPr lang="en-US" dirty="0">
                <a:cs typeface="Courier New" panose="02070309020205020404" pitchFamily="49" charset="0"/>
              </a:rPr>
              <a:t>adds the contents of the file to current prolog interpreter state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1EFCF-5130-E046-ABBD-5887CA5660C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31D9-9EAD-F74C-A8F8-DE728877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programs: consult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0C7FE-8EEC-B64C-AF56-82AA6E8363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79" y="1436351"/>
            <a:ext cx="11615780" cy="6419176"/>
          </a:xfrm>
        </p:spPr>
        <p:txBody>
          <a:bodyPr/>
          <a:lstStyle/>
          <a:p>
            <a:r>
              <a:rPr lang="en-US" dirty="0"/>
              <a:t>Examples of loading facts and rules from a file: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consult(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consult('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myfile.pl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consult('/path/to/the/file/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myfile.pl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</a:p>
          <a:p>
            <a:r>
              <a:rPr lang="en-US" dirty="0">
                <a:cs typeface="Courier New" panose="02070309020205020404" pitchFamily="49" charset="0"/>
              </a:rPr>
              <a:t>Notice: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	the first two examples above are equivalent if the file is named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myfile.pl</a:t>
            </a:r>
            <a:r>
              <a:rPr lang="en-US" dirty="0">
                <a:cs typeface="Courier New" panose="02070309020205020404" pitchFamily="49" charset="0"/>
              </a:rPr>
              <a:t>, need quotes if name is not a prolog constant (lower case letter followed by letters, underscores, digits)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A2CE8-E8E8-694F-BE20-E0E9DBA3FB4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0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2609-CF31-BC40-BA3D-9F23A6E4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notation for consult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DE898-B0C1-104E-A3E0-F37E39C07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4485" y="1850352"/>
            <a:ext cx="11615780" cy="5977466"/>
          </a:xfrm>
        </p:spPr>
        <p:txBody>
          <a:bodyPr/>
          <a:lstStyle/>
          <a:p>
            <a:r>
              <a:rPr lang="en-US" dirty="0"/>
              <a:t>We can use prolog's list notation to consult files: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myfile.pl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[file1, file2, 'file3.1'].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If the filename is a single word without the .pl extension, if necessary, prolog will try adding the .pl extension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If the filename has special characters like period/dot, or begins with a capital letter, it must be in quotes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C58C1-70C7-3F45-99ED-4A0BEB00AA2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1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CC6E-B4A2-0F4C-B70A-EA029E2D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file name "user"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8D502-91EA-5D44-BC42-D2B9E7745B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71599"/>
            <a:ext cx="11615780" cy="680032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can type facts and rules directly into prolog with the file name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 </a:t>
            </a:r>
            <a:r>
              <a:rPr lang="en-US" dirty="0">
                <a:cs typeface="Courier New" panose="02070309020205020404" pitchFamily="49" charset="0"/>
              </a:rPr>
              <a:t>(EOF character to finish)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Those facts and rules will be lost when we exit the prolog interpreter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[user].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|: like(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zzz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|: ^D% user://1 compiled 0.00 sec, 2 clauses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7EAAB-C5C1-1F45-A49A-C26798C0BB2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8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F0EA-837F-B642-812F-9E4CD14F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first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8071-4230-CC4B-94A4-42D27C0788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Contents of the file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first.pl</a:t>
            </a:r>
            <a:r>
              <a:rPr lang="en-US" dirty="0"/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a simple program stating that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is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means nothing in particular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DD7E3-E717-CC42-820F-2B64915CF5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9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1AE6-A8DF-BC40-8634-EC860E26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first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D4F5D-B358-F145-B9C8-4F3F9A0C0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524000"/>
            <a:ext cx="11615780" cy="6497782"/>
          </a:xfrm>
        </p:spPr>
        <p:txBody>
          <a:bodyPr/>
          <a:lstStyle/>
          <a:p>
            <a:r>
              <a:rPr lang="en-US" dirty="0"/>
              <a:t>Assume % is the command line prompt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swipl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Welcome to SWI-Prolog (threaded, 64 bits, version 8.0.3)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Please run ?- license. for legal details.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online help and background, visit http://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www.swi-prolog.org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built-in help, use ?- help(Topic). or ?- apropos(Word).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?- [first].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?-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E5087-5ED8-9B49-979D-E39176F6D1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4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basics you recall by answering the following questions!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built-in predicate do we use to load programs from files into the prolog interpreter?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When the user is consulted, to type facts/rules directly into a prolog interpreter, what happens to those facts/rules when the prolog interpreter is terminated?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3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</a:rPr>
              <a:t>Example: Family Relationships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6391483" cy="687859"/>
          </a:xfrm>
        </p:spPr>
        <p:txBody>
          <a:bodyPr/>
          <a:lstStyle/>
          <a:p>
            <a:r>
              <a:rPr lang="en-US" dirty="0"/>
              <a:t>Consider the following family tree: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B5516-B153-694A-9BDF-4037CC455156}"/>
              </a:ext>
            </a:extLst>
          </p:cNvPr>
          <p:cNvSpPr txBox="1"/>
          <p:nvPr/>
        </p:nvSpPr>
        <p:spPr>
          <a:xfrm>
            <a:off x="4260274" y="5996993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0633A-EBD8-7C48-9438-C92CC3504B22}"/>
              </a:ext>
            </a:extLst>
          </p:cNvPr>
          <p:cNvSpPr txBox="1"/>
          <p:nvPr/>
        </p:nvSpPr>
        <p:spPr>
          <a:xfrm>
            <a:off x="4890655" y="3172691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FEFA7-D282-1547-ADA1-C4D870390281}"/>
              </a:ext>
            </a:extLst>
          </p:cNvPr>
          <p:cNvSpPr txBox="1"/>
          <p:nvPr/>
        </p:nvSpPr>
        <p:spPr>
          <a:xfrm>
            <a:off x="5638801" y="4628769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59BB0-E2F8-CA45-9968-3436BBE87E85}"/>
              </a:ext>
            </a:extLst>
          </p:cNvPr>
          <p:cNvSpPr txBox="1"/>
          <p:nvPr/>
        </p:nvSpPr>
        <p:spPr>
          <a:xfrm>
            <a:off x="6677891" y="3172690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Jill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F06DC-E50D-B343-A57A-EBDFCB0050D0}"/>
              </a:ext>
            </a:extLst>
          </p:cNvPr>
          <p:cNvSpPr txBox="1"/>
          <p:nvPr/>
        </p:nvSpPr>
        <p:spPr>
          <a:xfrm>
            <a:off x="8839200" y="5996655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7A403-3231-7148-B9B5-BF8E9FAE4D55}"/>
              </a:ext>
            </a:extLst>
          </p:cNvPr>
          <p:cNvSpPr txBox="1"/>
          <p:nvPr/>
        </p:nvSpPr>
        <p:spPr>
          <a:xfrm>
            <a:off x="7994072" y="7135091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8A46F5-6C1F-5C43-AE16-FD0F1092A0EF}"/>
              </a:ext>
            </a:extLst>
          </p:cNvPr>
          <p:cNvSpPr txBox="1"/>
          <p:nvPr/>
        </p:nvSpPr>
        <p:spPr>
          <a:xfrm>
            <a:off x="6913418" y="5996992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C07F8-A163-874E-9B6A-E1D02A711833}"/>
              </a:ext>
            </a:extLst>
          </p:cNvPr>
          <p:cNvSpPr txBox="1"/>
          <p:nvPr/>
        </p:nvSpPr>
        <p:spPr>
          <a:xfrm>
            <a:off x="3616036" y="4628768"/>
            <a:ext cx="10806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Bill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A0E07D-4578-C04A-B9F7-0180F156A165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6179128" y="3742077"/>
            <a:ext cx="1039090" cy="886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2BD0D9-F75B-9A42-B59D-146BB20E76D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430982" y="3742078"/>
            <a:ext cx="748146" cy="886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9F66C7-062C-D342-96F5-F11E52330B4D}"/>
              </a:ext>
            </a:extLst>
          </p:cNvPr>
          <p:cNvCxnSpPr>
            <a:cxnSpLocks/>
            <a:stCxn id="14" idx="2"/>
            <a:endCxn id="2" idx="0"/>
          </p:cNvCxnSpPr>
          <p:nvPr/>
        </p:nvCxnSpPr>
        <p:spPr>
          <a:xfrm>
            <a:off x="4156363" y="5198155"/>
            <a:ext cx="644238" cy="798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03BA78-084F-924F-91C3-DB579502953A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 flipH="1">
            <a:off x="4800601" y="5198156"/>
            <a:ext cx="1378527" cy="79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D89C0F-A0B0-DB4D-94E8-412FA32A09A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534399" y="6566042"/>
            <a:ext cx="845128" cy="56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CD8B92-FE66-2F4E-B085-236B67A7B08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453745" y="6566379"/>
            <a:ext cx="1076112" cy="568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2F1DB6-5F31-C748-B89A-19B95FD01C5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179128" y="5198156"/>
            <a:ext cx="1239261" cy="87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25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68D9-4DEF-3546-9715-C03F3317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735011"/>
            <a:ext cx="9475914" cy="806531"/>
          </a:xfrm>
        </p:spPr>
        <p:txBody>
          <a:bodyPr/>
          <a:lstStyle/>
          <a:p>
            <a:r>
              <a:rPr lang="en-US" dirty="0"/>
              <a:t>Family Relationships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1B689-4ADB-FC44-A18D-16AB22DC6D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289957"/>
            <a:ext cx="12690847" cy="6967351"/>
          </a:xfrm>
        </p:spPr>
        <p:txBody>
          <a:bodyPr/>
          <a:lstStyle/>
          <a:p>
            <a:r>
              <a:rPr lang="en-US" dirty="0"/>
              <a:t>The arrow points from a parent to a child.</a:t>
            </a:r>
          </a:p>
          <a:p>
            <a:r>
              <a:rPr lang="en-US" dirty="0"/>
              <a:t>We can represent this as a prolog program (notice there are no capital letters yet)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 parent(X,Y) means that X is a parent of Y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parent(jack,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parent(jill,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parent(bill, bob).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bob).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656CE-57E1-844A-B8BE-5477B8564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133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7B04-2E65-42E7-89E2-B0AC7B54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Declarative Comments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79EF-A938-5A70-3607-04810AFBF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0200"/>
            <a:ext cx="13409304" cy="5935134"/>
          </a:xfrm>
        </p:spPr>
        <p:txBody>
          <a:bodyPr/>
          <a:lstStyle/>
          <a:p>
            <a:r>
              <a:rPr lang="en-US" dirty="0"/>
              <a:t>We need to state what a predicate means when we define it.</a:t>
            </a:r>
          </a:p>
          <a:p>
            <a:r>
              <a:rPr lang="en-US" dirty="0"/>
              <a:t>The comment character is %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yellow(X) means that X is of yellow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yellow(sun).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yellow(X) is true when X is of yellow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yellow(sun).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CB9F0-A0BF-2DAE-CE7D-43B9752454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53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FC03C-8C68-440D-39BD-B58B1DEE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6"/>
            <a:ext cx="13997133" cy="799178"/>
          </a:xfrm>
        </p:spPr>
        <p:txBody>
          <a:bodyPr/>
          <a:lstStyle/>
          <a:p>
            <a:r>
              <a:rPr lang="en-US" dirty="0"/>
              <a:t>Variables (begin with capital, X on this slide)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FD9A4-5BF9-5E3A-C84D-A045E09051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67543"/>
            <a:ext cx="14209405" cy="6596743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Context 1 (making statements):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yellow(X) means that X is of yellow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yellow(sun).   % means the sun is yellow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yellow(X) is true when X is of yellow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yellow(X).     % means that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everything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is yellow</a:t>
            </a:r>
          </a:p>
          <a:p>
            <a:r>
              <a:rPr lang="en-US" dirty="0">
                <a:cs typeface="Courier New" panose="02070309020205020404" pitchFamily="49" charset="0"/>
              </a:rPr>
              <a:t>Context 2 (asking questions)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yellow(sun)  % is the sun yellow?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yellow(X).   % is there something X that is yellow?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1B768-781A-E707-EC0A-E333FC04A5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81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AE5D-F038-E94C-A096-3CFB6319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Relationships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79BC2-B3DB-CF49-ABFD-F27F21D8E8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79" y="1436351"/>
            <a:ext cx="11615780" cy="6502304"/>
          </a:xfrm>
        </p:spPr>
        <p:txBody>
          <a:bodyPr/>
          <a:lstStyle/>
          <a:p>
            <a:r>
              <a:rPr lang="en-US" dirty="0"/>
              <a:t>We can type our family relationships program into a file called </a:t>
            </a:r>
            <a:r>
              <a:rPr lang="en-US" dirty="0" err="1"/>
              <a:t>family.pl</a:t>
            </a:r>
            <a:r>
              <a:rPr lang="en-US" dirty="0"/>
              <a:t> and load it into prolog :</a:t>
            </a:r>
          </a:p>
          <a:p>
            <a:r>
              <a:rPr lang="en-US" dirty="0"/>
              <a:t>% </a:t>
            </a:r>
            <a:r>
              <a:rPr lang="en-US" dirty="0" err="1"/>
              <a:t>swipl</a:t>
            </a:r>
            <a:endParaRPr lang="en-US" dirty="0"/>
          </a:p>
          <a:p>
            <a:r>
              <a:rPr lang="en-US" dirty="0"/>
              <a:t>?- [family].</a:t>
            </a:r>
          </a:p>
          <a:p>
            <a:r>
              <a:rPr lang="en-US" dirty="0"/>
              <a:t>true.</a:t>
            </a:r>
          </a:p>
          <a:p>
            <a:r>
              <a:rPr lang="en-US" dirty="0"/>
              <a:t>?- parent(</a:t>
            </a:r>
            <a:r>
              <a:rPr lang="en-US" dirty="0" err="1"/>
              <a:t>bill,bob</a:t>
            </a:r>
            <a:r>
              <a:rPr lang="en-US" dirty="0"/>
              <a:t>).</a:t>
            </a:r>
          </a:p>
          <a:p>
            <a:r>
              <a:rPr lang="en-US" dirty="0"/>
              <a:t>true.</a:t>
            </a:r>
          </a:p>
          <a:p>
            <a:r>
              <a:rPr lang="en-US" dirty="0"/>
              <a:t>?- parent(</a:t>
            </a:r>
            <a:r>
              <a:rPr lang="en-US" dirty="0" err="1"/>
              <a:t>jim,bob</a:t>
            </a:r>
            <a:r>
              <a:rPr lang="en-US" dirty="0"/>
              <a:t>).</a:t>
            </a:r>
          </a:p>
          <a:p>
            <a:r>
              <a:rPr lang="en-US" dirty="0"/>
              <a:t>false.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DB1F4-A996-8848-9BED-42225809A79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48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1329-2DDD-7043-AF78-25C35FF9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constants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640F7-F93E-0441-957C-8425F529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79" y="1676399"/>
            <a:ext cx="11615780" cy="6109855"/>
          </a:xfrm>
        </p:spPr>
        <p:txBody>
          <a:bodyPr/>
          <a:lstStyle/>
          <a:p>
            <a:r>
              <a:rPr lang="en-US" dirty="0"/>
              <a:t>We have defined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/>
              <a:t> predicate of arity 2 (2 arguments).</a:t>
            </a:r>
          </a:p>
          <a:p>
            <a:r>
              <a:rPr lang="en-US" dirty="0"/>
              <a:t>We use the notation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parent/2</a:t>
            </a:r>
            <a:r>
              <a:rPr lang="en-US" dirty="0"/>
              <a:t> to indicate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/>
              <a:t> predicate of arity 2 </a:t>
            </a:r>
          </a:p>
          <a:p>
            <a:r>
              <a:rPr lang="en-US" dirty="0"/>
              <a:t>The general form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predicate(term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,term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cs typeface="Courier New" panose="02070309020205020404" pitchFamily="49" charset="0"/>
              </a:rPr>
              <a:t>The number of terms is the arity of the predicate, and if the arity is 0, the parenthesis can be left out (remember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cs typeface="Courier New" panose="02070309020205020404" pitchFamily="49" charset="0"/>
              </a:rPr>
              <a:t>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first.pl</a:t>
            </a:r>
            <a:r>
              <a:rPr lang="en-US" dirty="0">
                <a:cs typeface="Courier New" panose="02070309020205020404" pitchFamily="49" charset="0"/>
              </a:rPr>
              <a:t> a few slides back?)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4ECA0-6CC5-5A43-86A7-344F78C4F1C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215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1AFA-FE69-5D48-8BF6-AA661898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world assumption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23F0E-FBF0-8041-9A80-1EA30A0E3F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Prolog operates according to the closed-world assumption:</a:t>
            </a:r>
          </a:p>
          <a:p>
            <a:r>
              <a:rPr lang="en-US" dirty="0"/>
              <a:t>The only things that are true are the things we state, and the logical entailments of what we state.</a:t>
            </a:r>
          </a:p>
          <a:p>
            <a:r>
              <a:rPr lang="en-US" dirty="0"/>
              <a:t>In our program about family relationships, there are only 7 persons: no other persons exist in the closed world</a:t>
            </a:r>
          </a:p>
          <a:p>
            <a:r>
              <a:rPr lang="en-US" dirty="0"/>
              <a:t>How many of those persons have parents?  (only 4 have parents in the closed world)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31ED-1F1B-C640-912B-47E968C0C9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06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5274-44A3-D143-AF53-E0013783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8" y="340427"/>
            <a:ext cx="14846221" cy="667985"/>
          </a:xfrm>
        </p:spPr>
        <p:txBody>
          <a:bodyPr/>
          <a:lstStyle/>
          <a:p>
            <a:r>
              <a:rPr lang="en-US" dirty="0"/>
              <a:t>Prolog Queries and Variable Bindings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36EB-F78D-374A-92E9-728EEE168E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008412"/>
            <a:ext cx="11615780" cy="7304315"/>
          </a:xfrm>
        </p:spPr>
        <p:txBody>
          <a:bodyPr/>
          <a:lstStyle/>
          <a:p>
            <a:r>
              <a:rPr lang="en-US" sz="2800" dirty="0"/>
              <a:t>A variable begins with a capital letter, or a single underscore is the anonymous variable.  </a:t>
            </a:r>
          </a:p>
          <a:p>
            <a:r>
              <a:rPr lang="en-US" sz="2800" dirty="0"/>
              <a:t>Here's a query with a variable, typing return after P=jack: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?- parent(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P,joan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P=jack .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?-</a:t>
            </a:r>
          </a:p>
          <a:p>
            <a:r>
              <a:rPr lang="en-US" sz="2800" dirty="0">
                <a:cs typeface="Courier New" panose="02070309020205020404" pitchFamily="49" charset="0"/>
              </a:rPr>
              <a:t>Here we type semi-colon ; after P=jack, meaning find another solution: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?- parent(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P,joan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P=jack;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P=jill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?-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F503F-E1C0-C844-8CAE-3BE5EE7924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245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7A44-D3EF-64CE-B815-F5ED3291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4D58D-AB5D-389B-FDF7-5C46F7B788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81842"/>
            <a:ext cx="14421675" cy="6065763"/>
          </a:xfrm>
        </p:spPr>
        <p:txBody>
          <a:bodyPr/>
          <a:lstStyle/>
          <a:p>
            <a:r>
              <a:rPr lang="en-US" sz="3200" dirty="0"/>
              <a:t>Anonymous variable </a:t>
            </a:r>
            <a:r>
              <a:rPr lang="en-US" sz="3200" b="1" dirty="0"/>
              <a:t>_</a:t>
            </a:r>
            <a:r>
              <a:rPr lang="en-US" sz="3200" dirty="0"/>
              <a:t> represents something but we don't care what it is.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parent(X,_).    % query context, who has a child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jack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?- parent(X,Y).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who has a child, and which child?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jack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E8CCC-B61D-1D5E-B06E-67B237BB8C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14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the family program you recall by answering the following questions!</a:t>
            </a:r>
          </a:p>
          <a:p>
            <a:r>
              <a:rPr lang="en-US" dirty="0"/>
              <a:t>What is meant by the arity of a predicate?</a:t>
            </a:r>
          </a:p>
          <a:p>
            <a:r>
              <a:rPr lang="en-US" dirty="0"/>
              <a:t>What constitutes a prolog variable?</a:t>
            </a:r>
          </a:p>
          <a:p>
            <a:r>
              <a:rPr lang="en-US" dirty="0"/>
              <a:t>What is the closed world assumption?</a:t>
            </a:r>
          </a:p>
        </p:txBody>
      </p:sp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Rules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537855"/>
            <a:ext cx="14904913" cy="6568177"/>
          </a:xfrm>
        </p:spPr>
        <p:txBody>
          <a:bodyPr/>
          <a:lstStyle/>
          <a:p>
            <a:r>
              <a:rPr lang="en-US" dirty="0"/>
              <a:t>We have a parent relation defined in our </a:t>
            </a:r>
            <a:r>
              <a:rPr lang="en-US" dirty="0" err="1"/>
              <a:t>family.pl</a:t>
            </a:r>
            <a:r>
              <a:rPr lang="en-US" dirty="0"/>
              <a:t> program</a:t>
            </a:r>
          </a:p>
          <a:p>
            <a:r>
              <a:rPr lang="en-US" dirty="0"/>
              <a:t>Now let's think about an ancestor relation defined in English:</a:t>
            </a:r>
          </a:p>
          <a:p>
            <a:r>
              <a:rPr lang="en-US" sz="2800" dirty="0"/>
              <a:t>If person X is a parent of person Y, then person X is an ancestor of person Y</a:t>
            </a:r>
          </a:p>
          <a:p>
            <a:r>
              <a:rPr lang="en-US" dirty="0"/>
              <a:t>Also</a:t>
            </a:r>
          </a:p>
          <a:p>
            <a:r>
              <a:rPr lang="en-US" sz="2800" dirty="0"/>
              <a:t>If person X is a parent of person Y, and person Y is an ancestor of person Z, then</a:t>
            </a:r>
          </a:p>
          <a:p>
            <a:r>
              <a:rPr lang="en-US" sz="2800" dirty="0"/>
              <a:t>person X is an ancestor of person Z</a:t>
            </a:r>
          </a:p>
          <a:p>
            <a:r>
              <a:rPr lang="en-US" dirty="0"/>
              <a:t>More compactly:</a:t>
            </a:r>
          </a:p>
          <a:p>
            <a:r>
              <a:rPr lang="en-US" sz="2800" dirty="0"/>
              <a:t>If parent(X,Y) then ancestor(X,Y)</a:t>
            </a:r>
          </a:p>
          <a:p>
            <a:r>
              <a:rPr lang="en-US" sz="2800" dirty="0"/>
              <a:t>If parent(X,Y) and ancestor(Y,Z) then ancestor(X,Z)</a:t>
            </a:r>
          </a:p>
        </p:txBody>
      </p:sp>
    </p:spTree>
    <p:extLst>
      <p:ext uri="{BB962C8B-B14F-4D97-AF65-F5344CB8AC3E}">
        <p14:creationId xmlns:p14="http://schemas.microsoft.com/office/powerpoint/2010/main" val="2257495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71C0-E6A1-C94E-AF69-D5601EB6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Prolog Rules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C1800-A0C9-CC4D-9B5A-B9DA513686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73382"/>
            <a:ext cx="11615780" cy="5761952"/>
          </a:xfrm>
        </p:spPr>
        <p:txBody>
          <a:bodyPr/>
          <a:lstStyle/>
          <a:p>
            <a:r>
              <a:rPr lang="en-US" dirty="0"/>
              <a:t>A rule such as </a:t>
            </a:r>
          </a:p>
          <a:p>
            <a:r>
              <a:rPr lang="en-US" dirty="0"/>
              <a:t>	</a:t>
            </a:r>
            <a:r>
              <a:rPr lang="en-US" sz="2800" dirty="0"/>
              <a:t>if P then Q</a:t>
            </a:r>
          </a:p>
          <a:p>
            <a:r>
              <a:rPr lang="en-US" dirty="0"/>
              <a:t>is written the opposite way around in Prolog as</a:t>
            </a:r>
          </a:p>
          <a:p>
            <a:r>
              <a:rPr lang="en-US" dirty="0"/>
              <a:t>	</a:t>
            </a:r>
            <a:r>
              <a:rPr lang="en-US" sz="2800" dirty="0"/>
              <a:t>Q :- P</a:t>
            </a:r>
          </a:p>
          <a:p>
            <a:r>
              <a:rPr lang="en-US" sz="2800" dirty="0"/>
              <a:t>We read that as "Q if P" and it means that when we are trying to show that Q is true, we can succeed by showing that P is true</a:t>
            </a:r>
          </a:p>
          <a:p>
            <a:endParaRPr lang="en-US" dirty="0"/>
          </a:p>
          <a:p>
            <a:r>
              <a:rPr lang="en-US" sz="2800" dirty="0"/>
              <a:t>	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F1ACB-0D88-4047-930F-35812670DF4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5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66A2-921E-4E4D-BAF7-4DA23AE4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ancestor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F2F06-9F12-D74A-9C50-FD607B63B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7127"/>
            <a:ext cx="11615780" cy="6414655"/>
          </a:xfrm>
        </p:spPr>
        <p:txBody>
          <a:bodyPr/>
          <a:lstStyle/>
          <a:p>
            <a:r>
              <a:rPr lang="en-US" dirty="0"/>
              <a:t>We can write our rules about ancestors in Prolog form:</a:t>
            </a:r>
          </a:p>
          <a:p>
            <a:r>
              <a:rPr lang="en-US" dirty="0"/>
              <a:t>	</a:t>
            </a:r>
            <a:r>
              <a:rPr lang="en-US" sz="2800" dirty="0"/>
              <a:t>ancestor(X,Y):-parent(X,Y).</a:t>
            </a:r>
          </a:p>
          <a:p>
            <a:r>
              <a:rPr lang="en-US" sz="2800" dirty="0"/>
              <a:t>	ancestor(X,Z):-parent(X,Y), ancestor(Y,Z).</a:t>
            </a:r>
          </a:p>
          <a:p>
            <a:r>
              <a:rPr lang="en-US" dirty="0"/>
              <a:t>Note that comma "," means "and" in Prolog</a:t>
            </a:r>
          </a:p>
          <a:p>
            <a:r>
              <a:rPr lang="en-US" dirty="0"/>
              <a:t>The scope of variables is the single clause </a:t>
            </a:r>
          </a:p>
          <a:p>
            <a:r>
              <a:rPr lang="en-US" dirty="0"/>
              <a:t>We haven't used it yet, but ";" means "or" in Prolog</a:t>
            </a:r>
          </a:p>
          <a:p>
            <a:r>
              <a:rPr lang="en-US" dirty="0"/>
              <a:t>There would be problems if we said</a:t>
            </a:r>
          </a:p>
          <a:p>
            <a:r>
              <a:rPr lang="en-US" dirty="0"/>
              <a:t>	</a:t>
            </a:r>
            <a:r>
              <a:rPr lang="en-US" sz="2800" dirty="0"/>
              <a:t>ancestor(X,Z):-ancestor(X,Y),ancestor(Y,Z).</a:t>
            </a:r>
          </a:p>
          <a:p>
            <a:r>
              <a:rPr lang="en-US" sz="2800" dirty="0"/>
              <a:t>Even though it's true, a Prolog programmer would not say that (why?).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0A566-6E88-AF44-B5AF-35895A67B2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53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1B75-57AC-3A4D-8B3D-942EE6FA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ancestor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E053-7E82-5242-823E-64EF6F84AA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1615780" cy="5575684"/>
          </a:xfrm>
        </p:spPr>
        <p:txBody>
          <a:bodyPr/>
          <a:lstStyle/>
          <a:p>
            <a:r>
              <a:rPr lang="en-US" dirty="0"/>
              <a:t>Let's add the ancestor clauses to our </a:t>
            </a:r>
            <a:r>
              <a:rPr lang="en-US" dirty="0" err="1"/>
              <a:t>family.pl</a:t>
            </a:r>
            <a:r>
              <a:rPr lang="en-US" dirty="0"/>
              <a:t> program, then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[family].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?- ancestor(X,Y).</a:t>
            </a:r>
          </a:p>
          <a:p>
            <a:r>
              <a:rPr lang="en-US" dirty="0">
                <a:cs typeface="Calibri" panose="020F0502020204030204" pitchFamily="34" charset="0"/>
              </a:rPr>
              <a:t>We can keep typing ";" to see all of Prologs answers to this query.</a:t>
            </a:r>
          </a:p>
          <a:p>
            <a:r>
              <a:rPr lang="en-US" dirty="0">
                <a:cs typeface="Calibri" panose="020F0502020204030204" pitchFamily="34" charset="0"/>
              </a:rPr>
              <a:t>Let's also try the same query with the problematic version of that ancestor rule.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C15B0-A328-5745-8B09-E5F15CE753E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3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rules you recall by answering the following questions!</a:t>
            </a:r>
          </a:p>
          <a:p>
            <a:r>
              <a:rPr lang="en-US" dirty="0"/>
              <a:t>How would we write "if a then b" as a Prolog rule</a:t>
            </a:r>
          </a:p>
          <a:p>
            <a:r>
              <a:rPr lang="en-US" dirty="0"/>
              <a:t>How would we write "if X is a student, then X is a person" as a Prolog rule?</a:t>
            </a:r>
          </a:p>
        </p:txBody>
      </p:sp>
    </p:spTree>
    <p:extLst>
      <p:ext uri="{BB962C8B-B14F-4D97-AF65-F5344CB8AC3E}">
        <p14:creationId xmlns:p14="http://schemas.microsoft.com/office/powerpoint/2010/main" val="2101607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Conclusion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In this lesson, you learned how 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and run simple Prolog programs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Prolog facts in programs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Prolog variables in programs and queries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Prolog rules in programs</a:t>
            </a:r>
          </a:p>
          <a:p>
            <a:r>
              <a:rPr lang="en-US" dirty="0"/>
              <a:t>In the next lesson, you will learn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More details about how Prolog answers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2225</Words>
  <Application>Microsoft Macintosh PowerPoint</Application>
  <PresentationFormat>Custom</PresentationFormat>
  <Paragraphs>265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Helvetica</vt:lpstr>
      <vt:lpstr>Wingdings</vt:lpstr>
      <vt:lpstr>Office Theme</vt:lpstr>
      <vt:lpstr>Prolog Programs</vt:lpstr>
      <vt:lpstr>Lesson Overview (Agenda)</vt:lpstr>
      <vt:lpstr>Prolog Basics</vt:lpstr>
      <vt:lpstr>TWO contexts,  code looks same, but different meaning</vt:lpstr>
      <vt:lpstr>Prolog programs</vt:lpstr>
      <vt:lpstr>Prolog Interpreter</vt:lpstr>
      <vt:lpstr>Running a Prolog program</vt:lpstr>
      <vt:lpstr>Working with Prolog: what are the stages?</vt:lpstr>
      <vt:lpstr>Prolog Basics (Cont'd)</vt:lpstr>
      <vt:lpstr>Loading programs: consult</vt:lpstr>
      <vt:lpstr>List notation for consult</vt:lpstr>
      <vt:lpstr>Special file name "user"</vt:lpstr>
      <vt:lpstr>Simple first program</vt:lpstr>
      <vt:lpstr>Run the first program</vt:lpstr>
      <vt:lpstr>Time to check your learning!</vt:lpstr>
      <vt:lpstr>Example: Family Relationships</vt:lpstr>
      <vt:lpstr>Family Relationships (cont'd)</vt:lpstr>
      <vt:lpstr>Declarative Comments</vt:lpstr>
      <vt:lpstr>Variables (begin with capital, X on this slide)</vt:lpstr>
      <vt:lpstr>Family Relationships (cont'd)</vt:lpstr>
      <vt:lpstr>Predicates and constants</vt:lpstr>
      <vt:lpstr>Closed world assumption</vt:lpstr>
      <vt:lpstr>Prolog Queries and Variable Bindings</vt:lpstr>
      <vt:lpstr>Anonymous Variable</vt:lpstr>
      <vt:lpstr>Time to check your learning!</vt:lpstr>
      <vt:lpstr>Prolog Rules</vt:lpstr>
      <vt:lpstr>Prolog Rules (cont'd)</vt:lpstr>
      <vt:lpstr>ancestor rules</vt:lpstr>
      <vt:lpstr>ancestor query</vt:lpstr>
      <vt:lpstr>Time to check your learning!</vt:lpstr>
      <vt:lpstr>Conclusion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210</cp:revision>
  <dcterms:created xsi:type="dcterms:W3CDTF">2016-12-21T16:02:28Z</dcterms:created>
  <dcterms:modified xsi:type="dcterms:W3CDTF">2025-01-08T23:38:01Z</dcterms:modified>
</cp:coreProperties>
</file>