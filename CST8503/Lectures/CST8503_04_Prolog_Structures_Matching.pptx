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7" r:id="rId2"/>
    <p:sldId id="334" r:id="rId3"/>
    <p:sldId id="335" r:id="rId4"/>
    <p:sldId id="345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339" r:id="rId20"/>
    <p:sldId id="272" r:id="rId21"/>
    <p:sldId id="273" r:id="rId22"/>
    <p:sldId id="274" r:id="rId23"/>
    <p:sldId id="275" r:id="rId24"/>
    <p:sldId id="276" r:id="rId25"/>
    <p:sldId id="346" r:id="rId26"/>
    <p:sldId id="277" r:id="rId27"/>
    <p:sldId id="278" r:id="rId28"/>
    <p:sldId id="341" r:id="rId29"/>
    <p:sldId id="344" r:id="rId30"/>
  </p:sldIdLst>
  <p:sldSz cx="16257588" cy="9144000"/>
  <p:notesSz cx="6858000" cy="9144000"/>
  <p:defaultTextStyle>
    <a:defPPr>
      <a:defRPr lang="en-US"/>
    </a:defPPr>
    <a:lvl1pPr marL="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B02A"/>
    <a:srgbClr val="267A52"/>
    <a:srgbClr val="00673E"/>
    <a:srgbClr val="006643"/>
    <a:srgbClr val="589278"/>
    <a:srgbClr val="7AC1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66" autoAdjust="0"/>
    <p:restoredTop sz="94674" autoAdjust="0"/>
  </p:normalViewPr>
  <p:slideViewPr>
    <p:cSldViewPr snapToGrid="0" snapToObjects="1">
      <p:cViewPr varScale="1">
        <p:scale>
          <a:sx n="93" d="100"/>
          <a:sy n="93" d="100"/>
        </p:scale>
        <p:origin x="480" y="200"/>
      </p:cViewPr>
      <p:guideLst>
        <p:guide orient="horz" pos="2880"/>
        <p:guide pos="5121"/>
      </p:guideLst>
    </p:cSldViewPr>
  </p:slideViewPr>
  <p:outlineViewPr>
    <p:cViewPr>
      <p:scale>
        <a:sx n="33" d="100"/>
        <a:sy n="33" d="100"/>
      </p:scale>
      <p:origin x="0" y="538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78AF4-5E64-AC4C-BB17-179E924E563F}" type="datetimeFigureOut">
              <a:rPr lang="en-US" smtClean="0"/>
              <a:t>1/22/25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C6A53-3777-FA4B-999B-678D40C4B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137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A0A7F-40AB-B84E-BA8C-8861397EF456}" type="datetimeFigureOut">
              <a:rPr lang="en-US" smtClean="0"/>
              <a:t>1/22/25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51CE3-F1EC-6B4D-8B6D-86D363C89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7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12882" y="1716573"/>
            <a:ext cx="9668510" cy="218069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This is your 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2881" y="4032727"/>
            <a:ext cx="12157629" cy="23368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4800" baseline="0">
                <a:solidFill>
                  <a:schemeClr val="accent3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Presentation subtitle or brief one-sentence description.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29733" y="7346545"/>
            <a:ext cx="7145607" cy="993775"/>
          </a:xfrm>
          <a:prstGeom prst="rect">
            <a:avLst/>
          </a:prstGeom>
        </p:spPr>
        <p:txBody>
          <a:bodyPr anchor="b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Month 24th, 2017</a:t>
            </a:r>
            <a:endParaRPr lang="en-US" dirty="0"/>
          </a:p>
        </p:txBody>
      </p:sp>
      <p:pic>
        <p:nvPicPr>
          <p:cNvPr id="4" name="Picture 3" descr="ac-logo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7728" y="825406"/>
            <a:ext cx="33909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02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0" y="2059516"/>
            <a:ext cx="9668513" cy="18161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800" b="1" cap="none" baseline="0">
                <a:solidFill>
                  <a:srgbClr val="FFFFFF"/>
                </a:solidFill>
              </a:defRPr>
            </a:lvl1pPr>
          </a:lstStyle>
          <a:p>
            <a:r>
              <a:rPr lang="en-CA" dirty="0"/>
              <a:t>Chapter or Section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34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Brief description or intro to this section</a:t>
            </a:r>
          </a:p>
        </p:txBody>
      </p:sp>
      <p:pic>
        <p:nvPicPr>
          <p:cNvPr id="10" name="Picture 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8893" y="689942"/>
            <a:ext cx="965199" cy="711200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rgbClr val="96B7A6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Auth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3335758" y="2404534"/>
            <a:ext cx="4633424" cy="430358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8297063" y="3115733"/>
            <a:ext cx="4673448" cy="2881182"/>
          </a:xfrm>
          <a:prstGeom prst="rect">
            <a:avLst/>
          </a:prstGeom>
        </p:spPr>
        <p:txBody>
          <a:bodyPr anchor="ctr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About the Author (1 author)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296275" y="2405062"/>
            <a:ext cx="46736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8296275" y="5997575"/>
            <a:ext cx="4673600" cy="710539"/>
          </a:xfrm>
          <a:prstGeom prst="rect">
            <a:avLst/>
          </a:prstGeo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</p:spTree>
    <p:extLst>
      <p:ext uri="{BB962C8B-B14F-4D97-AF65-F5344CB8AC3E}">
        <p14:creationId xmlns:p14="http://schemas.microsoft.com/office/powerpoint/2010/main" val="1698127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Auth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829814" y="2405062"/>
            <a:ext cx="2167288" cy="201300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3318933" y="3115733"/>
            <a:ext cx="4673448" cy="2387600"/>
          </a:xfrm>
          <a:prstGeom prst="rect">
            <a:avLst/>
          </a:prstGeo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About the Author (2 authors)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18145" y="2405062"/>
            <a:ext cx="46736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1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3318145" y="5503333"/>
            <a:ext cx="4673600" cy="710539"/>
          </a:xfrm>
          <a:prstGeom prst="rect">
            <a:avLst/>
          </a:prstGeo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8297171" y="2405062"/>
            <a:ext cx="2167288" cy="201300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0786290" y="3115733"/>
            <a:ext cx="4673448" cy="2387600"/>
          </a:xfrm>
          <a:prstGeom prst="rect">
            <a:avLst/>
          </a:prstGeo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5502" y="2405062"/>
            <a:ext cx="46736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2 Name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10785502" y="5503333"/>
            <a:ext cx="4673600" cy="710539"/>
          </a:xfrm>
          <a:prstGeom prst="rect">
            <a:avLst/>
          </a:prstGeo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pic>
        <p:nvPicPr>
          <p:cNvPr id="15" name="Picture 14" descr="curtain-100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97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83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189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5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A basic 1-column key point slide with no title. 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364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162458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2404534"/>
            <a:ext cx="7147539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basic 2-column key point text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3115732"/>
            <a:ext cx="7147539" cy="4419602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716245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8297170" y="2405062"/>
            <a:ext cx="7147539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2" name="Picture 11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3" name="Picture 12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20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022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1" name="Picture 10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2" name="Picture 11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520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2"/>
            <a:ext cx="4644000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2"/>
            <a:ext cx="467344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2405062"/>
            <a:ext cx="46440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566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130801"/>
            <a:ext cx="4673339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130801"/>
            <a:ext cx="4644000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130801"/>
            <a:ext cx="4673448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4804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 w/ 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3"/>
            <a:ext cx="4673339" cy="16979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3"/>
            <a:ext cx="4644000" cy="16979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3"/>
            <a:ext cx="4673448" cy="16979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858406"/>
            <a:ext cx="4673339" cy="1681532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858406"/>
            <a:ext cx="4644000" cy="1681532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858406"/>
            <a:ext cx="4673448" cy="1681532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5807945" y="2405062"/>
            <a:ext cx="46440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812883" y="5147735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5" y="5147735"/>
            <a:ext cx="46440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10786183" y="5147735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23" name="Picture 2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4" name="Picture 2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5" name="Slide Number Placeholder 8"/>
          <p:cNvSpPr>
            <a:spLocks noGrp="1"/>
          </p:cNvSpPr>
          <p:nvPr>
            <p:ph type="sldNum" sz="quarter" idx="27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6385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516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6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This is a 1-column bulk content slide without a title. 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197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297169" y="3115732"/>
            <a:ext cx="7147539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2" y="2405062"/>
            <a:ext cx="7162457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8297168" y="2405062"/>
            <a:ext cx="7147539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741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1276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812882" y="5858405"/>
            <a:ext cx="4673339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10786183" y="5858405"/>
            <a:ext cx="4658525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32" hasCustomPrompt="1"/>
          </p:nvPr>
        </p:nvSpPr>
        <p:spPr>
          <a:xfrm>
            <a:off x="812883" y="5147735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10786182" y="5147735"/>
            <a:ext cx="4658525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5807947" y="5858405"/>
            <a:ext cx="4643998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35" hasCustomPrompt="1"/>
          </p:nvPr>
        </p:nvSpPr>
        <p:spPr>
          <a:xfrm>
            <a:off x="5807946" y="5147735"/>
            <a:ext cx="4643998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3717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860800"/>
            <a:ext cx="4673339" cy="36791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860800"/>
            <a:ext cx="4644000" cy="36791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860800"/>
            <a:ext cx="4673448" cy="3679138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75441"/>
            <a:ext cx="4673340" cy="1226329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short numbers.</a:t>
            </a:r>
            <a:endParaRPr lang="en-US" dirty="0"/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6428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Mediu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701769"/>
            <a:ext cx="4673339" cy="3838169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701769"/>
            <a:ext cx="4644000" cy="3838169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701769"/>
            <a:ext cx="4673448" cy="3838169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41575"/>
            <a:ext cx="4673340" cy="1260195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$##,###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#,###,####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long numbers.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6079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sp>
        <p:nvSpPr>
          <p:cNvPr id="12" name="Oval 11"/>
          <p:cNvSpPr/>
          <p:nvPr userDrawn="1"/>
        </p:nvSpPr>
        <p:spPr>
          <a:xfrm>
            <a:off x="728135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3"/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173631" y="2900693"/>
            <a:ext cx="864783" cy="86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Oval 13"/>
          <p:cNvSpPr/>
          <p:nvPr userDrawn="1"/>
        </p:nvSpPr>
        <p:spPr>
          <a:xfrm>
            <a:off x="5723280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3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168776" y="2900693"/>
            <a:ext cx="864782" cy="86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Oval 15"/>
          <p:cNvSpPr/>
          <p:nvPr userDrawn="1"/>
        </p:nvSpPr>
        <p:spPr>
          <a:xfrm>
            <a:off x="10701518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"/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11147405" y="2900693"/>
            <a:ext cx="864000" cy="86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9" name="Picture 18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6315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3287077" y="829734"/>
            <a:ext cx="9683434" cy="750146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this icon to insert a video</a:t>
            </a:r>
          </a:p>
        </p:txBody>
      </p:sp>
    </p:spTree>
    <p:extLst>
      <p:ext uri="{BB962C8B-B14F-4D97-AF65-F5344CB8AC3E}">
        <p14:creationId xmlns:p14="http://schemas.microsoft.com/office/powerpoint/2010/main" val="18803090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805366" y="838200"/>
            <a:ext cx="14646856" cy="7467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  <a:prstGeom prst="rect">
            <a:avLst/>
          </a:prstGeom>
        </p:spPr>
        <p:txBody>
          <a:bodyPr anchor="ctr"/>
          <a:lstStyle>
            <a:lvl1pPr algn="ctr">
              <a:defRPr sz="1600"/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3703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  <a:prstGeom prst="rect">
            <a:avLst/>
          </a:prstGeo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0235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3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mpus-scape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white.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9924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mpus-scap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100% green.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6990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127735" cy="457140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baseline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this icon to insert a background photo, the resize this box so it covers the whole screen. Make sure it’s good quality.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980794" y="2552251"/>
            <a:ext cx="10296000" cy="4039500"/>
          </a:xfr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lIns="324000" tIns="1080000" rIns="324000" bIns="1080000"/>
          <a:lstStyle>
            <a:lvl1pPr algn="ctr">
              <a:lnSpc>
                <a:spcPct val="9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$#,###,###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01893" y="3012628"/>
            <a:ext cx="9653802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 baseline="0">
                <a:solidFill>
                  <a:srgbClr val="00673E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301893" y="5643918"/>
            <a:ext cx="9653802" cy="388804"/>
          </a:xfrm>
          <a:prstGeom prst="rect">
            <a:avLst/>
          </a:prstGeo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104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484181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right-aligned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18825" y="6267279"/>
            <a:ext cx="4978238" cy="1268053"/>
          </a:xfrm>
          <a:prstGeom prst="rect">
            <a:avLst/>
          </a:prstGeo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9346896" y="853030"/>
            <a:ext cx="6910691" cy="6682303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9346896" y="5489054"/>
            <a:ext cx="502903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347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992382" y="2404534"/>
            <a:ext cx="7484181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923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left-aligned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7992381" y="6267279"/>
            <a:ext cx="4978238" cy="1268053"/>
          </a:xfrm>
          <a:prstGeom prst="rect">
            <a:avLst/>
          </a:prstGeo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853030"/>
            <a:ext cx="6910691" cy="6682303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489054"/>
            <a:ext cx="502903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5459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86" y="0"/>
            <a:ext cx="16256402" cy="914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aseline="0"/>
            </a:lvl1pPr>
            <a:lvl2pPr marL="781583" indent="0">
              <a:buNone/>
              <a:defRPr sz="4800"/>
            </a:lvl2pPr>
            <a:lvl3pPr marL="1563167" indent="0">
              <a:buNone/>
              <a:defRPr sz="4100"/>
            </a:lvl3pPr>
            <a:lvl4pPr marL="2344750" indent="0">
              <a:buNone/>
              <a:defRPr sz="3400"/>
            </a:lvl4pPr>
            <a:lvl5pPr marL="3126334" indent="0">
              <a:buNone/>
              <a:defRPr sz="3400"/>
            </a:lvl5pPr>
            <a:lvl6pPr marL="3907917" indent="0">
              <a:buNone/>
              <a:defRPr sz="3400"/>
            </a:lvl6pPr>
            <a:lvl7pPr marL="4689500" indent="0">
              <a:buNone/>
              <a:defRPr sz="3400"/>
            </a:lvl7pPr>
            <a:lvl8pPr marL="5471084" indent="0">
              <a:buNone/>
              <a:defRPr sz="3400"/>
            </a:lvl8pPr>
            <a:lvl9pPr marL="6252667" indent="0">
              <a:buNone/>
              <a:defRPr sz="3400"/>
            </a:lvl9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6313857"/>
            <a:ext cx="7958408" cy="759384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180000" rIns="252000" bIns="252000" anchor="ctr">
            <a:spAutoFit/>
          </a:bodyPr>
          <a:lstStyle>
            <a:lvl1pPr>
              <a:lnSpc>
                <a:spcPct val="10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853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332918" y="829734"/>
            <a:ext cx="7111897" cy="6696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7145633" cy="6696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8332919" y="5498998"/>
            <a:ext cx="4654526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2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11598955" cy="6696000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220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+ Title and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3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8" y="2404534"/>
            <a:ext cx="9459088" cy="51212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on this icon to insert a graphic.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graphic slide with a title and optional annotation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24" name="Picture 23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5" name="Picture 24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13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r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8" name="Picture 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chart or table slide with optional annotation</a:t>
            </a:r>
            <a:endParaRPr lang="en-US" dirty="0"/>
          </a:p>
        </p:txBody>
      </p:sp>
      <p:sp>
        <p:nvSpPr>
          <p:cNvPr id="17" name="Table Placeholder 3"/>
          <p:cNvSpPr>
            <a:spLocks noGrp="1"/>
          </p:cNvSpPr>
          <p:nvPr>
            <p:ph type="tbl" sz="quarter" idx="20" hasCustomPrompt="1"/>
          </p:nvPr>
        </p:nvSpPr>
        <p:spPr>
          <a:xfrm>
            <a:off x="812800" y="2405063"/>
            <a:ext cx="9475788" cy="512127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the icon to insert a table or chart.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023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48421" y="3117806"/>
            <a:ext cx="10360746" cy="261217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800" baseline="0">
                <a:solidFill>
                  <a:schemeClr val="accent5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Questions? Put your contact prompt message and your email here.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20943" y="2082794"/>
            <a:ext cx="9615704" cy="1018079"/>
          </a:xfrm>
        </p:spPr>
        <p:txBody>
          <a:bodyPr anchor="b"/>
          <a:lstStyle>
            <a:lvl1pPr algn="ctr">
              <a:defRPr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Thank you message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320941" y="6017839"/>
            <a:ext cx="9615706" cy="462413"/>
          </a:xfrm>
          <a:prstGeom prst="rect">
            <a:avLst/>
          </a:prstGeom>
        </p:spPr>
        <p:txBody>
          <a:bodyPr anchor="t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 err="1"/>
              <a:t>www.algonquincollege.com</a:t>
            </a:r>
            <a:r>
              <a:rPr lang="en-CA" dirty="0"/>
              <a:t>/</a:t>
            </a:r>
            <a:r>
              <a:rPr lang="en-CA" dirty="0" err="1"/>
              <a:t>relevantURL</a:t>
            </a:r>
            <a:endParaRPr lang="en-US" dirty="0"/>
          </a:p>
        </p:txBody>
      </p:sp>
      <p:pic>
        <p:nvPicPr>
          <p:cNvPr id="13" name="Picture 12" descr="ac-icon-green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683" y="828547"/>
            <a:ext cx="635142" cy="467999"/>
          </a:xfrm>
          <a:prstGeom prst="rect">
            <a:avLst/>
          </a:prstGeom>
        </p:spPr>
      </p:pic>
      <p:pic>
        <p:nvPicPr>
          <p:cNvPr id="14" name="Picture 13" descr="curtain-100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5083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3604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67" b="0" i="0">
                <a:solidFill>
                  <a:srgbClr val="A4002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24324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236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80" y="666518"/>
            <a:ext cx="14631829" cy="146708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First level</a:t>
            </a:r>
          </a:p>
          <a:p>
            <a:pPr lvl="2"/>
            <a:r>
              <a:rPr lang="en-CA" dirty="0"/>
              <a:t>Second level</a:t>
            </a:r>
          </a:p>
          <a:p>
            <a:pPr lvl="0"/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80" y="8475135"/>
            <a:ext cx="1180185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21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78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9" r:id="rId3"/>
    <p:sldLayoutId id="2147483686" r:id="rId4"/>
    <p:sldLayoutId id="2147483650" r:id="rId5"/>
    <p:sldLayoutId id="2147483705" r:id="rId6"/>
    <p:sldLayoutId id="2147483693" r:id="rId7"/>
    <p:sldLayoutId id="2147483685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4" r:id="rId15"/>
    <p:sldLayoutId id="2147483695" r:id="rId16"/>
    <p:sldLayoutId id="2147483696" r:id="rId17"/>
    <p:sldLayoutId id="2147483697" r:id="rId18"/>
    <p:sldLayoutId id="2147483677" r:id="rId19"/>
    <p:sldLayoutId id="2147483698" r:id="rId20"/>
    <p:sldLayoutId id="2147483699" r:id="rId21"/>
    <p:sldLayoutId id="2147483682" r:id="rId22"/>
    <p:sldLayoutId id="2147483654" r:id="rId23"/>
    <p:sldLayoutId id="2147483662" r:id="rId24"/>
    <p:sldLayoutId id="2147483683" r:id="rId25"/>
    <p:sldLayoutId id="2147483684" r:id="rId26"/>
    <p:sldLayoutId id="2147483664" r:id="rId27"/>
    <p:sldLayoutId id="2147483700" r:id="rId28"/>
    <p:sldLayoutId id="2147483701" r:id="rId29"/>
    <p:sldLayoutId id="2147483657" r:id="rId30"/>
    <p:sldLayoutId id="2147483674" r:id="rId31"/>
    <p:sldLayoutId id="2147483675" r:id="rId32"/>
    <p:sldLayoutId id="2147483681" r:id="rId33"/>
    <p:sldLayoutId id="2147483667" r:id="rId34"/>
    <p:sldLayoutId id="2147483680" r:id="rId35"/>
    <p:sldLayoutId id="2147483702" r:id="rId36"/>
    <p:sldLayoutId id="2147483703" r:id="rId37"/>
    <p:sldLayoutId id="2147483704" r:id="rId38"/>
  </p:sldLayoutIdLst>
  <p:hf hdr="0" ftr="0" dt="0"/>
  <p:txStyles>
    <p:titleStyle>
      <a:lvl1pPr algn="l" defTabSz="781583" rtl="0" eaLnBrk="1" latinLnBrk="0" hangingPunct="1">
        <a:lnSpc>
          <a:spcPct val="80000"/>
        </a:lnSpc>
        <a:spcBef>
          <a:spcPct val="0"/>
        </a:spcBef>
        <a:buNone/>
        <a:defRPr sz="72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FontTx/>
        <a:buNone/>
        <a:defRPr sz="32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1270073" indent="-48849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75000"/>
        <a:buFont typeface="Arial"/>
        <a:buChar char="•"/>
        <a:defRPr sz="32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2020367" indent="-45720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60000"/>
        <a:buFont typeface="Wingdings" charset="2"/>
        <a:buChar char="§"/>
        <a:defRPr sz="3200" kern="1200" baseline="0">
          <a:solidFill>
            <a:schemeClr val="accent5"/>
          </a:solidFill>
          <a:latin typeface="+mn-lt"/>
          <a:ea typeface="+mn-ea"/>
          <a:cs typeface="+mn-cs"/>
        </a:defRPr>
      </a:lvl3pPr>
      <a:lvl4pPr marL="2735542" indent="-390792" algn="l" defTabSz="781583" rtl="0" eaLnBrk="1" latinLnBrk="0" hangingPunct="1">
        <a:lnSpc>
          <a:spcPct val="120000"/>
        </a:lnSpc>
        <a:spcBef>
          <a:spcPct val="20000"/>
        </a:spcBef>
        <a:buClr>
          <a:schemeClr val="accent2"/>
        </a:buClr>
        <a:buSzPct val="90000"/>
        <a:buFont typeface="Arial"/>
        <a:buChar char="–"/>
        <a:defRPr sz="21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3517125" indent="-390792" algn="l" defTabSz="781583" rtl="0" eaLnBrk="1" latinLnBrk="0" hangingPunct="1">
        <a:spcBef>
          <a:spcPct val="20000"/>
        </a:spcBef>
        <a:buFont typeface="Arial"/>
        <a:buChar char="»"/>
        <a:defRPr sz="34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429870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6pPr>
      <a:lvl7pPr marL="5080292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7pPr>
      <a:lvl8pPr marL="5861876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8pPr>
      <a:lvl9pPr marL="664345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81583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5631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34475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12633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0791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8950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7108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2526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Prolog Syntax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99082" y="8572491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066FC2A-FD98-8441-A9FE-75E9C94961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Prolog syntax and data objects</a:t>
            </a:r>
          </a:p>
        </p:txBody>
      </p:sp>
    </p:spTree>
    <p:extLst>
      <p:ext uri="{BB962C8B-B14F-4D97-AF65-F5344CB8AC3E}">
        <p14:creationId xmlns:p14="http://schemas.microsoft.com/office/powerpoint/2010/main" val="357303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578521"/>
          </a:xfrm>
        </p:spPr>
        <p:txBody>
          <a:bodyPr/>
          <a:lstStyle/>
          <a:p>
            <a:r>
              <a:rPr lang="en-US" dirty="0"/>
              <a:t>Weekly Outcomes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812881" y="1902941"/>
            <a:ext cx="14904913" cy="6203091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Become more effective with Prolog syntax and data structures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Explain Prolog Matching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696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578521"/>
          </a:xfrm>
        </p:spPr>
        <p:txBody>
          <a:bodyPr/>
          <a:lstStyle/>
          <a:p>
            <a:r>
              <a:rPr lang="en-US" dirty="0"/>
              <a:t>Lesson Overview (Agenda)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812881" y="1902941"/>
            <a:ext cx="14904913" cy="6203091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In the following lesson, we will explore:</a:t>
            </a:r>
          </a:p>
          <a:p>
            <a:pPr marL="385763" indent="-385763">
              <a:buFont typeface="+mj-lt"/>
              <a:buAutoNum type="arabicPeriod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Prolog Syntax</a:t>
            </a:r>
          </a:p>
          <a:p>
            <a:pPr marL="385763" indent="-385763">
              <a:buFont typeface="+mj-lt"/>
              <a:buAutoNum type="arabicPeriod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Prolog data structures</a:t>
            </a:r>
          </a:p>
          <a:p>
            <a:pPr marL="385763" indent="-385763">
              <a:buFont typeface="+mj-lt"/>
              <a:buAutoNum type="arabicPeriod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Working with Prolog lists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758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  <a:tabLst>
                <a:tab pos="1762716" algn="l"/>
              </a:tabLst>
            </a:pPr>
            <a:r>
              <a:rPr dirty="0"/>
              <a:t>DATA	OBJECTS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84464" y="2166789"/>
            <a:ext cx="2224193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spc="-7" dirty="0">
                <a:latin typeface="Arial"/>
                <a:cs typeface="Arial"/>
              </a:rPr>
              <a:t>data</a:t>
            </a:r>
            <a:r>
              <a:rPr sz="3200" spc="-7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objects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89192" y="3922438"/>
            <a:ext cx="2608580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spc="-7" dirty="0">
                <a:latin typeface="Arial"/>
                <a:cs typeface="Arial"/>
              </a:rPr>
              <a:t>simple</a:t>
            </a:r>
            <a:r>
              <a:rPr sz="3200" spc="-5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objects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38129" y="3922438"/>
            <a:ext cx="181694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spc="-7" dirty="0">
                <a:latin typeface="Arial"/>
                <a:cs typeface="Arial"/>
              </a:rPr>
              <a:t>structures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54751" y="5678423"/>
            <a:ext cx="1772073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spc="-7" dirty="0">
                <a:latin typeface="Arial"/>
                <a:cs typeface="Arial"/>
              </a:rPr>
              <a:t>constants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03817" y="5678423"/>
            <a:ext cx="1658620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spc="-7" dirty="0">
                <a:latin typeface="Arial"/>
                <a:cs typeface="Arial"/>
              </a:rPr>
              <a:t>variables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20989" y="7434071"/>
            <a:ext cx="1139613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spc="-7" dirty="0">
                <a:latin typeface="Arial"/>
                <a:cs typeface="Arial"/>
              </a:rPr>
              <a:t>ato</a:t>
            </a:r>
            <a:r>
              <a:rPr sz="3200" spc="-20" dirty="0">
                <a:latin typeface="Arial"/>
                <a:cs typeface="Arial"/>
              </a:rPr>
              <a:t>m</a:t>
            </a:r>
            <a:r>
              <a:rPr sz="3200" spc="-7" dirty="0">
                <a:latin typeface="Arial"/>
                <a:cs typeface="Arial"/>
              </a:rPr>
              <a:t>s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23497" y="7434071"/>
            <a:ext cx="161374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spc="-7" dirty="0">
                <a:latin typeface="Arial"/>
                <a:cs typeface="Arial"/>
              </a:rPr>
              <a:t>num</a:t>
            </a:r>
            <a:r>
              <a:rPr sz="3200" spc="-20" dirty="0">
                <a:latin typeface="Arial"/>
                <a:cs typeface="Arial"/>
              </a:rPr>
              <a:t>b</a:t>
            </a:r>
            <a:r>
              <a:rPr sz="3200" spc="-7" dirty="0">
                <a:latin typeface="Arial"/>
                <a:cs typeface="Arial"/>
              </a:rPr>
              <a:t>ers</a:t>
            </a:r>
            <a:endParaRPr sz="32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265195" y="2844801"/>
            <a:ext cx="959273" cy="959273"/>
          </a:xfrm>
          <a:custGeom>
            <a:avLst/>
            <a:gdLst/>
            <a:ahLst/>
            <a:cxnLst/>
            <a:rect l="l" t="t" r="r" b="b"/>
            <a:pathLst>
              <a:path w="719454" h="719455">
                <a:moveTo>
                  <a:pt x="719201" y="0"/>
                </a:moveTo>
                <a:lnTo>
                  <a:pt x="0" y="71907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4133"/>
          </a:p>
        </p:txBody>
      </p:sp>
      <p:sp>
        <p:nvSpPr>
          <p:cNvPr id="11" name="object 11"/>
          <p:cNvSpPr/>
          <p:nvPr/>
        </p:nvSpPr>
        <p:spPr>
          <a:xfrm>
            <a:off x="5633330" y="4572001"/>
            <a:ext cx="959273" cy="959273"/>
          </a:xfrm>
          <a:custGeom>
            <a:avLst/>
            <a:gdLst/>
            <a:ahLst/>
            <a:cxnLst/>
            <a:rect l="l" t="t" r="r" b="b"/>
            <a:pathLst>
              <a:path w="719454" h="719454">
                <a:moveTo>
                  <a:pt x="719074" y="0"/>
                </a:moveTo>
                <a:lnTo>
                  <a:pt x="0" y="71907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4133"/>
          </a:p>
        </p:txBody>
      </p:sp>
      <p:sp>
        <p:nvSpPr>
          <p:cNvPr id="12" name="object 12"/>
          <p:cNvSpPr/>
          <p:nvPr/>
        </p:nvSpPr>
        <p:spPr>
          <a:xfrm>
            <a:off x="4096628" y="6396568"/>
            <a:ext cx="959273" cy="959273"/>
          </a:xfrm>
          <a:custGeom>
            <a:avLst/>
            <a:gdLst/>
            <a:ahLst/>
            <a:cxnLst/>
            <a:rect l="l" t="t" r="r" b="b"/>
            <a:pathLst>
              <a:path w="719455" h="719454">
                <a:moveTo>
                  <a:pt x="719074" y="0"/>
                </a:moveTo>
                <a:lnTo>
                  <a:pt x="0" y="71920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4133"/>
          </a:p>
        </p:txBody>
      </p:sp>
      <p:sp>
        <p:nvSpPr>
          <p:cNvPr id="13" name="object 13"/>
          <p:cNvSpPr/>
          <p:nvPr/>
        </p:nvSpPr>
        <p:spPr>
          <a:xfrm>
            <a:off x="9377627" y="2844801"/>
            <a:ext cx="1056640" cy="1054100"/>
          </a:xfrm>
          <a:custGeom>
            <a:avLst/>
            <a:gdLst/>
            <a:ahLst/>
            <a:cxnLst/>
            <a:rect l="l" t="t" r="r" b="b"/>
            <a:pathLst>
              <a:path w="792479" h="790575">
                <a:moveTo>
                  <a:pt x="0" y="0"/>
                </a:moveTo>
                <a:lnTo>
                  <a:pt x="792226" y="790575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4133"/>
          </a:p>
        </p:txBody>
      </p:sp>
      <p:sp>
        <p:nvSpPr>
          <p:cNvPr id="14" name="object 14"/>
          <p:cNvSpPr/>
          <p:nvPr/>
        </p:nvSpPr>
        <p:spPr>
          <a:xfrm>
            <a:off x="5921195" y="6396567"/>
            <a:ext cx="1056640" cy="1054100"/>
          </a:xfrm>
          <a:custGeom>
            <a:avLst/>
            <a:gdLst/>
            <a:ahLst/>
            <a:cxnLst/>
            <a:rect l="l" t="t" r="r" b="b"/>
            <a:pathLst>
              <a:path w="792479" h="790575">
                <a:moveTo>
                  <a:pt x="0" y="0"/>
                </a:moveTo>
                <a:lnTo>
                  <a:pt x="792099" y="79057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4133"/>
          </a:p>
        </p:txBody>
      </p:sp>
      <p:sp>
        <p:nvSpPr>
          <p:cNvPr id="15" name="object 15"/>
          <p:cNvSpPr/>
          <p:nvPr/>
        </p:nvSpPr>
        <p:spPr>
          <a:xfrm>
            <a:off x="7648395" y="4667165"/>
            <a:ext cx="1056640" cy="1054100"/>
          </a:xfrm>
          <a:custGeom>
            <a:avLst/>
            <a:gdLst/>
            <a:ahLst/>
            <a:cxnLst/>
            <a:rect l="l" t="t" r="r" b="b"/>
            <a:pathLst>
              <a:path w="792479" h="790575">
                <a:moveTo>
                  <a:pt x="0" y="0"/>
                </a:moveTo>
                <a:lnTo>
                  <a:pt x="792099" y="79057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4133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2881" y="1058470"/>
            <a:ext cx="9475914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/>
              <a:t>SYNTAX</a:t>
            </a:r>
            <a:r>
              <a:rPr spc="-47" dirty="0"/>
              <a:t> </a:t>
            </a:r>
            <a:r>
              <a:rPr dirty="0"/>
              <a:t>FOR</a:t>
            </a:r>
            <a:r>
              <a:rPr spc="-40" dirty="0"/>
              <a:t> </a:t>
            </a:r>
            <a:r>
              <a:t>DATA</a:t>
            </a:r>
            <a:r>
              <a:rPr spc="-47"/>
              <a:t> </a:t>
            </a:r>
            <a:r>
              <a:t>OBJEC</a:t>
            </a:r>
            <a:r>
              <a:rPr lang="en-US"/>
              <a:t>T</a:t>
            </a:r>
            <a:r>
              <a:t>S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747381" y="2166789"/>
            <a:ext cx="9957645" cy="10019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74121" marR="6773" indent="-457189">
              <a:spcBef>
                <a:spcPts val="133"/>
              </a:spcBef>
              <a:buClr>
                <a:srgbClr val="FF3300"/>
              </a:buClr>
              <a:buSzPct val="129166"/>
              <a:buChar char="•"/>
              <a:tabLst>
                <a:tab pos="473275" algn="l"/>
                <a:tab pos="474121" algn="l"/>
              </a:tabLst>
            </a:pPr>
            <a:r>
              <a:rPr sz="3200" dirty="0">
                <a:latin typeface="Arial"/>
                <a:cs typeface="Arial"/>
              </a:rPr>
              <a:t>Type</a:t>
            </a:r>
            <a:r>
              <a:rPr sz="3200" spc="-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of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object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always</a:t>
            </a:r>
            <a:r>
              <a:rPr sz="3200" spc="2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recognisable</a:t>
            </a:r>
            <a:r>
              <a:rPr sz="3200" spc="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from</a:t>
            </a:r>
            <a:r>
              <a:rPr sz="3200" spc="-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its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syntactic </a:t>
            </a:r>
            <a:r>
              <a:rPr sz="3200" spc="-86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2881" y="1058471"/>
            <a:ext cx="9475914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en-US" spc="-7" dirty="0"/>
              <a:t>Atom Syntax (3 forms)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747381" y="2069252"/>
            <a:ext cx="8770620" cy="454250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801773" marR="6773" indent="-785687">
              <a:lnSpc>
                <a:spcPct val="120000"/>
              </a:lnSpc>
              <a:spcBef>
                <a:spcPts val="133"/>
              </a:spcBef>
              <a:tabLst>
                <a:tab pos="737428" algn="l"/>
                <a:tab pos="2971726" algn="l"/>
              </a:tabLst>
            </a:pPr>
            <a:r>
              <a:rPr sz="3200" dirty="0">
                <a:latin typeface="Arial"/>
                <a:cs typeface="Arial"/>
              </a:rPr>
              <a:t>(1)	Strings </a:t>
            </a:r>
            <a:r>
              <a:rPr sz="3200" spc="-7" dirty="0">
                <a:latin typeface="Arial"/>
                <a:cs typeface="Arial"/>
              </a:rPr>
              <a:t>of letters, digits, and </a:t>
            </a:r>
            <a:r>
              <a:rPr sz="3200" dirty="0">
                <a:latin typeface="Arial"/>
                <a:cs typeface="Arial"/>
              </a:rPr>
              <a:t>“_”, starting </a:t>
            </a:r>
            <a:r>
              <a:rPr sz="3200" spc="-7" dirty="0">
                <a:latin typeface="Arial"/>
                <a:cs typeface="Arial"/>
              </a:rPr>
              <a:t>with </a:t>
            </a:r>
            <a:r>
              <a:rPr sz="3200" spc="-87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lowercase	letter:</a:t>
            </a:r>
            <a:endParaRPr sz="3200" dirty="0">
              <a:latin typeface="Arial"/>
              <a:cs typeface="Arial"/>
            </a:endParaRPr>
          </a:p>
          <a:p>
            <a:pPr marL="801773" marR="380990" indent="112604">
              <a:lnSpc>
                <a:spcPct val="240000"/>
              </a:lnSpc>
              <a:tabLst>
                <a:tab pos="2240224" algn="l"/>
                <a:tab pos="2853195" algn="l"/>
                <a:tab pos="4019026" algn="l"/>
                <a:tab pos="6007796" algn="l"/>
                <a:tab pos="6062828" algn="l"/>
              </a:tabLst>
            </a:pPr>
            <a:r>
              <a:rPr sz="3200" dirty="0">
                <a:latin typeface="Arial"/>
                <a:cs typeface="Arial"/>
              </a:rPr>
              <a:t>x	</a:t>
            </a:r>
            <a:r>
              <a:rPr sz="3200" spc="-7" dirty="0">
                <a:latin typeface="Arial"/>
                <a:cs typeface="Arial"/>
              </a:rPr>
              <a:t>x15	x_15	aBC_CBa7 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alpha_beta_algorithm		taxi_35 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pet</a:t>
            </a:r>
            <a:r>
              <a:rPr sz="3200" spc="-20" dirty="0">
                <a:latin typeface="Arial"/>
                <a:cs typeface="Arial"/>
              </a:rPr>
              <a:t>e</a:t>
            </a:r>
            <a:r>
              <a:rPr sz="3200" dirty="0">
                <a:latin typeface="Arial"/>
                <a:cs typeface="Arial"/>
              </a:rPr>
              <a:t>r		</a:t>
            </a:r>
            <a:r>
              <a:rPr sz="3200" spc="-13" dirty="0">
                <a:latin typeface="Arial"/>
                <a:cs typeface="Arial"/>
              </a:rPr>
              <a:t>m</a:t>
            </a:r>
            <a:r>
              <a:rPr sz="3200" spc="-7" dirty="0">
                <a:latin typeface="Arial"/>
                <a:cs typeface="Arial"/>
              </a:rPr>
              <a:t>issJones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7" dirty="0">
                <a:latin typeface="Arial"/>
                <a:cs typeface="Arial"/>
              </a:rPr>
              <a:t>miss_Jo</a:t>
            </a:r>
            <a:r>
              <a:rPr sz="3200" spc="-20" dirty="0">
                <a:latin typeface="Arial"/>
                <a:cs typeface="Arial"/>
              </a:rPr>
              <a:t>n</a:t>
            </a:r>
            <a:r>
              <a:rPr sz="3200" spc="-7" dirty="0">
                <a:latin typeface="Arial"/>
                <a:cs typeface="Arial"/>
              </a:rPr>
              <a:t>es2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2881" y="1058470"/>
            <a:ext cx="9475914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/>
              <a:t>A</a:t>
            </a:r>
            <a:r>
              <a:rPr lang="en-US" dirty="0"/>
              <a:t>tom Syntax (cont'd)</a:t>
            </a:r>
            <a:endParaRPr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1AC3A3D-3EE5-A64F-A498-5037530348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2747381" y="2166788"/>
            <a:ext cx="5748020" cy="293084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spc="-7" dirty="0">
                <a:latin typeface="Arial"/>
                <a:cs typeface="Arial"/>
              </a:rPr>
              <a:t>(2)</a:t>
            </a:r>
            <a:r>
              <a:rPr sz="3200" spc="-1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Strings</a:t>
            </a:r>
            <a:r>
              <a:rPr sz="3200" spc="-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of</a:t>
            </a:r>
            <a:r>
              <a:rPr sz="3200" spc="-7" dirty="0">
                <a:latin typeface="Arial"/>
                <a:cs typeface="Arial"/>
              </a:rPr>
              <a:t> special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characters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7"/>
              </a:spcBef>
            </a:pPr>
            <a:endParaRPr sz="4667">
              <a:latin typeface="Arial"/>
              <a:cs typeface="Arial"/>
            </a:endParaRPr>
          </a:p>
          <a:p>
            <a:pPr marL="167636" algn="ctr">
              <a:tabLst>
                <a:tab pos="1821981" algn="l"/>
                <a:tab pos="4003787" algn="l"/>
              </a:tabLst>
            </a:pPr>
            <a:r>
              <a:rPr sz="3200" spc="-7" dirty="0">
                <a:latin typeface="Arial"/>
                <a:cs typeface="Arial"/>
              </a:rPr>
              <a:t>---&gt;	</a:t>
            </a:r>
            <a:r>
              <a:rPr sz="3200" dirty="0">
                <a:latin typeface="Arial"/>
                <a:cs typeface="Arial"/>
              </a:rPr>
              <a:t>&lt;==&gt;	&lt;&lt;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7"/>
              </a:spcBef>
            </a:pPr>
            <a:endParaRPr sz="4667">
              <a:latin typeface="Arial"/>
              <a:cs typeface="Arial"/>
            </a:endParaRPr>
          </a:p>
          <a:p>
            <a:pPr marL="187109" algn="ctr">
              <a:spcBef>
                <a:spcPts val="7"/>
              </a:spcBef>
              <a:tabLst>
                <a:tab pos="860192" algn="l"/>
                <a:tab pos="1770336" algn="l"/>
                <a:tab pos="2680480" algn="l"/>
                <a:tab pos="3478866" algn="l"/>
                <a:tab pos="4627764" algn="l"/>
              </a:tabLst>
            </a:pPr>
            <a:r>
              <a:rPr sz="3200" dirty="0">
                <a:latin typeface="Arial"/>
                <a:cs typeface="Arial"/>
              </a:rPr>
              <a:t>.	&lt;	&gt;	+	++	!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34313" y="4507654"/>
            <a:ext cx="1271692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801773" algn="l"/>
              </a:tabLst>
            </a:pPr>
            <a:r>
              <a:rPr sz="3200" dirty="0">
                <a:latin typeface="Arial"/>
                <a:cs typeface="Arial"/>
              </a:rPr>
              <a:t>..	.::.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53714" y="4507654"/>
            <a:ext cx="1397000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1153130" algn="l"/>
              </a:tabLst>
            </a:pPr>
            <a:r>
              <a:rPr sz="3200" dirty="0">
                <a:latin typeface="Arial"/>
                <a:cs typeface="Arial"/>
              </a:rPr>
              <a:t>::=	[]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2881" y="1058470"/>
            <a:ext cx="9475914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/>
              <a:t>A</a:t>
            </a:r>
            <a:r>
              <a:rPr lang="en-US" dirty="0"/>
              <a:t>tom Syntax (cont'd)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747382" y="2166788"/>
            <a:ext cx="6623473" cy="172019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spc="-7" dirty="0">
                <a:latin typeface="Arial"/>
                <a:cs typeface="Arial"/>
              </a:rPr>
              <a:t>(3)</a:t>
            </a:r>
            <a:r>
              <a:rPr sz="3200" spc="-1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Strings</a:t>
            </a:r>
            <a:r>
              <a:rPr sz="3200" spc="-7" dirty="0">
                <a:latin typeface="Arial"/>
                <a:cs typeface="Arial"/>
              </a:rPr>
              <a:t> in single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quotes</a:t>
            </a:r>
            <a:endParaRPr sz="3200" dirty="0">
              <a:latin typeface="Arial"/>
              <a:cs typeface="Arial"/>
            </a:endParaRPr>
          </a:p>
          <a:p>
            <a:pPr>
              <a:spcBef>
                <a:spcPts val="7"/>
              </a:spcBef>
            </a:pPr>
            <a:endParaRPr sz="4667" dirty="0">
              <a:latin typeface="Arial"/>
              <a:cs typeface="Arial"/>
            </a:endParaRPr>
          </a:p>
          <a:p>
            <a:pPr marL="465655">
              <a:tabLst>
                <a:tab pos="2158946" algn="l"/>
                <a:tab pos="3760799" algn="l"/>
              </a:tabLst>
            </a:pPr>
            <a:r>
              <a:rPr lang="en-US" sz="3200" spc="-127" dirty="0">
                <a:latin typeface="Arial"/>
                <a:cs typeface="Arial"/>
              </a:rPr>
              <a:t>'</a:t>
            </a:r>
            <a:r>
              <a:rPr sz="3200" spc="-127" dirty="0">
                <a:latin typeface="Arial"/>
                <a:cs typeface="Arial"/>
              </a:rPr>
              <a:t>X_35</a:t>
            </a:r>
            <a:r>
              <a:rPr lang="en-US" sz="3200" spc="-127" dirty="0">
                <a:latin typeface="Arial"/>
                <a:cs typeface="Arial"/>
              </a:rPr>
              <a:t>'</a:t>
            </a:r>
            <a:r>
              <a:rPr sz="3200" spc="-127" dirty="0">
                <a:latin typeface="Arial"/>
                <a:cs typeface="Arial"/>
              </a:rPr>
              <a:t>	</a:t>
            </a:r>
            <a:r>
              <a:rPr lang="en-US" sz="3200" spc="-113" dirty="0">
                <a:latin typeface="Arial"/>
                <a:cs typeface="Arial"/>
              </a:rPr>
              <a:t>'</a:t>
            </a:r>
            <a:r>
              <a:rPr sz="3200" spc="-113" dirty="0">
                <a:latin typeface="Arial"/>
                <a:cs typeface="Arial"/>
              </a:rPr>
              <a:t>Peter</a:t>
            </a:r>
            <a:r>
              <a:rPr lang="en-US" sz="3200" spc="-113" dirty="0">
                <a:latin typeface="Arial"/>
                <a:cs typeface="Arial"/>
              </a:rPr>
              <a:t>'</a:t>
            </a:r>
            <a:r>
              <a:rPr sz="3200" spc="-113" dirty="0">
                <a:latin typeface="Arial"/>
                <a:cs typeface="Arial"/>
              </a:rPr>
              <a:t>	</a:t>
            </a:r>
            <a:r>
              <a:rPr lang="en-US" sz="3200" spc="-53" dirty="0">
                <a:latin typeface="Arial"/>
                <a:cs typeface="Arial"/>
              </a:rPr>
              <a:t>'The Beatles'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2881" y="1058470"/>
            <a:ext cx="9475914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  <a:tabLst>
                <a:tab pos="2485751" algn="l"/>
                <a:tab pos="3930975" algn="l"/>
              </a:tabLst>
            </a:pPr>
            <a:r>
              <a:rPr dirty="0"/>
              <a:t>S</a:t>
            </a:r>
            <a:r>
              <a:rPr lang="en-US" dirty="0"/>
              <a:t>yntax for </a:t>
            </a:r>
            <a:r>
              <a:rPr lang="en-US" spc="-7" dirty="0"/>
              <a:t>Numbers</a:t>
            </a:r>
            <a:endParaRPr spc="-7" dirty="0"/>
          </a:p>
        </p:txBody>
      </p:sp>
      <p:sp>
        <p:nvSpPr>
          <p:cNvPr id="3" name="object 3"/>
          <p:cNvSpPr txBox="1"/>
          <p:nvPr/>
        </p:nvSpPr>
        <p:spPr>
          <a:xfrm>
            <a:off x="2747381" y="2166788"/>
            <a:ext cx="7107767" cy="41414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74121" indent="-457189">
              <a:spcBef>
                <a:spcPts val="133"/>
              </a:spcBef>
              <a:buClr>
                <a:srgbClr val="FF3300"/>
              </a:buClr>
              <a:buSzPct val="129166"/>
              <a:buChar char="•"/>
              <a:tabLst>
                <a:tab pos="473275" algn="l"/>
                <a:tab pos="474121" algn="l"/>
              </a:tabLst>
            </a:pPr>
            <a:r>
              <a:rPr sz="3200" spc="-7" dirty="0">
                <a:latin typeface="Arial"/>
                <a:cs typeface="Arial"/>
              </a:rPr>
              <a:t>Integers</a:t>
            </a:r>
            <a:endParaRPr sz="3200" dirty="0">
              <a:latin typeface="Arial"/>
              <a:cs typeface="Arial"/>
            </a:endParaRPr>
          </a:p>
          <a:p>
            <a:pPr>
              <a:spcBef>
                <a:spcPts val="7"/>
              </a:spcBef>
              <a:buClr>
                <a:srgbClr val="FF3300"/>
              </a:buClr>
              <a:buFont typeface="Arial"/>
              <a:buChar char="•"/>
            </a:pPr>
            <a:endParaRPr sz="4667" dirty="0">
              <a:latin typeface="Arial"/>
              <a:cs typeface="Arial"/>
            </a:endParaRPr>
          </a:p>
          <a:p>
            <a:pPr marL="1026134">
              <a:tabLst>
                <a:tab pos="2151326" algn="l"/>
                <a:tab pos="3842077" algn="l"/>
                <a:tab pos="4741215" algn="l"/>
              </a:tabLst>
            </a:pPr>
            <a:r>
              <a:rPr sz="3200" spc="-7" dirty="0">
                <a:latin typeface="Arial"/>
                <a:cs typeface="Arial"/>
              </a:rPr>
              <a:t>1	1313	0	</a:t>
            </a:r>
            <a:r>
              <a:rPr sz="3200" spc="-13" dirty="0">
                <a:latin typeface="Arial"/>
                <a:cs typeface="Arial"/>
              </a:rPr>
              <a:t>-55</a:t>
            </a:r>
            <a:endParaRPr sz="3200" dirty="0">
              <a:latin typeface="Arial"/>
              <a:cs typeface="Arial"/>
            </a:endParaRPr>
          </a:p>
          <a:p>
            <a:pPr>
              <a:spcBef>
                <a:spcPts val="7"/>
              </a:spcBef>
            </a:pPr>
            <a:endParaRPr sz="4667" dirty="0">
              <a:latin typeface="Arial"/>
              <a:cs typeface="Arial"/>
            </a:endParaRPr>
          </a:p>
          <a:p>
            <a:pPr marL="474121" indent="-457189">
              <a:spcBef>
                <a:spcPts val="7"/>
              </a:spcBef>
              <a:buClr>
                <a:srgbClr val="FF3300"/>
              </a:buClr>
              <a:buSzPct val="129166"/>
              <a:buChar char="•"/>
              <a:tabLst>
                <a:tab pos="473275" algn="l"/>
                <a:tab pos="474121" algn="l"/>
              </a:tabLst>
            </a:pPr>
            <a:r>
              <a:rPr sz="3200" spc="-7" dirty="0">
                <a:latin typeface="Arial"/>
                <a:cs typeface="Arial"/>
              </a:rPr>
              <a:t>Real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numbers</a:t>
            </a:r>
            <a:r>
              <a:rPr sz="3200" spc="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(floating</a:t>
            </a:r>
            <a:r>
              <a:rPr sz="3200" spc="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point)</a:t>
            </a:r>
            <a:endParaRPr sz="3200" dirty="0">
              <a:latin typeface="Arial"/>
              <a:cs typeface="Arial"/>
            </a:endParaRPr>
          </a:p>
          <a:p>
            <a:pPr>
              <a:spcBef>
                <a:spcPts val="7"/>
              </a:spcBef>
            </a:pPr>
            <a:endParaRPr sz="4667" dirty="0">
              <a:latin typeface="Arial"/>
              <a:cs typeface="Arial"/>
            </a:endParaRPr>
          </a:p>
          <a:p>
            <a:pPr marL="1026134">
              <a:spcBef>
                <a:spcPts val="7"/>
              </a:spcBef>
              <a:tabLst>
                <a:tab pos="3052157" algn="l"/>
                <a:tab pos="5442236" algn="l"/>
              </a:tabLst>
            </a:pPr>
            <a:r>
              <a:rPr sz="3200" spc="-7" dirty="0">
                <a:latin typeface="Arial"/>
                <a:cs typeface="Arial"/>
              </a:rPr>
              <a:t>3.14	-0.0</a:t>
            </a:r>
            <a:r>
              <a:rPr sz="3200" spc="-20" dirty="0">
                <a:latin typeface="Arial"/>
                <a:cs typeface="Arial"/>
              </a:rPr>
              <a:t>0</a:t>
            </a:r>
            <a:r>
              <a:rPr sz="3200" spc="-7" dirty="0">
                <a:latin typeface="Arial"/>
                <a:cs typeface="Arial"/>
              </a:rPr>
              <a:t>45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7" dirty="0">
                <a:latin typeface="Arial"/>
                <a:cs typeface="Arial"/>
              </a:rPr>
              <a:t>1.3</a:t>
            </a:r>
            <a:r>
              <a:rPr sz="3200" spc="-20" dirty="0">
                <a:latin typeface="Arial"/>
                <a:cs typeface="Arial"/>
              </a:rPr>
              <a:t>4</a:t>
            </a:r>
            <a:r>
              <a:rPr sz="3200" dirty="0">
                <a:latin typeface="Arial"/>
                <a:cs typeface="Arial"/>
              </a:rPr>
              <a:t>E</a:t>
            </a:r>
            <a:r>
              <a:rPr sz="3200" spc="-7" dirty="0">
                <a:latin typeface="Arial"/>
                <a:cs typeface="Arial"/>
              </a:rPr>
              <a:t>-21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09730" y="5678423"/>
            <a:ext cx="1635760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spc="-7" dirty="0">
                <a:latin typeface="Arial"/>
                <a:cs typeface="Arial"/>
              </a:rPr>
              <a:t>1.3</a:t>
            </a:r>
            <a:r>
              <a:rPr sz="3200" spc="-20" dirty="0">
                <a:latin typeface="Arial"/>
                <a:cs typeface="Arial"/>
              </a:rPr>
              <a:t>4</a:t>
            </a:r>
            <a:r>
              <a:rPr sz="3200" spc="-13" dirty="0">
                <a:latin typeface="Arial"/>
                <a:cs typeface="Arial"/>
              </a:rPr>
              <a:t>e</a:t>
            </a:r>
            <a:r>
              <a:rPr sz="3200" spc="-7" dirty="0">
                <a:latin typeface="Arial"/>
                <a:cs typeface="Arial"/>
              </a:rPr>
              <a:t>-</a:t>
            </a:r>
            <a:r>
              <a:rPr sz="3200" spc="-13" dirty="0">
                <a:latin typeface="Arial"/>
                <a:cs typeface="Arial"/>
              </a:rPr>
              <a:t>21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9026" y="537586"/>
            <a:ext cx="9475914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  <a:tabLst>
                <a:tab pos="2485751" algn="l"/>
                <a:tab pos="3930975" algn="l"/>
              </a:tabLst>
            </a:pPr>
            <a:r>
              <a:rPr dirty="0"/>
              <a:t>S</a:t>
            </a:r>
            <a:r>
              <a:rPr lang="en-US" dirty="0"/>
              <a:t>yntax for Variables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26399" y="1407670"/>
            <a:ext cx="13434728" cy="648053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74121" marR="6773" indent="-457189">
              <a:spcBef>
                <a:spcPts val="133"/>
              </a:spcBef>
              <a:buClr>
                <a:srgbClr val="FF3300"/>
              </a:buClr>
              <a:buSzPct val="129166"/>
              <a:buChar char="•"/>
              <a:tabLst>
                <a:tab pos="473275" algn="l"/>
                <a:tab pos="474121" algn="l"/>
              </a:tabLst>
            </a:pPr>
            <a:r>
              <a:rPr sz="3200" dirty="0">
                <a:latin typeface="Arial"/>
                <a:cs typeface="Arial"/>
              </a:rPr>
              <a:t>Strings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of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letters,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digits,</a:t>
            </a:r>
            <a:r>
              <a:rPr sz="3200" spc="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and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underscores,</a:t>
            </a:r>
            <a:r>
              <a:rPr sz="3200" spc="3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starting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with </a:t>
            </a:r>
            <a:r>
              <a:rPr sz="3200" spc="-86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uppercase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letter</a:t>
            </a:r>
            <a:r>
              <a:rPr lang="en-US" sz="3200" dirty="0">
                <a:latin typeface="Arial"/>
                <a:cs typeface="Arial"/>
              </a:rPr>
              <a:t> or starting with underscore:</a:t>
            </a:r>
            <a:endParaRPr sz="3200" dirty="0">
              <a:latin typeface="Arial"/>
              <a:cs typeface="Arial"/>
            </a:endParaRPr>
          </a:p>
          <a:p>
            <a:pPr>
              <a:spcBef>
                <a:spcPts val="7"/>
              </a:spcBef>
              <a:buClr>
                <a:srgbClr val="FF3300"/>
              </a:buClr>
              <a:buFont typeface="Arial"/>
              <a:buChar char="•"/>
            </a:pPr>
            <a:endParaRPr sz="4667" dirty="0">
              <a:latin typeface="Arial"/>
              <a:cs typeface="Arial"/>
            </a:endParaRPr>
          </a:p>
          <a:p>
            <a:pPr marL="801773">
              <a:tabLst>
                <a:tab pos="1634872" algn="l"/>
                <a:tab pos="3552525" algn="l"/>
                <a:tab pos="5784282" algn="l"/>
              </a:tabLst>
            </a:pPr>
            <a:r>
              <a:rPr sz="3200" dirty="0">
                <a:latin typeface="Arial"/>
                <a:cs typeface="Arial"/>
              </a:rPr>
              <a:t>X	</a:t>
            </a:r>
            <a:r>
              <a:rPr sz="3200" spc="-7" dirty="0">
                <a:latin typeface="Arial"/>
                <a:cs typeface="Arial"/>
              </a:rPr>
              <a:t>Results	Object2B	</a:t>
            </a:r>
            <a:r>
              <a:rPr sz="3200" spc="-7" dirty="0" err="1">
                <a:latin typeface="Arial"/>
                <a:cs typeface="Arial"/>
              </a:rPr>
              <a:t>Participant_list</a:t>
            </a:r>
            <a:endParaRPr sz="4667" dirty="0">
              <a:latin typeface="Arial"/>
              <a:cs typeface="Arial"/>
            </a:endParaRPr>
          </a:p>
          <a:p>
            <a:pPr marL="801773">
              <a:spcBef>
                <a:spcPts val="7"/>
              </a:spcBef>
              <a:tabLst>
                <a:tab pos="2358754" algn="l"/>
              </a:tabLst>
            </a:pPr>
            <a:r>
              <a:rPr sz="3200" spc="-7" dirty="0">
                <a:latin typeface="Arial"/>
                <a:cs typeface="Arial"/>
              </a:rPr>
              <a:t>_x35	_335</a:t>
            </a:r>
            <a:endParaRPr sz="3200" dirty="0">
              <a:latin typeface="Arial"/>
              <a:cs typeface="Arial"/>
            </a:endParaRPr>
          </a:p>
          <a:p>
            <a:pPr>
              <a:spcBef>
                <a:spcPts val="7"/>
              </a:spcBef>
            </a:pPr>
            <a:endParaRPr sz="4667" dirty="0">
              <a:latin typeface="Arial"/>
              <a:cs typeface="Arial"/>
            </a:endParaRPr>
          </a:p>
          <a:p>
            <a:pPr marL="474121" indent="-457189">
              <a:spcBef>
                <a:spcPts val="7"/>
              </a:spcBef>
              <a:buClr>
                <a:srgbClr val="FF3300"/>
              </a:buClr>
              <a:buSzPct val="129166"/>
              <a:buFontTx/>
              <a:buChar char="•"/>
              <a:tabLst>
                <a:tab pos="473275" algn="l"/>
                <a:tab pos="474121" algn="l"/>
              </a:tabLst>
            </a:pPr>
            <a:r>
              <a:rPr lang="en-US" sz="3200" spc="-7" dirty="0">
                <a:cs typeface="Arial"/>
              </a:rPr>
              <a:t>Single underscore</a:t>
            </a:r>
            <a:r>
              <a:rPr lang="en-US" sz="3200" spc="33" dirty="0">
                <a:cs typeface="Arial"/>
              </a:rPr>
              <a:t> _ </a:t>
            </a:r>
            <a:r>
              <a:rPr lang="en-US" sz="3200" spc="-7" dirty="0">
                <a:cs typeface="Arial"/>
              </a:rPr>
              <a:t>the</a:t>
            </a:r>
            <a:r>
              <a:rPr lang="en-US" sz="3200" spc="7" dirty="0">
                <a:cs typeface="Arial"/>
              </a:rPr>
              <a:t> </a:t>
            </a:r>
            <a:r>
              <a:rPr lang="en-US" sz="3200" spc="-7" dirty="0">
                <a:cs typeface="Arial"/>
              </a:rPr>
              <a:t>anonymous</a:t>
            </a:r>
            <a:r>
              <a:rPr lang="en-US" sz="3200" spc="33" dirty="0">
                <a:cs typeface="Arial"/>
              </a:rPr>
              <a:t> </a:t>
            </a:r>
            <a:r>
              <a:rPr lang="en-US" sz="3200" spc="-7" dirty="0">
                <a:cs typeface="Arial"/>
              </a:rPr>
              <a:t>variable</a:t>
            </a:r>
            <a:endParaRPr lang="en-US" sz="3200" dirty="0">
              <a:cs typeface="Arial"/>
            </a:endParaRPr>
          </a:p>
          <a:p>
            <a:pPr marL="474121" indent="-457189">
              <a:spcBef>
                <a:spcPts val="7"/>
              </a:spcBef>
              <a:buClr>
                <a:srgbClr val="FF3300"/>
              </a:buClr>
              <a:buSzPct val="129166"/>
              <a:buChar char="•"/>
              <a:tabLst>
                <a:tab pos="473275" algn="l"/>
                <a:tab pos="474121" algn="l"/>
              </a:tabLst>
            </a:pPr>
            <a:r>
              <a:rPr sz="3200" spc="-7" dirty="0">
                <a:latin typeface="Arial"/>
                <a:cs typeface="Arial"/>
              </a:rPr>
              <a:t>Lexical</a:t>
            </a:r>
            <a:r>
              <a:rPr sz="3200" spc="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scope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of</a:t>
            </a:r>
            <a:r>
              <a:rPr sz="3200" spc="-7" dirty="0">
                <a:latin typeface="Arial"/>
                <a:cs typeface="Arial"/>
              </a:rPr>
              <a:t> variable</a:t>
            </a:r>
            <a:r>
              <a:rPr sz="3200" spc="2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names</a:t>
            </a:r>
            <a:r>
              <a:rPr sz="3200" spc="2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is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one</a:t>
            </a:r>
            <a:r>
              <a:rPr sz="3200" spc="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clause</a:t>
            </a:r>
            <a:endParaRPr lang="en-US" sz="3200" spc="-7" dirty="0">
              <a:latin typeface="Arial"/>
              <a:cs typeface="Arial"/>
            </a:endParaRPr>
          </a:p>
          <a:p>
            <a:pPr marL="1255704" lvl="1" indent="-457189">
              <a:spcBef>
                <a:spcPts val="7"/>
              </a:spcBef>
              <a:buClr>
                <a:srgbClr val="FF3300"/>
              </a:buClr>
              <a:buSzPct val="129166"/>
              <a:buChar char="•"/>
              <a:tabLst>
                <a:tab pos="473275" algn="l"/>
                <a:tab pos="474121" algn="l"/>
              </a:tabLst>
            </a:pPr>
            <a:r>
              <a:rPr lang="en-US" sz="3200" spc="-7" dirty="0">
                <a:latin typeface="Arial"/>
                <a:cs typeface="Arial"/>
              </a:rPr>
              <a:t>All instances of the same non-anonymous variable name in a clause must have the same binding (value)</a:t>
            </a:r>
            <a:endParaRPr sz="3200" dirty="0">
              <a:latin typeface="Arial"/>
              <a:cs typeface="Arial"/>
            </a:endParaRPr>
          </a:p>
          <a:p>
            <a:pPr marL="1255704" lvl="1" indent="-457189">
              <a:spcBef>
                <a:spcPts val="767"/>
              </a:spcBef>
              <a:buClr>
                <a:srgbClr val="FF3300"/>
              </a:buClr>
              <a:buSzPct val="129166"/>
              <a:buChar char="•"/>
              <a:tabLst>
                <a:tab pos="473275" algn="l"/>
                <a:tab pos="474121" algn="l"/>
              </a:tabLst>
            </a:pPr>
            <a:r>
              <a:rPr sz="3200" spc="-7" dirty="0">
                <a:latin typeface="Arial"/>
                <a:cs typeface="Arial"/>
              </a:rPr>
              <a:t>Each</a:t>
            </a:r>
            <a:r>
              <a:rPr sz="3200" dirty="0">
                <a:latin typeface="Arial"/>
                <a:cs typeface="Arial"/>
              </a:rPr>
              <a:t> </a:t>
            </a:r>
            <a:r>
              <a:rPr lang="en-US" sz="3200" spc="-7" dirty="0">
                <a:latin typeface="Arial"/>
                <a:cs typeface="Arial"/>
              </a:rPr>
              <a:t>instance</a:t>
            </a:r>
            <a:r>
              <a:rPr sz="3200" spc="2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of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lang="en-US" sz="3200" spc="-7" dirty="0">
                <a:latin typeface="Arial"/>
                <a:cs typeface="Arial"/>
              </a:rPr>
              <a:t>the anonymous variable in a clause can have the same or a different binding (value)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2881" y="1058470"/>
            <a:ext cx="9475914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/>
              <a:t>A</a:t>
            </a:r>
            <a:r>
              <a:rPr lang="en-US" dirty="0"/>
              <a:t>nonymous</a:t>
            </a:r>
            <a:r>
              <a:rPr spc="-120" dirty="0"/>
              <a:t> </a:t>
            </a:r>
            <a:r>
              <a:rPr lang="en-US" dirty="0"/>
              <a:t>Variable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747381" y="2069253"/>
            <a:ext cx="3471333" cy="415271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241294" marR="6773" indent="-225208">
              <a:lnSpc>
                <a:spcPct val="120000"/>
              </a:lnSpc>
              <a:spcBef>
                <a:spcPts val="133"/>
              </a:spcBef>
              <a:tabLst>
                <a:tab pos="3204553" algn="l"/>
              </a:tabLst>
            </a:pPr>
            <a:r>
              <a:rPr sz="3200" spc="-7" dirty="0">
                <a:latin typeface="Arial"/>
                <a:cs typeface="Arial"/>
              </a:rPr>
              <a:t>visible_block(</a:t>
            </a:r>
            <a:r>
              <a:rPr sz="3200" spc="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B)	</a:t>
            </a:r>
            <a:r>
              <a:rPr sz="3200" dirty="0">
                <a:latin typeface="Arial"/>
                <a:cs typeface="Arial"/>
              </a:rPr>
              <a:t>:-  </a:t>
            </a:r>
            <a:r>
              <a:rPr sz="3200" spc="-7" dirty="0">
                <a:latin typeface="Arial"/>
                <a:cs typeface="Arial"/>
              </a:rPr>
              <a:t>see(</a:t>
            </a:r>
            <a:r>
              <a:rPr sz="3200" spc="-1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B,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_,</a:t>
            </a:r>
            <a:r>
              <a:rPr sz="3200" spc="-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_).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7"/>
              </a:spcBef>
            </a:pPr>
            <a:endParaRPr sz="4667">
              <a:latin typeface="Arial"/>
              <a:cs typeface="Arial"/>
            </a:endParaRPr>
          </a:p>
          <a:p>
            <a:pPr marL="16933"/>
            <a:r>
              <a:rPr sz="3200" i="1" spc="-7" dirty="0">
                <a:latin typeface="Arial"/>
                <a:cs typeface="Arial"/>
              </a:rPr>
              <a:t>Equivalent to: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13"/>
              </a:spcBef>
            </a:pPr>
            <a:endParaRPr sz="4000">
              <a:latin typeface="Arial"/>
              <a:cs typeface="Arial"/>
            </a:endParaRPr>
          </a:p>
          <a:p>
            <a:pPr marL="241294" marR="6773" indent="-225208">
              <a:lnSpc>
                <a:spcPct val="120000"/>
              </a:lnSpc>
              <a:tabLst>
                <a:tab pos="3204553" algn="l"/>
              </a:tabLst>
            </a:pPr>
            <a:r>
              <a:rPr sz="3200" spc="-7" dirty="0">
                <a:latin typeface="Arial"/>
                <a:cs typeface="Arial"/>
              </a:rPr>
              <a:t>visible_block(</a:t>
            </a:r>
            <a:r>
              <a:rPr sz="3200" spc="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B)	</a:t>
            </a:r>
            <a:r>
              <a:rPr sz="3200" dirty="0">
                <a:latin typeface="Arial"/>
                <a:cs typeface="Arial"/>
              </a:rPr>
              <a:t>:-  </a:t>
            </a:r>
            <a:r>
              <a:rPr sz="3200" spc="-7" dirty="0">
                <a:latin typeface="Arial"/>
                <a:cs typeface="Arial"/>
              </a:rPr>
              <a:t>see(</a:t>
            </a:r>
            <a:r>
              <a:rPr sz="3200" spc="-1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B,</a:t>
            </a:r>
            <a:r>
              <a:rPr sz="3200" spc="-2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X,</a:t>
            </a:r>
            <a:r>
              <a:rPr sz="3200" spc="-2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Y).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2881" y="1058470"/>
            <a:ext cx="9475914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/>
              <a:t>S</a:t>
            </a:r>
            <a:r>
              <a:rPr lang="en-US" spc="-7" dirty="0"/>
              <a:t>tructures</a:t>
            </a:r>
            <a:endParaRPr spc="-7" dirty="0"/>
          </a:p>
        </p:txBody>
      </p:sp>
      <p:sp>
        <p:nvSpPr>
          <p:cNvPr id="3" name="object 3"/>
          <p:cNvSpPr txBox="1"/>
          <p:nvPr/>
        </p:nvSpPr>
        <p:spPr>
          <a:xfrm>
            <a:off x="2747381" y="2166788"/>
            <a:ext cx="9977120" cy="582400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74121" indent="-457189">
              <a:spcBef>
                <a:spcPts val="133"/>
              </a:spcBef>
              <a:buClr>
                <a:srgbClr val="FF3300"/>
              </a:buClr>
              <a:buSzPct val="129166"/>
              <a:buChar char="•"/>
              <a:tabLst>
                <a:tab pos="473275" algn="l"/>
                <a:tab pos="474121" algn="l"/>
              </a:tabLst>
            </a:pPr>
            <a:r>
              <a:rPr sz="3200" spc="-7" dirty="0">
                <a:latin typeface="Arial"/>
                <a:cs typeface="Arial"/>
              </a:rPr>
              <a:t>Structures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are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objects</a:t>
            </a:r>
            <a:r>
              <a:rPr sz="3200" spc="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that </a:t>
            </a:r>
            <a:r>
              <a:rPr sz="3200" spc="-7" dirty="0">
                <a:latin typeface="Arial"/>
                <a:cs typeface="Arial"/>
              </a:rPr>
              <a:t>have</a:t>
            </a:r>
            <a:r>
              <a:rPr sz="3200" spc="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several</a:t>
            </a:r>
            <a:r>
              <a:rPr sz="3200" spc="2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components</a:t>
            </a:r>
            <a:endParaRPr sz="3200">
              <a:latin typeface="Arial"/>
              <a:cs typeface="Arial"/>
            </a:endParaRPr>
          </a:p>
          <a:p>
            <a:pPr marL="474121" marR="117684" indent="-457189">
              <a:spcBef>
                <a:spcPts val="767"/>
              </a:spcBef>
              <a:buClr>
                <a:srgbClr val="FF3300"/>
              </a:buClr>
              <a:buSzPct val="129166"/>
              <a:buChar char="•"/>
              <a:tabLst>
                <a:tab pos="473275" algn="l"/>
                <a:tab pos="474121" algn="l"/>
              </a:tabLst>
            </a:pPr>
            <a:r>
              <a:rPr sz="3200" dirty="0">
                <a:latin typeface="Arial"/>
                <a:cs typeface="Arial"/>
              </a:rPr>
              <a:t>For</a:t>
            </a:r>
            <a:r>
              <a:rPr sz="3200" spc="-7" dirty="0">
                <a:latin typeface="Arial"/>
                <a:cs typeface="Arial"/>
              </a:rPr>
              <a:t> example:</a:t>
            </a:r>
            <a:r>
              <a:rPr sz="3200" spc="3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dates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are</a:t>
            </a:r>
            <a:r>
              <a:rPr sz="3200" spc="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structured</a:t>
            </a:r>
            <a:r>
              <a:rPr sz="3200" spc="2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objects</a:t>
            </a:r>
            <a:r>
              <a:rPr sz="3200" spc="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with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three </a:t>
            </a:r>
            <a:r>
              <a:rPr sz="3200" spc="-86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components</a:t>
            </a:r>
            <a:endParaRPr sz="3200">
              <a:latin typeface="Arial"/>
              <a:cs typeface="Arial"/>
            </a:endParaRPr>
          </a:p>
          <a:p>
            <a:pPr marL="474121" indent="-457189">
              <a:spcBef>
                <a:spcPts val="767"/>
              </a:spcBef>
              <a:buClr>
                <a:srgbClr val="FF3300"/>
              </a:buClr>
              <a:buSzPct val="129166"/>
              <a:buChar char="•"/>
              <a:tabLst>
                <a:tab pos="473275" algn="l"/>
                <a:tab pos="474121" algn="l"/>
              </a:tabLst>
            </a:pPr>
            <a:r>
              <a:rPr sz="3200" spc="-7" dirty="0">
                <a:latin typeface="Arial"/>
                <a:cs typeface="Arial"/>
              </a:rPr>
              <a:t>Date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17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June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2006</a:t>
            </a:r>
            <a:r>
              <a:rPr sz="3200" spc="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can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be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represented</a:t>
            </a:r>
            <a:r>
              <a:rPr sz="3200" spc="2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by</a:t>
            </a:r>
            <a:r>
              <a:rPr sz="3200" spc="20" dirty="0">
                <a:latin typeface="Arial"/>
                <a:cs typeface="Arial"/>
              </a:rPr>
              <a:t> </a:t>
            </a:r>
            <a:r>
              <a:rPr sz="3200" i="1" spc="-7" dirty="0">
                <a:latin typeface="Arial"/>
                <a:cs typeface="Arial"/>
              </a:rPr>
              <a:t>term</a:t>
            </a:r>
            <a:r>
              <a:rPr sz="3200" spc="-7" dirty="0">
                <a:latin typeface="Arial"/>
                <a:cs typeface="Arial"/>
              </a:rPr>
              <a:t>: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7"/>
              </a:spcBef>
              <a:buClr>
                <a:srgbClr val="FF3300"/>
              </a:buClr>
              <a:buFont typeface="Arial"/>
              <a:buChar char="•"/>
            </a:pPr>
            <a:endParaRPr sz="4667">
              <a:latin typeface="Arial"/>
              <a:cs typeface="Arial"/>
            </a:endParaRPr>
          </a:p>
          <a:p>
            <a:pPr marL="2037029">
              <a:spcBef>
                <a:spcPts val="7"/>
              </a:spcBef>
            </a:pPr>
            <a:r>
              <a:rPr sz="3200" spc="-7" dirty="0">
                <a:solidFill>
                  <a:srgbClr val="333399"/>
                </a:solidFill>
                <a:latin typeface="Arial"/>
                <a:cs typeface="Arial"/>
              </a:rPr>
              <a:t>date(</a:t>
            </a:r>
            <a:r>
              <a:rPr sz="3200" spc="-13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17,</a:t>
            </a:r>
            <a:r>
              <a:rPr sz="3200" spc="-13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spc="-7" dirty="0">
                <a:solidFill>
                  <a:srgbClr val="333399"/>
                </a:solidFill>
                <a:latin typeface="Arial"/>
                <a:cs typeface="Arial"/>
              </a:rPr>
              <a:t>june,</a:t>
            </a:r>
            <a:r>
              <a:rPr sz="3200" spc="-13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spc="-7" dirty="0">
                <a:solidFill>
                  <a:srgbClr val="333399"/>
                </a:solidFill>
                <a:latin typeface="Arial"/>
                <a:cs typeface="Arial"/>
              </a:rPr>
              <a:t>2006)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7"/>
              </a:spcBef>
            </a:pPr>
            <a:endParaRPr sz="4667">
              <a:latin typeface="Arial"/>
              <a:cs typeface="Arial"/>
            </a:endParaRPr>
          </a:p>
          <a:p>
            <a:pPr marL="1587460">
              <a:tabLst>
                <a:tab pos="3728627" algn="l"/>
              </a:tabLst>
            </a:pPr>
            <a:r>
              <a:rPr sz="3200" i="1" spc="-7" dirty="0">
                <a:latin typeface="Arial"/>
                <a:cs typeface="Arial"/>
              </a:rPr>
              <a:t>functor	arguments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13"/>
              </a:spcBef>
            </a:pPr>
            <a:endParaRPr sz="4667">
              <a:latin typeface="Arial"/>
              <a:cs typeface="Arial"/>
            </a:endParaRPr>
          </a:p>
          <a:p>
            <a:pPr marL="474121" indent="-457189">
              <a:buClr>
                <a:srgbClr val="FF3300"/>
              </a:buClr>
              <a:buSzPct val="129166"/>
              <a:buChar char="•"/>
              <a:tabLst>
                <a:tab pos="473275" algn="l"/>
                <a:tab pos="474121" algn="l"/>
              </a:tabLst>
            </a:pPr>
            <a:r>
              <a:rPr sz="3200" spc="-7" dirty="0">
                <a:latin typeface="Arial"/>
                <a:cs typeface="Arial"/>
              </a:rPr>
              <a:t>An argument</a:t>
            </a:r>
            <a:r>
              <a:rPr sz="3200" spc="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can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be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any </a:t>
            </a:r>
            <a:r>
              <a:rPr sz="3200" dirty="0">
                <a:latin typeface="Arial"/>
                <a:cs typeface="Arial"/>
              </a:rPr>
              <a:t>object, </a:t>
            </a:r>
            <a:r>
              <a:rPr sz="3200" spc="-7" dirty="0">
                <a:latin typeface="Arial"/>
                <a:cs typeface="Arial"/>
              </a:rPr>
              <a:t>also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a</a:t>
            </a:r>
            <a:r>
              <a:rPr sz="3200" dirty="0">
                <a:latin typeface="Arial"/>
                <a:cs typeface="Arial"/>
              </a:rPr>
              <a:t> structure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864894" y="5532967"/>
            <a:ext cx="287867" cy="671407"/>
          </a:xfrm>
          <a:custGeom>
            <a:avLst/>
            <a:gdLst/>
            <a:ahLst/>
            <a:cxnLst/>
            <a:rect l="l" t="t" r="r" b="b"/>
            <a:pathLst>
              <a:path w="215900" h="503554">
                <a:moveTo>
                  <a:pt x="215900" y="0"/>
                </a:moveTo>
                <a:lnTo>
                  <a:pt x="0" y="5033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4133"/>
          </a:p>
        </p:txBody>
      </p:sp>
      <p:sp>
        <p:nvSpPr>
          <p:cNvPr id="5" name="object 5"/>
          <p:cNvSpPr/>
          <p:nvPr/>
        </p:nvSpPr>
        <p:spPr>
          <a:xfrm>
            <a:off x="6209062" y="5628301"/>
            <a:ext cx="480907" cy="480907"/>
          </a:xfrm>
          <a:custGeom>
            <a:avLst/>
            <a:gdLst/>
            <a:ahLst/>
            <a:cxnLst/>
            <a:rect l="l" t="t" r="r" b="b"/>
            <a:pathLst>
              <a:path w="360679" h="360679">
                <a:moveTo>
                  <a:pt x="0" y="0"/>
                </a:moveTo>
                <a:lnTo>
                  <a:pt x="360299" y="36029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4133"/>
          </a:p>
        </p:txBody>
      </p:sp>
      <p:sp>
        <p:nvSpPr>
          <p:cNvPr id="6" name="object 6"/>
          <p:cNvSpPr/>
          <p:nvPr/>
        </p:nvSpPr>
        <p:spPr>
          <a:xfrm>
            <a:off x="6879961" y="5628301"/>
            <a:ext cx="97367" cy="480907"/>
          </a:xfrm>
          <a:custGeom>
            <a:avLst/>
            <a:gdLst/>
            <a:ahLst/>
            <a:cxnLst/>
            <a:rect l="l" t="t" r="r" b="b"/>
            <a:pathLst>
              <a:path w="73025" h="360679">
                <a:moveTo>
                  <a:pt x="0" y="0"/>
                </a:moveTo>
                <a:lnTo>
                  <a:pt x="73025" y="36029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4133"/>
          </a:p>
        </p:txBody>
      </p:sp>
      <p:sp>
        <p:nvSpPr>
          <p:cNvPr id="7" name="object 7"/>
          <p:cNvSpPr/>
          <p:nvPr/>
        </p:nvSpPr>
        <p:spPr>
          <a:xfrm>
            <a:off x="7265194" y="5532967"/>
            <a:ext cx="480907" cy="575733"/>
          </a:xfrm>
          <a:custGeom>
            <a:avLst/>
            <a:gdLst/>
            <a:ahLst/>
            <a:cxnLst/>
            <a:rect l="l" t="t" r="r" b="b"/>
            <a:pathLst>
              <a:path w="360679" h="431800">
                <a:moveTo>
                  <a:pt x="360425" y="0"/>
                </a:moveTo>
                <a:lnTo>
                  <a:pt x="0" y="431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4133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2881" y="1058470"/>
            <a:ext cx="9475914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/>
              <a:t>F</a:t>
            </a:r>
            <a:r>
              <a:rPr lang="en-US" spc="-7" dirty="0"/>
              <a:t>unctors</a:t>
            </a:r>
            <a:endParaRPr spc="-7" dirty="0"/>
          </a:p>
        </p:txBody>
      </p:sp>
      <p:sp>
        <p:nvSpPr>
          <p:cNvPr id="3" name="object 3"/>
          <p:cNvSpPr txBox="1"/>
          <p:nvPr/>
        </p:nvSpPr>
        <p:spPr>
          <a:xfrm>
            <a:off x="2747381" y="2166788"/>
            <a:ext cx="6661573" cy="293084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74121" indent="-457189">
              <a:spcBef>
                <a:spcPts val="133"/>
              </a:spcBef>
              <a:buClr>
                <a:srgbClr val="FF3300"/>
              </a:buClr>
              <a:buSzPct val="129166"/>
              <a:buChar char="•"/>
              <a:tabLst>
                <a:tab pos="473275" algn="l"/>
                <a:tab pos="474121" algn="l"/>
              </a:tabLst>
            </a:pPr>
            <a:r>
              <a:rPr sz="3200" spc="-7" dirty="0">
                <a:latin typeface="Arial"/>
                <a:cs typeface="Arial"/>
              </a:rPr>
              <a:t>Functor name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chosen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by user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7"/>
              </a:spcBef>
              <a:buClr>
                <a:srgbClr val="FF3300"/>
              </a:buClr>
              <a:buFont typeface="Arial"/>
              <a:buChar char="•"/>
            </a:pPr>
            <a:endParaRPr sz="4667">
              <a:latin typeface="Arial"/>
              <a:cs typeface="Arial"/>
            </a:endParaRPr>
          </a:p>
          <a:p>
            <a:pPr marL="474121" indent="-457189">
              <a:buClr>
                <a:srgbClr val="FF3300"/>
              </a:buClr>
              <a:buSzPct val="129166"/>
              <a:buChar char="•"/>
              <a:tabLst>
                <a:tab pos="473275" algn="l"/>
                <a:tab pos="474121" algn="l"/>
              </a:tabLst>
            </a:pPr>
            <a:r>
              <a:rPr sz="3200" dirty="0">
                <a:latin typeface="Arial"/>
                <a:cs typeface="Arial"/>
              </a:rPr>
              <a:t>Syntax</a:t>
            </a:r>
            <a:r>
              <a:rPr sz="3200" spc="-2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for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functors: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atoms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7"/>
              </a:spcBef>
              <a:buClr>
                <a:srgbClr val="FF3300"/>
              </a:buClr>
              <a:buFont typeface="Arial"/>
              <a:buChar char="•"/>
            </a:pPr>
            <a:endParaRPr sz="4667">
              <a:latin typeface="Arial"/>
              <a:cs typeface="Arial"/>
            </a:endParaRPr>
          </a:p>
          <a:p>
            <a:pPr marL="474121" indent="-457189">
              <a:spcBef>
                <a:spcPts val="7"/>
              </a:spcBef>
              <a:buClr>
                <a:srgbClr val="FF3300"/>
              </a:buClr>
              <a:buSzPct val="129166"/>
              <a:buChar char="•"/>
              <a:tabLst>
                <a:tab pos="473275" algn="l"/>
                <a:tab pos="474121" algn="l"/>
              </a:tabLst>
            </a:pPr>
            <a:r>
              <a:rPr sz="3200" spc="-7" dirty="0">
                <a:latin typeface="Arial"/>
                <a:cs typeface="Arial"/>
              </a:rPr>
              <a:t>Functor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defined</a:t>
            </a:r>
            <a:r>
              <a:rPr sz="3200" spc="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by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name</a:t>
            </a:r>
            <a:r>
              <a:rPr sz="3200" spc="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and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i="1" spc="-7" dirty="0">
                <a:latin typeface="Arial"/>
                <a:cs typeface="Arial"/>
              </a:rPr>
              <a:t>arity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2771" y="787973"/>
            <a:ext cx="10520137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071007" marR="6773" indent="-1054920">
              <a:lnSpc>
                <a:spcPct val="100000"/>
              </a:lnSpc>
              <a:spcBef>
                <a:spcPts val="133"/>
              </a:spcBef>
              <a:tabLst>
                <a:tab pos="1762716" algn="l"/>
              </a:tabLst>
            </a:pPr>
            <a:r>
              <a:rPr dirty="0"/>
              <a:t>T</a:t>
            </a:r>
            <a:r>
              <a:rPr lang="en-US" dirty="0"/>
              <a:t>ree </a:t>
            </a:r>
            <a:r>
              <a:rPr dirty="0"/>
              <a:t>R</a:t>
            </a:r>
            <a:r>
              <a:rPr lang="en-US" dirty="0"/>
              <a:t>epresentation</a:t>
            </a:r>
            <a:r>
              <a:rPr dirty="0"/>
              <a:t> </a:t>
            </a:r>
            <a:r>
              <a:rPr lang="en-US" spc="-7" dirty="0"/>
              <a:t>of</a:t>
            </a:r>
            <a:r>
              <a:rPr lang="en-US" spc="-13" dirty="0"/>
              <a:t> </a:t>
            </a:r>
            <a:r>
              <a:rPr spc="-7" dirty="0"/>
              <a:t>S</a:t>
            </a:r>
            <a:r>
              <a:rPr lang="en-US" spc="-7" dirty="0"/>
              <a:t>tructures</a:t>
            </a:r>
            <a:endParaRPr spc="-7" dirty="0"/>
          </a:p>
        </p:txBody>
      </p:sp>
      <p:sp>
        <p:nvSpPr>
          <p:cNvPr id="3" name="object 3"/>
          <p:cNvSpPr txBox="1"/>
          <p:nvPr/>
        </p:nvSpPr>
        <p:spPr>
          <a:xfrm>
            <a:off x="2747382" y="2166788"/>
            <a:ext cx="6852073" cy="172019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spc="-7" dirty="0">
                <a:latin typeface="Arial"/>
                <a:cs typeface="Arial"/>
              </a:rPr>
              <a:t>Often, structures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are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pictured</a:t>
            </a:r>
            <a:r>
              <a:rPr sz="3200" spc="2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as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trees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7"/>
              </a:spcBef>
            </a:pPr>
            <a:endParaRPr sz="4667">
              <a:latin typeface="Arial"/>
              <a:cs typeface="Arial"/>
            </a:endParaRPr>
          </a:p>
          <a:p>
            <a:pPr marL="2710112"/>
            <a:r>
              <a:rPr sz="3200" spc="-7" dirty="0">
                <a:solidFill>
                  <a:srgbClr val="333399"/>
                </a:solidFill>
                <a:latin typeface="Arial"/>
                <a:cs typeface="Arial"/>
              </a:rPr>
              <a:t>date(</a:t>
            </a:r>
            <a:r>
              <a:rPr sz="3200" spc="-13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17,</a:t>
            </a:r>
            <a:r>
              <a:rPr sz="3200" spc="-13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spc="-7" dirty="0">
                <a:solidFill>
                  <a:srgbClr val="333399"/>
                </a:solidFill>
                <a:latin typeface="Arial"/>
                <a:cs typeface="Arial"/>
              </a:rPr>
              <a:t>june,</a:t>
            </a:r>
            <a:r>
              <a:rPr sz="3200" spc="-13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spc="-7" dirty="0">
                <a:solidFill>
                  <a:srgbClr val="333399"/>
                </a:solidFill>
                <a:latin typeface="Arial"/>
                <a:cs typeface="Arial"/>
              </a:rPr>
              <a:t>2006)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13728" y="5093207"/>
            <a:ext cx="825500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spc="-7" dirty="0">
                <a:solidFill>
                  <a:srgbClr val="009900"/>
                </a:solidFill>
                <a:latin typeface="Arial"/>
                <a:cs typeface="Arial"/>
              </a:rPr>
              <a:t>date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67527" y="6848855"/>
            <a:ext cx="48598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spc="-7" dirty="0">
                <a:solidFill>
                  <a:srgbClr val="009900"/>
                </a:solidFill>
                <a:latin typeface="Arial"/>
                <a:cs typeface="Arial"/>
              </a:rPr>
              <a:t>17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18401" y="6848855"/>
            <a:ext cx="802640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spc="-7" dirty="0">
                <a:solidFill>
                  <a:srgbClr val="009900"/>
                </a:solidFill>
                <a:latin typeface="Arial"/>
                <a:cs typeface="Arial"/>
              </a:rPr>
              <a:t>june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49361" y="6848855"/>
            <a:ext cx="937260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spc="-7" dirty="0">
                <a:solidFill>
                  <a:srgbClr val="009900"/>
                </a:solidFill>
                <a:latin typeface="Arial"/>
                <a:cs typeface="Arial"/>
              </a:rPr>
              <a:t>20</a:t>
            </a:r>
            <a:r>
              <a:rPr sz="3200" spc="-20" dirty="0">
                <a:solidFill>
                  <a:srgbClr val="009900"/>
                </a:solidFill>
                <a:latin typeface="Arial"/>
                <a:cs typeface="Arial"/>
              </a:rPr>
              <a:t>0</a:t>
            </a:r>
            <a:r>
              <a:rPr sz="3200" spc="-7" dirty="0">
                <a:solidFill>
                  <a:srgbClr val="009900"/>
                </a:solidFill>
                <a:latin typeface="Arial"/>
                <a:cs typeface="Arial"/>
              </a:rPr>
              <a:t>6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248096" y="5820833"/>
            <a:ext cx="960967" cy="863600"/>
          </a:xfrm>
          <a:custGeom>
            <a:avLst/>
            <a:gdLst/>
            <a:ahLst/>
            <a:cxnLst/>
            <a:rect l="l" t="t" r="r" b="b"/>
            <a:pathLst>
              <a:path w="720725" h="647700">
                <a:moveTo>
                  <a:pt x="720725" y="0"/>
                </a:moveTo>
                <a:lnTo>
                  <a:pt x="0" y="647700"/>
                </a:lnTo>
              </a:path>
            </a:pathLst>
          </a:custGeom>
          <a:ln w="9525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 sz="4133"/>
          </a:p>
        </p:txBody>
      </p:sp>
      <p:sp>
        <p:nvSpPr>
          <p:cNvPr id="9" name="object 9"/>
          <p:cNvSpPr/>
          <p:nvPr/>
        </p:nvSpPr>
        <p:spPr>
          <a:xfrm>
            <a:off x="6496929" y="5820834"/>
            <a:ext cx="0" cy="959273"/>
          </a:xfrm>
          <a:custGeom>
            <a:avLst/>
            <a:gdLst/>
            <a:ahLst/>
            <a:cxnLst/>
            <a:rect l="l" t="t" r="r" b="b"/>
            <a:pathLst>
              <a:path h="719454">
                <a:moveTo>
                  <a:pt x="0" y="0"/>
                </a:moveTo>
                <a:lnTo>
                  <a:pt x="0" y="719074"/>
                </a:lnTo>
              </a:path>
            </a:pathLst>
          </a:custGeom>
          <a:ln w="9525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 sz="4133"/>
          </a:p>
        </p:txBody>
      </p:sp>
      <p:sp>
        <p:nvSpPr>
          <p:cNvPr id="10" name="object 10"/>
          <p:cNvSpPr/>
          <p:nvPr/>
        </p:nvSpPr>
        <p:spPr>
          <a:xfrm>
            <a:off x="6784796" y="5820833"/>
            <a:ext cx="768773" cy="863600"/>
          </a:xfrm>
          <a:custGeom>
            <a:avLst/>
            <a:gdLst/>
            <a:ahLst/>
            <a:cxnLst/>
            <a:rect l="l" t="t" r="r" b="b"/>
            <a:pathLst>
              <a:path w="576579" h="647700">
                <a:moveTo>
                  <a:pt x="0" y="0"/>
                </a:moveTo>
                <a:lnTo>
                  <a:pt x="576199" y="647700"/>
                </a:lnTo>
              </a:path>
            </a:pathLst>
          </a:custGeom>
          <a:ln w="9525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 sz="4133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47381" y="2166788"/>
            <a:ext cx="10524067" cy="270507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74121" marR="6773" indent="-457189">
              <a:spcBef>
                <a:spcPts val="133"/>
              </a:spcBef>
              <a:buClr>
                <a:srgbClr val="FF3300"/>
              </a:buClr>
              <a:buSzPct val="129166"/>
              <a:buChar char="•"/>
              <a:tabLst>
                <a:tab pos="473275" algn="l"/>
                <a:tab pos="474121" algn="l"/>
              </a:tabLst>
            </a:pPr>
            <a:r>
              <a:rPr sz="3200" spc="-7" dirty="0">
                <a:latin typeface="Arial"/>
                <a:cs typeface="Arial"/>
              </a:rPr>
              <a:t>Therefore</a:t>
            </a:r>
            <a:r>
              <a:rPr sz="3200" spc="3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all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structured</a:t>
            </a:r>
            <a:r>
              <a:rPr sz="3200" spc="2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objects</a:t>
            </a:r>
            <a:r>
              <a:rPr sz="3200" spc="3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in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Prolog</a:t>
            </a:r>
            <a:r>
              <a:rPr sz="3200" spc="2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can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be</a:t>
            </a:r>
            <a:r>
              <a:rPr sz="3200" spc="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viewed </a:t>
            </a:r>
            <a:r>
              <a:rPr sz="3200" spc="-87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as trees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7"/>
              </a:spcBef>
              <a:buClr>
                <a:srgbClr val="FF3300"/>
              </a:buClr>
              <a:buFont typeface="Arial"/>
              <a:buChar char="•"/>
            </a:pPr>
            <a:endParaRPr sz="4667">
              <a:latin typeface="Arial"/>
              <a:cs typeface="Arial"/>
            </a:endParaRPr>
          </a:p>
          <a:p>
            <a:pPr marL="474121" marR="774681" indent="-457189">
              <a:buClr>
                <a:srgbClr val="FF3300"/>
              </a:buClr>
              <a:buSzPct val="129166"/>
              <a:buChar char="•"/>
              <a:tabLst>
                <a:tab pos="473275" algn="l"/>
                <a:tab pos="474121" algn="l"/>
              </a:tabLst>
            </a:pPr>
            <a:r>
              <a:rPr sz="3200" dirty="0">
                <a:latin typeface="Arial"/>
                <a:cs typeface="Arial"/>
              </a:rPr>
              <a:t>This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is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the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i="1" spc="-7" dirty="0">
                <a:latin typeface="Arial"/>
                <a:cs typeface="Arial"/>
              </a:rPr>
              <a:t>only</a:t>
            </a:r>
            <a:r>
              <a:rPr sz="3200" i="1" spc="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way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of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building</a:t>
            </a:r>
            <a:r>
              <a:rPr sz="3200" spc="3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structured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objects</a:t>
            </a:r>
            <a:r>
              <a:rPr sz="3200" spc="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in </a:t>
            </a:r>
            <a:r>
              <a:rPr sz="3200" spc="-86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Prolog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F4FDF02-76BA-744C-95EB-ADB397B60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Structures/Trees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2881" y="1058470"/>
            <a:ext cx="9475914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/>
              <a:t>S</a:t>
            </a:r>
            <a:r>
              <a:rPr lang="en-US" dirty="0"/>
              <a:t>ome</a:t>
            </a:r>
            <a:r>
              <a:rPr spc="-67" dirty="0"/>
              <a:t> </a:t>
            </a:r>
            <a:r>
              <a:rPr dirty="0"/>
              <a:t>G</a:t>
            </a:r>
            <a:r>
              <a:rPr lang="en-US" dirty="0"/>
              <a:t>eometric</a:t>
            </a:r>
            <a:r>
              <a:rPr spc="-60" dirty="0"/>
              <a:t> </a:t>
            </a:r>
            <a:r>
              <a:rPr lang="en-US" dirty="0"/>
              <a:t>Objects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336743" y="2111586"/>
            <a:ext cx="1526540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spc="-7" dirty="0">
                <a:latin typeface="Arial"/>
                <a:cs typeface="Arial"/>
              </a:rPr>
              <a:t>P2</a:t>
            </a:r>
            <a:r>
              <a:rPr sz="2667" spc="-6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=</a:t>
            </a:r>
            <a:r>
              <a:rPr sz="2667" spc="-5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(2,3)</a:t>
            </a:r>
            <a:endParaRPr sz="2667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51537" y="2111586"/>
            <a:ext cx="729827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spc="-7" dirty="0">
                <a:latin typeface="Arial"/>
                <a:cs typeface="Arial"/>
              </a:rPr>
              <a:t>(6,4)</a:t>
            </a:r>
            <a:endParaRPr sz="2667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69383" y="3086947"/>
            <a:ext cx="259927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spc="-7" dirty="0">
                <a:latin typeface="Arial"/>
                <a:cs typeface="Arial"/>
              </a:rPr>
              <a:t>S</a:t>
            </a:r>
            <a:endParaRPr sz="2667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24437" y="3086947"/>
            <a:ext cx="241300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spc="-7" dirty="0">
                <a:latin typeface="Arial"/>
                <a:cs typeface="Arial"/>
              </a:rPr>
              <a:t>T</a:t>
            </a:r>
            <a:endParaRPr sz="2667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854" y="3574626"/>
            <a:ext cx="729827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spc="-7" dirty="0">
                <a:latin typeface="Arial"/>
                <a:cs typeface="Arial"/>
              </a:rPr>
              <a:t>(4,2)</a:t>
            </a:r>
            <a:endParaRPr sz="2667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22670" y="4549987"/>
            <a:ext cx="1341120" cy="4275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667" spc="-7" dirty="0">
                <a:latin typeface="Arial"/>
                <a:cs typeface="Arial"/>
              </a:rPr>
              <a:t>P1</a:t>
            </a:r>
            <a:r>
              <a:rPr sz="2667" spc="-20" dirty="0">
                <a:latin typeface="Arial"/>
                <a:cs typeface="Arial"/>
              </a:rPr>
              <a:t>=</a:t>
            </a:r>
            <a:r>
              <a:rPr sz="2667" spc="-7" dirty="0">
                <a:latin typeface="Arial"/>
                <a:cs typeface="Arial"/>
              </a:rPr>
              <a:t>(1,1)</a:t>
            </a:r>
            <a:endParaRPr sz="2667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67638" y="4549987"/>
            <a:ext cx="730673" cy="4275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667" spc="-7" dirty="0">
                <a:latin typeface="Arial"/>
                <a:cs typeface="Arial"/>
              </a:rPr>
              <a:t>(7,1)</a:t>
            </a:r>
            <a:endParaRPr sz="2667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72383" y="6417734"/>
            <a:ext cx="8406553" cy="1735411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6933">
              <a:spcBef>
                <a:spcPts val="900"/>
              </a:spcBef>
              <a:tabLst>
                <a:tab pos="4714121" algn="l"/>
              </a:tabLst>
            </a:pPr>
            <a:r>
              <a:rPr sz="3200" spc="-7" dirty="0">
                <a:latin typeface="Arial"/>
                <a:cs typeface="Arial"/>
              </a:rPr>
              <a:t>P1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=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point(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1,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1)	P2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=</a:t>
            </a:r>
            <a:r>
              <a:rPr sz="3200" spc="-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point(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2,</a:t>
            </a:r>
            <a:r>
              <a:rPr sz="3200" spc="-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3)</a:t>
            </a:r>
            <a:endParaRPr sz="3200">
              <a:latin typeface="Arial"/>
              <a:cs typeface="Arial"/>
            </a:endParaRPr>
          </a:p>
          <a:p>
            <a:pPr marL="16933" marR="6773">
              <a:lnSpc>
                <a:spcPct val="120000"/>
              </a:lnSpc>
              <a:tabLst>
                <a:tab pos="3232493" algn="l"/>
                <a:tab pos="3693068" algn="l"/>
              </a:tabLst>
            </a:pPr>
            <a:r>
              <a:rPr sz="3200" dirty="0">
                <a:latin typeface="Arial"/>
                <a:cs typeface="Arial"/>
              </a:rPr>
              <a:t>S =</a:t>
            </a:r>
            <a:r>
              <a:rPr sz="3200" spc="-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seg(</a:t>
            </a:r>
            <a:r>
              <a:rPr sz="3200" dirty="0">
                <a:latin typeface="Arial"/>
                <a:cs typeface="Arial"/>
              </a:rPr>
              <a:t> P1,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P2)	=	</a:t>
            </a:r>
            <a:r>
              <a:rPr sz="3200" spc="-7" dirty="0">
                <a:latin typeface="Arial"/>
                <a:cs typeface="Arial"/>
              </a:rPr>
              <a:t>seg(</a:t>
            </a:r>
            <a:r>
              <a:rPr sz="3200" spc="-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point(1,1),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point(2,3)) </a:t>
            </a:r>
            <a:r>
              <a:rPr sz="3200" spc="-86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</a:t>
            </a:r>
            <a:r>
              <a:rPr sz="3200" spc="-1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=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triangle(</a:t>
            </a:r>
            <a:r>
              <a:rPr sz="3200" spc="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point(4,2),</a:t>
            </a:r>
            <a:r>
              <a:rPr sz="3200" spc="2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point(5,4),</a:t>
            </a:r>
            <a:r>
              <a:rPr sz="3200" spc="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point(7,1))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321844" y="2459567"/>
            <a:ext cx="6631940" cy="3080173"/>
            <a:chOff x="966787" y="1844675"/>
            <a:chExt cx="4973955" cy="2310130"/>
          </a:xfrm>
        </p:grpSpPr>
        <p:sp>
          <p:nvSpPr>
            <p:cNvPr id="12" name="object 12"/>
            <p:cNvSpPr/>
            <p:nvPr/>
          </p:nvSpPr>
          <p:spPr>
            <a:xfrm>
              <a:off x="971550" y="1844675"/>
              <a:ext cx="4968875" cy="2305050"/>
            </a:xfrm>
            <a:custGeom>
              <a:avLst/>
              <a:gdLst/>
              <a:ahLst/>
              <a:cxnLst/>
              <a:rect l="l" t="t" r="r" b="b"/>
              <a:pathLst>
                <a:path w="4968875" h="2305050">
                  <a:moveTo>
                    <a:pt x="0" y="0"/>
                  </a:moveTo>
                  <a:lnTo>
                    <a:pt x="0" y="2305050"/>
                  </a:lnTo>
                </a:path>
                <a:path w="4968875" h="2305050">
                  <a:moveTo>
                    <a:pt x="0" y="2305050"/>
                  </a:moveTo>
                  <a:lnTo>
                    <a:pt x="4968875" y="230505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4133"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1063" y="3424237"/>
              <a:ext cx="82550" cy="8255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71788" y="1947862"/>
              <a:ext cx="82550" cy="8255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54413" y="2668587"/>
              <a:ext cx="82550" cy="8255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67237" y="1947862"/>
              <a:ext cx="82550" cy="825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51513" y="3387788"/>
              <a:ext cx="82550" cy="8255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692275" y="1989201"/>
              <a:ext cx="3600450" cy="1476375"/>
            </a:xfrm>
            <a:custGeom>
              <a:avLst/>
              <a:gdLst/>
              <a:ahLst/>
              <a:cxnLst/>
              <a:rect l="l" t="t" r="r" b="b"/>
              <a:pathLst>
                <a:path w="3600450" h="1476375">
                  <a:moveTo>
                    <a:pt x="719201" y="0"/>
                  </a:moveTo>
                  <a:lnTo>
                    <a:pt x="0" y="1476375"/>
                  </a:lnTo>
                </a:path>
                <a:path w="3600450" h="1476375">
                  <a:moveTo>
                    <a:pt x="1403350" y="719074"/>
                  </a:moveTo>
                  <a:lnTo>
                    <a:pt x="3600450" y="1439799"/>
                  </a:lnTo>
                </a:path>
                <a:path w="3600450" h="1476375">
                  <a:moveTo>
                    <a:pt x="1403350" y="720725"/>
                  </a:moveTo>
                  <a:lnTo>
                    <a:pt x="2916301" y="0"/>
                  </a:lnTo>
                </a:path>
                <a:path w="3600450" h="1476375">
                  <a:moveTo>
                    <a:pt x="2916301" y="0"/>
                  </a:moveTo>
                  <a:lnTo>
                    <a:pt x="3600450" y="1439799"/>
                  </a:lnTo>
                </a:path>
              </a:pathLst>
            </a:custGeom>
            <a:ln w="9525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 sz="4133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2881" y="1058470"/>
            <a:ext cx="9475914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/>
              <a:t>L</a:t>
            </a:r>
            <a:r>
              <a:rPr lang="en-US" spc="-7" dirty="0"/>
              <a:t>ine</a:t>
            </a:r>
            <a:r>
              <a:rPr spc="-60" dirty="0"/>
              <a:t> </a:t>
            </a:r>
            <a:r>
              <a:rPr lang="en-US" spc="-7" dirty="0"/>
              <a:t>Segment</a:t>
            </a:r>
            <a:endParaRPr spc="-7" dirty="0"/>
          </a:p>
        </p:txBody>
      </p:sp>
      <p:sp>
        <p:nvSpPr>
          <p:cNvPr id="3" name="object 3"/>
          <p:cNvSpPr txBox="1"/>
          <p:nvPr/>
        </p:nvSpPr>
        <p:spPr>
          <a:xfrm>
            <a:off x="2747381" y="2166789"/>
            <a:ext cx="5687060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512221" algn="l"/>
                <a:tab pos="973642" algn="l"/>
              </a:tabLst>
            </a:pPr>
            <a:r>
              <a:rPr sz="3200" dirty="0">
                <a:latin typeface="Arial"/>
                <a:cs typeface="Arial"/>
              </a:rPr>
              <a:t>S	=	</a:t>
            </a:r>
            <a:r>
              <a:rPr sz="3200" spc="-7" dirty="0">
                <a:latin typeface="Arial"/>
                <a:cs typeface="Arial"/>
              </a:rPr>
              <a:t>seg(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point(1,1),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point(2,3))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89192" y="3922438"/>
            <a:ext cx="175852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512221" algn="l"/>
                <a:tab pos="1085398" algn="l"/>
              </a:tabLst>
            </a:pPr>
            <a:r>
              <a:rPr sz="3200" dirty="0">
                <a:latin typeface="Arial"/>
                <a:cs typeface="Arial"/>
              </a:rPr>
              <a:t>S	=	</a:t>
            </a:r>
            <a:r>
              <a:rPr sz="3200" spc="-7" dirty="0">
                <a:solidFill>
                  <a:srgbClr val="009900"/>
                </a:solidFill>
                <a:latin typeface="Arial"/>
                <a:cs typeface="Arial"/>
              </a:rPr>
              <a:t>seg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76416" y="5678423"/>
            <a:ext cx="91524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spc="-7" dirty="0">
                <a:solidFill>
                  <a:srgbClr val="009900"/>
                </a:solidFill>
                <a:latin typeface="Arial"/>
                <a:cs typeface="Arial"/>
              </a:rPr>
              <a:t>point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42832" y="5678423"/>
            <a:ext cx="91524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spc="-7" dirty="0">
                <a:solidFill>
                  <a:srgbClr val="009900"/>
                </a:solidFill>
                <a:latin typeface="Arial"/>
                <a:cs typeface="Arial"/>
              </a:rPr>
              <a:t>point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28359" y="6848856"/>
            <a:ext cx="25992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spc="-7" dirty="0">
                <a:solidFill>
                  <a:srgbClr val="009900"/>
                </a:solidFill>
                <a:latin typeface="Arial"/>
                <a:cs typeface="Arial"/>
              </a:rPr>
              <a:t>1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90180" y="6848856"/>
            <a:ext cx="25992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spc="-7" dirty="0">
                <a:solidFill>
                  <a:srgbClr val="009900"/>
                </a:solidFill>
                <a:latin typeface="Arial"/>
                <a:cs typeface="Arial"/>
              </a:rPr>
              <a:t>1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26043" y="6848856"/>
            <a:ext cx="25992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spc="-7" dirty="0">
                <a:solidFill>
                  <a:srgbClr val="009900"/>
                </a:solidFill>
                <a:latin typeface="Arial"/>
                <a:cs typeface="Arial"/>
              </a:rPr>
              <a:t>2</a:t>
            </a:r>
            <a:endParaRPr sz="3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86644" y="6848856"/>
            <a:ext cx="25992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spc="-7" dirty="0">
                <a:solidFill>
                  <a:srgbClr val="009900"/>
                </a:solidFill>
                <a:latin typeface="Arial"/>
                <a:cs typeface="Arial"/>
              </a:rPr>
              <a:t>3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352996" y="4620769"/>
            <a:ext cx="768773" cy="959273"/>
          </a:xfrm>
          <a:custGeom>
            <a:avLst/>
            <a:gdLst/>
            <a:ahLst/>
            <a:cxnLst/>
            <a:rect l="l" t="t" r="r" b="b"/>
            <a:pathLst>
              <a:path w="576579" h="719454">
                <a:moveTo>
                  <a:pt x="576199" y="0"/>
                </a:moveTo>
                <a:lnTo>
                  <a:pt x="0" y="719074"/>
                </a:lnTo>
              </a:path>
            </a:pathLst>
          </a:custGeom>
          <a:ln w="9525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 sz="4133"/>
          </a:p>
        </p:txBody>
      </p:sp>
      <p:sp>
        <p:nvSpPr>
          <p:cNvPr id="12" name="object 12"/>
          <p:cNvSpPr/>
          <p:nvPr/>
        </p:nvSpPr>
        <p:spPr>
          <a:xfrm>
            <a:off x="5679896" y="6252634"/>
            <a:ext cx="385233" cy="527473"/>
          </a:xfrm>
          <a:custGeom>
            <a:avLst/>
            <a:gdLst/>
            <a:ahLst/>
            <a:cxnLst/>
            <a:rect l="l" t="t" r="r" b="b"/>
            <a:pathLst>
              <a:path w="288925" h="395604">
                <a:moveTo>
                  <a:pt x="288925" y="0"/>
                </a:moveTo>
                <a:lnTo>
                  <a:pt x="0" y="395224"/>
                </a:lnTo>
              </a:path>
            </a:pathLst>
          </a:custGeom>
          <a:ln w="9525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 sz="4133"/>
          </a:p>
        </p:txBody>
      </p:sp>
      <p:sp>
        <p:nvSpPr>
          <p:cNvPr id="13" name="object 13"/>
          <p:cNvSpPr/>
          <p:nvPr/>
        </p:nvSpPr>
        <p:spPr>
          <a:xfrm>
            <a:off x="8224130" y="6252634"/>
            <a:ext cx="385233" cy="527473"/>
          </a:xfrm>
          <a:custGeom>
            <a:avLst/>
            <a:gdLst/>
            <a:ahLst/>
            <a:cxnLst/>
            <a:rect l="l" t="t" r="r" b="b"/>
            <a:pathLst>
              <a:path w="288925" h="395604">
                <a:moveTo>
                  <a:pt x="288925" y="0"/>
                </a:moveTo>
                <a:lnTo>
                  <a:pt x="0" y="395224"/>
                </a:lnTo>
              </a:path>
            </a:pathLst>
          </a:custGeom>
          <a:ln w="9525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 sz="4133"/>
          </a:p>
        </p:txBody>
      </p:sp>
      <p:sp>
        <p:nvSpPr>
          <p:cNvPr id="14" name="object 14"/>
          <p:cNvSpPr/>
          <p:nvPr/>
        </p:nvSpPr>
        <p:spPr>
          <a:xfrm>
            <a:off x="6496929" y="6252634"/>
            <a:ext cx="431800" cy="527473"/>
          </a:xfrm>
          <a:custGeom>
            <a:avLst/>
            <a:gdLst/>
            <a:ahLst/>
            <a:cxnLst/>
            <a:rect l="l" t="t" r="r" b="b"/>
            <a:pathLst>
              <a:path w="323850" h="395604">
                <a:moveTo>
                  <a:pt x="0" y="0"/>
                </a:moveTo>
                <a:lnTo>
                  <a:pt x="323850" y="395224"/>
                </a:lnTo>
              </a:path>
            </a:pathLst>
          </a:custGeom>
          <a:ln w="9525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 sz="4133"/>
          </a:p>
        </p:txBody>
      </p:sp>
      <p:sp>
        <p:nvSpPr>
          <p:cNvPr id="15" name="object 15"/>
          <p:cNvSpPr/>
          <p:nvPr/>
        </p:nvSpPr>
        <p:spPr>
          <a:xfrm>
            <a:off x="8992394" y="6252634"/>
            <a:ext cx="431800" cy="527473"/>
          </a:xfrm>
          <a:custGeom>
            <a:avLst/>
            <a:gdLst/>
            <a:ahLst/>
            <a:cxnLst/>
            <a:rect l="l" t="t" r="r" b="b"/>
            <a:pathLst>
              <a:path w="323850" h="395604">
                <a:moveTo>
                  <a:pt x="0" y="0"/>
                </a:moveTo>
                <a:lnTo>
                  <a:pt x="323850" y="395224"/>
                </a:lnTo>
              </a:path>
            </a:pathLst>
          </a:custGeom>
          <a:ln w="9525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 sz="4133"/>
          </a:p>
        </p:txBody>
      </p:sp>
      <p:sp>
        <p:nvSpPr>
          <p:cNvPr id="16" name="object 16"/>
          <p:cNvSpPr/>
          <p:nvPr/>
        </p:nvSpPr>
        <p:spPr>
          <a:xfrm>
            <a:off x="7553061" y="4667165"/>
            <a:ext cx="863600" cy="866140"/>
          </a:xfrm>
          <a:custGeom>
            <a:avLst/>
            <a:gdLst/>
            <a:ahLst/>
            <a:cxnLst/>
            <a:rect l="l" t="t" r="r" b="b"/>
            <a:pathLst>
              <a:path w="647700" h="649604">
                <a:moveTo>
                  <a:pt x="0" y="0"/>
                </a:moveTo>
                <a:lnTo>
                  <a:pt x="647700" y="649351"/>
                </a:lnTo>
              </a:path>
            </a:pathLst>
          </a:custGeom>
          <a:ln w="9525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 sz="4133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7651" y="628981"/>
            <a:ext cx="11337555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407236" marR="6773" indent="-391150">
              <a:lnSpc>
                <a:spcPct val="100000"/>
              </a:lnSpc>
              <a:spcBef>
                <a:spcPts val="133"/>
              </a:spcBef>
            </a:pPr>
            <a:r>
              <a:rPr dirty="0"/>
              <a:t>A</a:t>
            </a:r>
            <a:r>
              <a:rPr lang="en-US" dirty="0"/>
              <a:t>rithmetic</a:t>
            </a:r>
            <a:r>
              <a:rPr spc="-133" dirty="0"/>
              <a:t> </a:t>
            </a:r>
            <a:r>
              <a:rPr dirty="0"/>
              <a:t>E</a:t>
            </a:r>
            <a:r>
              <a:rPr lang="en-US" dirty="0"/>
              <a:t>xpressions</a:t>
            </a:r>
            <a:r>
              <a:rPr dirty="0"/>
              <a:t> </a:t>
            </a:r>
            <a:r>
              <a:rPr spc="-1167" dirty="0"/>
              <a:t> </a:t>
            </a:r>
            <a:r>
              <a:rPr lang="en-US" spc="-7" dirty="0"/>
              <a:t>are </a:t>
            </a:r>
            <a:r>
              <a:rPr spc="-7" dirty="0"/>
              <a:t>S</a:t>
            </a:r>
            <a:r>
              <a:rPr lang="en-US" spc="-7" dirty="0"/>
              <a:t>tructures</a:t>
            </a:r>
            <a:endParaRPr spc="-7" dirty="0"/>
          </a:p>
        </p:txBody>
      </p:sp>
      <p:sp>
        <p:nvSpPr>
          <p:cNvPr id="3" name="object 3"/>
          <p:cNvSpPr txBox="1"/>
          <p:nvPr/>
        </p:nvSpPr>
        <p:spPr>
          <a:xfrm>
            <a:off x="2747381" y="2166788"/>
            <a:ext cx="5750560" cy="41414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74121" indent="-457189">
              <a:spcBef>
                <a:spcPts val="133"/>
              </a:spcBef>
              <a:buClr>
                <a:srgbClr val="FF3300"/>
              </a:buClr>
              <a:buSzPct val="129166"/>
              <a:buChar char="•"/>
              <a:tabLst>
                <a:tab pos="473275" algn="l"/>
                <a:tab pos="474121" algn="l"/>
                <a:tab pos="3071630" algn="l"/>
              </a:tabLst>
            </a:pPr>
            <a:r>
              <a:rPr sz="3200" dirty="0">
                <a:latin typeface="Arial"/>
                <a:cs typeface="Arial"/>
              </a:rPr>
              <a:t>For</a:t>
            </a:r>
            <a:r>
              <a:rPr sz="3200" spc="-7" dirty="0">
                <a:latin typeface="Arial"/>
                <a:cs typeface="Arial"/>
              </a:rPr>
              <a:t> example:	</a:t>
            </a:r>
            <a:r>
              <a:rPr sz="3200" spc="-13" dirty="0">
                <a:latin typeface="Arial"/>
                <a:cs typeface="Arial"/>
              </a:rPr>
              <a:t>(a </a:t>
            </a:r>
            <a:r>
              <a:rPr sz="3200" dirty="0">
                <a:latin typeface="Arial"/>
                <a:cs typeface="Arial"/>
              </a:rPr>
              <a:t>+</a:t>
            </a:r>
            <a:r>
              <a:rPr sz="3200" spc="-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b)</a:t>
            </a:r>
            <a:r>
              <a:rPr sz="3200" spc="-2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*</a:t>
            </a:r>
            <a:r>
              <a:rPr sz="3200" spc="-1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(c</a:t>
            </a:r>
            <a:r>
              <a:rPr sz="3200" spc="-1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-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13" dirty="0">
                <a:latin typeface="Arial"/>
                <a:cs typeface="Arial"/>
              </a:rPr>
              <a:t>5)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7"/>
              </a:spcBef>
              <a:buClr>
                <a:srgbClr val="FF3300"/>
              </a:buClr>
              <a:buFont typeface="Arial"/>
              <a:buChar char="•"/>
            </a:pPr>
            <a:endParaRPr sz="4667">
              <a:latin typeface="Arial"/>
              <a:cs typeface="Arial"/>
            </a:endParaRPr>
          </a:p>
          <a:p>
            <a:pPr marL="474121" indent="-457189">
              <a:buClr>
                <a:srgbClr val="FF3300"/>
              </a:buClr>
              <a:buSzPct val="129166"/>
              <a:buChar char="•"/>
              <a:tabLst>
                <a:tab pos="473275" algn="l"/>
                <a:tab pos="474121" algn="l"/>
              </a:tabLst>
            </a:pPr>
            <a:r>
              <a:rPr sz="3200" dirty="0">
                <a:latin typeface="Arial"/>
                <a:cs typeface="Arial"/>
              </a:rPr>
              <a:t>Written</a:t>
            </a:r>
            <a:r>
              <a:rPr sz="3200" spc="-13" dirty="0">
                <a:latin typeface="Arial"/>
                <a:cs typeface="Arial"/>
              </a:rPr>
              <a:t> as </a:t>
            </a:r>
            <a:r>
              <a:rPr sz="3200" dirty="0">
                <a:latin typeface="Arial"/>
                <a:cs typeface="Arial"/>
              </a:rPr>
              <a:t>term</a:t>
            </a:r>
            <a:r>
              <a:rPr sz="3200" spc="-2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with functors: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7"/>
              </a:spcBef>
            </a:pPr>
            <a:endParaRPr sz="4667">
              <a:latin typeface="Arial"/>
              <a:cs typeface="Arial"/>
            </a:endParaRPr>
          </a:p>
          <a:p>
            <a:pPr marL="660383" algn="ctr">
              <a:spcBef>
                <a:spcPts val="7"/>
              </a:spcBef>
            </a:pPr>
            <a:r>
              <a:rPr sz="3200" spc="-7" dirty="0">
                <a:latin typeface="Arial"/>
                <a:cs typeface="Arial"/>
              </a:rPr>
              <a:t>*(</a:t>
            </a:r>
            <a:r>
              <a:rPr sz="3200" spc="-1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+(</a:t>
            </a:r>
            <a:r>
              <a:rPr sz="3200" spc="-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a,</a:t>
            </a:r>
            <a:r>
              <a:rPr sz="3200" spc="-1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b),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-(</a:t>
            </a:r>
            <a:r>
              <a:rPr sz="3200" spc="-1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c,</a:t>
            </a:r>
            <a:r>
              <a:rPr sz="3200" spc="-3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5))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7"/>
              </a:spcBef>
            </a:pPr>
            <a:endParaRPr sz="4667">
              <a:latin typeface="Arial"/>
              <a:cs typeface="Arial"/>
            </a:endParaRPr>
          </a:p>
          <a:p>
            <a:pPr marL="724729" algn="ctr">
              <a:spcBef>
                <a:spcPts val="7"/>
              </a:spcBef>
            </a:pPr>
            <a:r>
              <a:rPr sz="3200" spc="-7" dirty="0">
                <a:solidFill>
                  <a:srgbClr val="009900"/>
                </a:solidFill>
                <a:latin typeface="Arial"/>
                <a:cs typeface="Arial"/>
              </a:rPr>
              <a:t>*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03824" y="6263640"/>
            <a:ext cx="271780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dirty="0">
                <a:solidFill>
                  <a:srgbClr val="009900"/>
                </a:solidFill>
                <a:latin typeface="Arial"/>
                <a:cs typeface="Arial"/>
              </a:rPr>
              <a:t>+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63232" y="6263640"/>
            <a:ext cx="169333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dirty="0">
                <a:solidFill>
                  <a:srgbClr val="009900"/>
                </a:solidFill>
                <a:latin typeface="Arial"/>
                <a:cs typeface="Arial"/>
              </a:rPr>
              <a:t>-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54750" y="6848855"/>
            <a:ext cx="2488352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916917" algn="l"/>
                <a:tab pos="1591694" algn="l"/>
                <a:tab pos="2244457" algn="l"/>
              </a:tabLst>
            </a:pPr>
            <a:r>
              <a:rPr sz="3200" spc="-7" dirty="0">
                <a:solidFill>
                  <a:srgbClr val="009900"/>
                </a:solidFill>
                <a:latin typeface="Arial"/>
                <a:cs typeface="Arial"/>
              </a:rPr>
              <a:t>a	b	c	5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392029" y="6060102"/>
            <a:ext cx="383540" cy="336972"/>
          </a:xfrm>
          <a:custGeom>
            <a:avLst/>
            <a:gdLst/>
            <a:ahLst/>
            <a:cxnLst/>
            <a:rect l="l" t="t" r="r" b="b"/>
            <a:pathLst>
              <a:path w="287655" h="252729">
                <a:moveTo>
                  <a:pt x="287274" y="0"/>
                </a:moveTo>
                <a:lnTo>
                  <a:pt x="0" y="252349"/>
                </a:lnTo>
              </a:path>
            </a:pathLst>
          </a:custGeom>
          <a:ln w="9525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 sz="4133"/>
          </a:p>
        </p:txBody>
      </p:sp>
      <p:sp>
        <p:nvSpPr>
          <p:cNvPr id="8" name="object 8"/>
          <p:cNvSpPr/>
          <p:nvPr/>
        </p:nvSpPr>
        <p:spPr>
          <a:xfrm>
            <a:off x="6160295" y="6060102"/>
            <a:ext cx="336972" cy="385233"/>
          </a:xfrm>
          <a:custGeom>
            <a:avLst/>
            <a:gdLst/>
            <a:ahLst/>
            <a:cxnLst/>
            <a:rect l="l" t="t" r="r" b="b"/>
            <a:pathLst>
              <a:path w="252729" h="288925">
                <a:moveTo>
                  <a:pt x="0" y="0"/>
                </a:moveTo>
                <a:lnTo>
                  <a:pt x="252475" y="288925"/>
                </a:lnTo>
              </a:path>
            </a:pathLst>
          </a:custGeom>
          <a:ln w="9525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 sz="4133"/>
          </a:p>
        </p:txBody>
      </p:sp>
      <p:sp>
        <p:nvSpPr>
          <p:cNvPr id="9" name="object 9"/>
          <p:cNvSpPr/>
          <p:nvPr/>
        </p:nvSpPr>
        <p:spPr>
          <a:xfrm>
            <a:off x="4864895" y="6733031"/>
            <a:ext cx="239607" cy="239607"/>
          </a:xfrm>
          <a:custGeom>
            <a:avLst/>
            <a:gdLst/>
            <a:ahLst/>
            <a:cxnLst/>
            <a:rect l="l" t="t" r="r" b="b"/>
            <a:pathLst>
              <a:path w="179705" h="179704">
                <a:moveTo>
                  <a:pt x="179450" y="0"/>
                </a:moveTo>
                <a:lnTo>
                  <a:pt x="0" y="179450"/>
                </a:lnTo>
              </a:path>
            </a:pathLst>
          </a:custGeom>
          <a:ln w="9525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 sz="4133"/>
          </a:p>
        </p:txBody>
      </p:sp>
      <p:sp>
        <p:nvSpPr>
          <p:cNvPr id="10" name="object 10"/>
          <p:cNvSpPr/>
          <p:nvPr/>
        </p:nvSpPr>
        <p:spPr>
          <a:xfrm>
            <a:off x="5392029" y="6733031"/>
            <a:ext cx="193040" cy="190500"/>
          </a:xfrm>
          <a:custGeom>
            <a:avLst/>
            <a:gdLst/>
            <a:ahLst/>
            <a:cxnLst/>
            <a:rect l="l" t="t" r="r" b="b"/>
            <a:pathLst>
              <a:path w="144780" h="142875">
                <a:moveTo>
                  <a:pt x="0" y="0"/>
                </a:moveTo>
                <a:lnTo>
                  <a:pt x="144399" y="142875"/>
                </a:lnTo>
              </a:path>
            </a:pathLst>
          </a:custGeom>
          <a:ln w="9525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 sz="4133"/>
          </a:p>
        </p:txBody>
      </p:sp>
      <p:sp>
        <p:nvSpPr>
          <p:cNvPr id="11" name="object 11"/>
          <p:cNvSpPr/>
          <p:nvPr/>
        </p:nvSpPr>
        <p:spPr>
          <a:xfrm>
            <a:off x="6689461" y="6635665"/>
            <a:ext cx="193040" cy="190500"/>
          </a:xfrm>
          <a:custGeom>
            <a:avLst/>
            <a:gdLst/>
            <a:ahLst/>
            <a:cxnLst/>
            <a:rect l="l" t="t" r="r" b="b"/>
            <a:pathLst>
              <a:path w="144779" h="142875">
                <a:moveTo>
                  <a:pt x="0" y="0"/>
                </a:moveTo>
                <a:lnTo>
                  <a:pt x="144525" y="142875"/>
                </a:lnTo>
              </a:path>
            </a:pathLst>
          </a:custGeom>
          <a:ln w="9524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 sz="4133"/>
          </a:p>
        </p:txBody>
      </p:sp>
      <p:sp>
        <p:nvSpPr>
          <p:cNvPr id="12" name="object 12"/>
          <p:cNvSpPr/>
          <p:nvPr/>
        </p:nvSpPr>
        <p:spPr>
          <a:xfrm>
            <a:off x="6306429" y="6684434"/>
            <a:ext cx="239607" cy="239607"/>
          </a:xfrm>
          <a:custGeom>
            <a:avLst/>
            <a:gdLst/>
            <a:ahLst/>
            <a:cxnLst/>
            <a:rect l="l" t="t" r="r" b="b"/>
            <a:pathLst>
              <a:path w="179704" h="179704">
                <a:moveTo>
                  <a:pt x="179324" y="0"/>
                </a:moveTo>
                <a:lnTo>
                  <a:pt x="0" y="179324"/>
                </a:lnTo>
              </a:path>
            </a:pathLst>
          </a:custGeom>
          <a:ln w="9525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 sz="4133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578521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Time to check your learning!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812881" y="1902941"/>
            <a:ext cx="14904913" cy="6203091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Let’s see how many key concepts from prolog structures you recall by answering the following questions!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What is the relationship between Prolog structures, and trees?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What is special about an anonymous variable?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What are the parts of a prolog structure called?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	this(that(0),</a:t>
            </a:r>
            <a:r>
              <a:rPr lang="en-US" dirty="0" err="1">
                <a:latin typeface="Helvetica" panose="020B0604020202020204" pitchFamily="34" charset="0"/>
                <a:cs typeface="Helvetica" panose="020B0604020202020204" pitchFamily="34" charset="0"/>
              </a:rPr>
              <a:t>theother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392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2881" y="1058470"/>
            <a:ext cx="9475914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8626">
              <a:lnSpc>
                <a:spcPct val="100000"/>
              </a:lnSpc>
              <a:spcBef>
                <a:spcPts val="133"/>
              </a:spcBef>
            </a:pPr>
            <a:r>
              <a:rPr dirty="0"/>
              <a:t>M</a:t>
            </a:r>
            <a:r>
              <a:rPr lang="en-US" dirty="0"/>
              <a:t>atching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747381" y="2166789"/>
            <a:ext cx="8746912" cy="40583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74121" indent="-457189">
              <a:spcBef>
                <a:spcPts val="133"/>
              </a:spcBef>
              <a:buClr>
                <a:srgbClr val="FF3300"/>
              </a:buClr>
              <a:buSzPct val="129166"/>
              <a:buChar char="•"/>
              <a:tabLst>
                <a:tab pos="473275" algn="l"/>
                <a:tab pos="474121" algn="l"/>
              </a:tabLst>
            </a:pPr>
            <a:r>
              <a:rPr sz="3200" spc="-7" dirty="0">
                <a:latin typeface="Arial"/>
                <a:cs typeface="Arial"/>
              </a:rPr>
              <a:t>Matching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is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operation</a:t>
            </a:r>
            <a:r>
              <a:rPr sz="3200" spc="2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on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terms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(structures)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7"/>
              </a:spcBef>
              <a:buClr>
                <a:srgbClr val="FF3300"/>
              </a:buClr>
              <a:buFont typeface="Arial"/>
              <a:buChar char="•"/>
            </a:pPr>
            <a:endParaRPr sz="4667">
              <a:latin typeface="Arial"/>
              <a:cs typeface="Arial"/>
            </a:endParaRPr>
          </a:p>
          <a:p>
            <a:pPr marL="474121" indent="-457189">
              <a:buClr>
                <a:srgbClr val="FF3300"/>
              </a:buClr>
              <a:buSzPct val="129166"/>
              <a:buChar char="•"/>
              <a:tabLst>
                <a:tab pos="473275" algn="l"/>
                <a:tab pos="474121" algn="l"/>
              </a:tabLst>
            </a:pPr>
            <a:r>
              <a:rPr sz="3200" spc="-7" dirty="0">
                <a:latin typeface="Arial"/>
                <a:cs typeface="Arial"/>
              </a:rPr>
              <a:t>Given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two</a:t>
            </a:r>
            <a:r>
              <a:rPr sz="3200" spc="-1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terms,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they</a:t>
            </a:r>
            <a:r>
              <a:rPr sz="3200" spc="-1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match</a:t>
            </a:r>
            <a:r>
              <a:rPr sz="3200" spc="-3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if: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7"/>
              </a:spcBef>
              <a:buClr>
                <a:srgbClr val="FF3300"/>
              </a:buClr>
              <a:buFont typeface="Arial"/>
              <a:buChar char="•"/>
            </a:pPr>
            <a:endParaRPr sz="4667">
              <a:latin typeface="Arial"/>
              <a:cs typeface="Arial"/>
            </a:endParaRPr>
          </a:p>
          <a:p>
            <a:pPr marL="1637412" lvl="1" indent="-723882">
              <a:spcBef>
                <a:spcPts val="7"/>
              </a:spcBef>
              <a:buAutoNum type="arabicParenBoth"/>
              <a:tabLst>
                <a:tab pos="1637412" algn="l"/>
                <a:tab pos="1638259" algn="l"/>
              </a:tabLst>
            </a:pPr>
            <a:r>
              <a:rPr sz="3200" spc="-7" dirty="0">
                <a:latin typeface="Arial"/>
                <a:cs typeface="Arial"/>
              </a:rPr>
              <a:t>They</a:t>
            </a:r>
            <a:r>
              <a:rPr sz="3200" spc="-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are identical,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or</a:t>
            </a:r>
            <a:endParaRPr sz="3200">
              <a:latin typeface="Arial"/>
              <a:cs typeface="Arial"/>
            </a:endParaRPr>
          </a:p>
          <a:p>
            <a:pPr marL="1587460" marR="6773" lvl="1" indent="-673083">
              <a:lnSpc>
                <a:spcPct val="120000"/>
              </a:lnSpc>
              <a:buAutoNum type="arabicParenBoth"/>
              <a:tabLst>
                <a:tab pos="1637412" algn="l"/>
                <a:tab pos="1638259" algn="l"/>
              </a:tabLst>
            </a:pPr>
            <a:r>
              <a:rPr sz="3200" spc="-7" dirty="0">
                <a:latin typeface="Arial"/>
                <a:cs typeface="Arial"/>
              </a:rPr>
              <a:t>They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can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be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made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identical</a:t>
            </a:r>
            <a:r>
              <a:rPr sz="3200" spc="3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by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properly </a:t>
            </a:r>
            <a:r>
              <a:rPr sz="3200" spc="-86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instantiating</a:t>
            </a:r>
            <a:r>
              <a:rPr sz="3200" spc="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the</a:t>
            </a:r>
            <a:r>
              <a:rPr sz="3200" spc="-7" dirty="0">
                <a:latin typeface="Arial"/>
                <a:cs typeface="Arial"/>
              </a:rPr>
              <a:t> variables</a:t>
            </a:r>
            <a:r>
              <a:rPr sz="3200" spc="2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in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both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terms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2881" y="1058470"/>
            <a:ext cx="9475914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en-US" spc="-7" dirty="0"/>
              <a:t>Matching Example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747382" y="2069253"/>
            <a:ext cx="9849273" cy="537224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474121" indent="-457189">
              <a:spcBef>
                <a:spcPts val="900"/>
              </a:spcBef>
              <a:buClr>
                <a:srgbClr val="FF3300"/>
              </a:buClr>
              <a:buSzPct val="129166"/>
              <a:buChar char="•"/>
              <a:tabLst>
                <a:tab pos="473275" algn="l"/>
                <a:tab pos="474121" algn="l"/>
              </a:tabLst>
            </a:pPr>
            <a:r>
              <a:rPr sz="3200" spc="-7" dirty="0">
                <a:latin typeface="Arial"/>
                <a:cs typeface="Arial"/>
              </a:rPr>
              <a:t>Matching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two</a:t>
            </a:r>
            <a:r>
              <a:rPr sz="3200" spc="-2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dates:</a:t>
            </a:r>
          </a:p>
          <a:p>
            <a:pPr marL="1026134">
              <a:spcBef>
                <a:spcPts val="767"/>
              </a:spcBef>
              <a:tabLst>
                <a:tab pos="4866517" algn="l"/>
                <a:tab pos="5327939" algn="l"/>
              </a:tabLst>
            </a:pPr>
            <a:r>
              <a:rPr sz="3200" spc="-7" dirty="0">
                <a:latin typeface="Arial"/>
                <a:cs typeface="Arial"/>
              </a:rPr>
              <a:t>date(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D1,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M1,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2006)	</a:t>
            </a:r>
            <a:r>
              <a:rPr sz="3200" dirty="0">
                <a:latin typeface="Arial"/>
                <a:cs typeface="Arial"/>
              </a:rPr>
              <a:t>=	</a:t>
            </a:r>
            <a:r>
              <a:rPr sz="3200" spc="-7" dirty="0">
                <a:latin typeface="Arial"/>
                <a:cs typeface="Arial"/>
              </a:rPr>
              <a:t>date(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D2,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june,</a:t>
            </a:r>
            <a:r>
              <a:rPr sz="3200" spc="-1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Y2)</a:t>
            </a:r>
          </a:p>
          <a:p>
            <a:pPr>
              <a:spcBef>
                <a:spcPts val="7"/>
              </a:spcBef>
            </a:pPr>
            <a:endParaRPr sz="4000" dirty="0">
              <a:latin typeface="Arial"/>
              <a:cs typeface="Arial"/>
            </a:endParaRPr>
          </a:p>
          <a:p>
            <a:pPr marL="473275" marR="686628" indent="-473275">
              <a:lnSpc>
                <a:spcPct val="120000"/>
              </a:lnSpc>
              <a:buClr>
                <a:srgbClr val="FF3300"/>
              </a:buClr>
              <a:buSzPct val="129166"/>
              <a:buChar char="•"/>
              <a:tabLst>
                <a:tab pos="473275" algn="l"/>
                <a:tab pos="474121" algn="l"/>
              </a:tabLst>
            </a:pPr>
            <a:r>
              <a:rPr sz="3200" dirty="0">
                <a:latin typeface="Arial"/>
                <a:cs typeface="Arial"/>
              </a:rPr>
              <a:t>This </a:t>
            </a:r>
            <a:r>
              <a:rPr sz="3200" spc="-7" dirty="0">
                <a:latin typeface="Arial"/>
                <a:cs typeface="Arial"/>
              </a:rPr>
              <a:t>causes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the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variables</a:t>
            </a:r>
            <a:r>
              <a:rPr sz="3200" spc="2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to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13" dirty="0">
                <a:latin typeface="Arial"/>
                <a:cs typeface="Arial"/>
              </a:rPr>
              <a:t>be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instantiated</a:t>
            </a:r>
            <a:r>
              <a:rPr sz="3200" spc="3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as: </a:t>
            </a:r>
            <a:r>
              <a:rPr sz="3200" spc="-86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D1 </a:t>
            </a:r>
            <a:r>
              <a:rPr sz="3200" dirty="0">
                <a:latin typeface="Arial"/>
                <a:cs typeface="Arial"/>
              </a:rPr>
              <a:t>= </a:t>
            </a:r>
            <a:r>
              <a:rPr sz="3200" spc="-7" dirty="0">
                <a:latin typeface="Arial"/>
                <a:cs typeface="Arial"/>
              </a:rPr>
              <a:t>D</a:t>
            </a:r>
            <a:r>
              <a:rPr lang="en-CA" sz="3200" spc="-7" dirty="0">
                <a:latin typeface="Arial"/>
                <a:cs typeface="Arial"/>
              </a:rPr>
              <a:t>2</a:t>
            </a:r>
          </a:p>
          <a:p>
            <a:pPr marR="686628">
              <a:lnSpc>
                <a:spcPct val="120000"/>
              </a:lnSpc>
              <a:buClr>
                <a:srgbClr val="FF3300"/>
              </a:buClr>
              <a:buSzPct val="129166"/>
              <a:tabLst>
                <a:tab pos="473275" algn="l"/>
                <a:tab pos="474121" algn="l"/>
              </a:tabLst>
            </a:pPr>
            <a:r>
              <a:rPr lang="en-CA" sz="3200" spc="-7" dirty="0">
                <a:latin typeface="Arial"/>
                <a:cs typeface="Arial"/>
              </a:rPr>
              <a:t>   </a:t>
            </a:r>
            <a:r>
              <a:rPr lang="en-US" sz="320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M1 </a:t>
            </a:r>
            <a:r>
              <a:rPr sz="3200" dirty="0">
                <a:latin typeface="Arial"/>
                <a:cs typeface="Arial"/>
              </a:rPr>
              <a:t>= </a:t>
            </a:r>
            <a:r>
              <a:rPr sz="3200" spc="-7" dirty="0" err="1">
                <a:latin typeface="Arial"/>
                <a:cs typeface="Arial"/>
              </a:rPr>
              <a:t>june</a:t>
            </a:r>
            <a:endParaRPr lang="en-US" sz="3200" spc="-7" dirty="0">
              <a:latin typeface="Arial"/>
              <a:cs typeface="Arial"/>
            </a:endParaRPr>
          </a:p>
          <a:p>
            <a:pPr marR="686628">
              <a:lnSpc>
                <a:spcPct val="120000"/>
              </a:lnSpc>
              <a:buClr>
                <a:srgbClr val="FF3300"/>
              </a:buClr>
              <a:buSzPct val="129166"/>
              <a:tabLst>
                <a:tab pos="473275" algn="l"/>
                <a:tab pos="474121" algn="l"/>
              </a:tabLst>
            </a:pPr>
            <a:r>
              <a:rPr lang="en-CA" sz="3200" spc="-7" dirty="0">
                <a:latin typeface="Arial"/>
                <a:cs typeface="Arial"/>
              </a:rPr>
              <a:t>    </a:t>
            </a:r>
            <a:r>
              <a:rPr sz="3200" spc="-7" dirty="0">
                <a:latin typeface="Arial"/>
                <a:cs typeface="Arial"/>
              </a:rPr>
              <a:t>Y2</a:t>
            </a:r>
            <a:r>
              <a:rPr sz="3200" spc="-7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=</a:t>
            </a:r>
            <a:r>
              <a:rPr sz="3200" spc="-5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2006</a:t>
            </a:r>
            <a:endParaRPr sz="3200" dirty="0">
              <a:latin typeface="Arial"/>
              <a:cs typeface="Arial"/>
            </a:endParaRPr>
          </a:p>
          <a:p>
            <a:pPr marL="585879" indent="-568946">
              <a:spcBef>
                <a:spcPts val="767"/>
              </a:spcBef>
              <a:buClr>
                <a:srgbClr val="FF3300"/>
              </a:buClr>
              <a:buSzPct val="129166"/>
              <a:buChar char="•"/>
              <a:tabLst>
                <a:tab pos="585031" algn="l"/>
                <a:tab pos="585879" algn="l"/>
              </a:tabLst>
            </a:pPr>
            <a:r>
              <a:rPr sz="3200" dirty="0">
                <a:latin typeface="Arial"/>
                <a:cs typeface="Arial"/>
              </a:rPr>
              <a:t>This</a:t>
            </a:r>
            <a:r>
              <a:rPr sz="3200" spc="-7" dirty="0">
                <a:latin typeface="Arial"/>
                <a:cs typeface="Arial"/>
              </a:rPr>
              <a:t> is </a:t>
            </a:r>
            <a:r>
              <a:rPr sz="3200" dirty="0">
                <a:latin typeface="Arial"/>
                <a:cs typeface="Arial"/>
              </a:rPr>
              <a:t>the</a:t>
            </a:r>
            <a:r>
              <a:rPr sz="3200" spc="-7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most</a:t>
            </a:r>
            <a:r>
              <a:rPr sz="3200" i="1" spc="-7" dirty="0">
                <a:latin typeface="Arial"/>
                <a:cs typeface="Arial"/>
              </a:rPr>
              <a:t> general</a:t>
            </a:r>
            <a:r>
              <a:rPr sz="3200" i="1" spc="20" dirty="0">
                <a:latin typeface="Arial"/>
                <a:cs typeface="Arial"/>
              </a:rPr>
              <a:t> </a:t>
            </a:r>
            <a:r>
              <a:rPr sz="3200" i="1" spc="-7" dirty="0">
                <a:latin typeface="Arial"/>
                <a:cs typeface="Arial"/>
              </a:rPr>
              <a:t>instantiation</a:t>
            </a:r>
            <a:endParaRPr sz="3200" dirty="0">
              <a:latin typeface="Arial"/>
              <a:cs typeface="Arial"/>
            </a:endParaRPr>
          </a:p>
          <a:p>
            <a:pPr marL="474121" indent="-457189">
              <a:spcBef>
                <a:spcPts val="767"/>
              </a:spcBef>
              <a:buClr>
                <a:srgbClr val="FF3300"/>
              </a:buClr>
              <a:buSzPct val="129166"/>
              <a:buChar char="•"/>
              <a:tabLst>
                <a:tab pos="473275" algn="l"/>
                <a:tab pos="474121" algn="l"/>
              </a:tabLst>
            </a:pPr>
            <a:r>
              <a:rPr sz="3200" dirty="0">
                <a:latin typeface="Arial"/>
                <a:cs typeface="Arial"/>
              </a:rPr>
              <a:t>A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less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general</a:t>
            </a:r>
            <a:r>
              <a:rPr sz="3200" spc="3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instantiation</a:t>
            </a:r>
            <a:r>
              <a:rPr sz="3200" spc="2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would</a:t>
            </a:r>
            <a:r>
              <a:rPr sz="3200" spc="2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be: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D1=D2=17,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...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2881" y="559707"/>
            <a:ext cx="11406828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/>
              <a:t>M</a:t>
            </a:r>
            <a:r>
              <a:rPr lang="en-US" dirty="0"/>
              <a:t>ost</a:t>
            </a:r>
            <a:r>
              <a:rPr spc="-67" dirty="0"/>
              <a:t> </a:t>
            </a:r>
            <a:r>
              <a:rPr dirty="0"/>
              <a:t>G</a:t>
            </a:r>
            <a:r>
              <a:rPr lang="en-US" dirty="0"/>
              <a:t>eneral</a:t>
            </a:r>
            <a:r>
              <a:rPr spc="-60" dirty="0"/>
              <a:t> </a:t>
            </a:r>
            <a:r>
              <a:rPr lang="en-US" dirty="0"/>
              <a:t>Instantiation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262472" y="1501771"/>
            <a:ext cx="10341187" cy="684069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74121" marR="798387" indent="-457189">
              <a:spcBef>
                <a:spcPts val="133"/>
              </a:spcBef>
              <a:buClr>
                <a:srgbClr val="FF3300"/>
              </a:buClr>
              <a:buSzPct val="129166"/>
              <a:buChar char="•"/>
              <a:tabLst>
                <a:tab pos="473275" algn="l"/>
                <a:tab pos="474121" algn="l"/>
              </a:tabLst>
            </a:pPr>
            <a:r>
              <a:rPr sz="3200" dirty="0">
                <a:latin typeface="Arial"/>
                <a:cs typeface="Arial"/>
              </a:rPr>
              <a:t>In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Prolog,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matching</a:t>
            </a:r>
            <a:r>
              <a:rPr sz="3200" spc="2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always</a:t>
            </a:r>
            <a:r>
              <a:rPr sz="3200" spc="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results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in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most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general </a:t>
            </a:r>
            <a:r>
              <a:rPr sz="3200" spc="-86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instantiation</a:t>
            </a:r>
            <a:endParaRPr sz="3200" dirty="0">
              <a:latin typeface="Arial"/>
              <a:cs typeface="Arial"/>
            </a:endParaRPr>
          </a:p>
          <a:p>
            <a:pPr>
              <a:spcBef>
                <a:spcPts val="7"/>
              </a:spcBef>
              <a:buClr>
                <a:srgbClr val="FF3300"/>
              </a:buClr>
              <a:buFont typeface="Arial"/>
              <a:buChar char="•"/>
            </a:pPr>
            <a:endParaRPr sz="4667" dirty="0">
              <a:latin typeface="Arial"/>
              <a:cs typeface="Arial"/>
            </a:endParaRPr>
          </a:p>
          <a:p>
            <a:pPr marL="474121" marR="6773" indent="-457189">
              <a:buClr>
                <a:srgbClr val="FF3300"/>
              </a:buClr>
              <a:buSzPct val="129166"/>
              <a:buChar char="•"/>
              <a:tabLst>
                <a:tab pos="473275" algn="l"/>
                <a:tab pos="474121" algn="l"/>
              </a:tabLst>
            </a:pPr>
            <a:r>
              <a:rPr sz="3200" dirty="0">
                <a:latin typeface="Arial"/>
                <a:cs typeface="Arial"/>
              </a:rPr>
              <a:t>This commits the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variables</a:t>
            </a:r>
            <a:r>
              <a:rPr sz="3200" spc="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to </a:t>
            </a:r>
            <a:r>
              <a:rPr sz="3200" spc="-7" dirty="0">
                <a:latin typeface="Arial"/>
                <a:cs typeface="Arial"/>
              </a:rPr>
              <a:t>the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least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possible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extent, </a:t>
            </a:r>
            <a:r>
              <a:rPr sz="3200" spc="-86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leaving</a:t>
            </a:r>
            <a:r>
              <a:rPr sz="3200" spc="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flexibility</a:t>
            </a:r>
            <a:r>
              <a:rPr sz="3200" spc="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for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further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instantiation</a:t>
            </a:r>
            <a:r>
              <a:rPr sz="3200" spc="3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if</a:t>
            </a:r>
            <a:r>
              <a:rPr sz="3200" spc="-7" dirty="0">
                <a:latin typeface="Arial"/>
                <a:cs typeface="Arial"/>
              </a:rPr>
              <a:t> required</a:t>
            </a:r>
            <a:endParaRPr sz="3200" dirty="0">
              <a:latin typeface="Arial"/>
              <a:cs typeface="Arial"/>
            </a:endParaRPr>
          </a:p>
          <a:p>
            <a:pPr>
              <a:spcBef>
                <a:spcPts val="13"/>
              </a:spcBef>
              <a:buClr>
                <a:srgbClr val="FF3300"/>
              </a:buClr>
              <a:buFont typeface="Arial"/>
              <a:buChar char="•"/>
            </a:pPr>
            <a:endParaRPr sz="4667" dirty="0">
              <a:latin typeface="Arial"/>
              <a:cs typeface="Arial"/>
            </a:endParaRPr>
          </a:p>
          <a:p>
            <a:pPr marL="474121" indent="-457189">
              <a:buClr>
                <a:srgbClr val="FF3300"/>
              </a:buClr>
              <a:buSzPct val="129166"/>
              <a:buChar char="•"/>
              <a:tabLst>
                <a:tab pos="473275" algn="l"/>
                <a:tab pos="474121" algn="l"/>
              </a:tabLst>
            </a:pPr>
            <a:r>
              <a:rPr sz="3200" dirty="0">
                <a:latin typeface="Arial"/>
                <a:cs typeface="Arial"/>
              </a:rPr>
              <a:t>For</a:t>
            </a:r>
            <a:r>
              <a:rPr sz="3200" spc="-6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example:</a:t>
            </a:r>
            <a:endParaRPr sz="3200" dirty="0">
              <a:latin typeface="Arial"/>
              <a:cs typeface="Arial"/>
            </a:endParaRPr>
          </a:p>
          <a:p>
            <a:pPr marL="1474856" marR="1005815" indent="-448722">
              <a:lnSpc>
                <a:spcPct val="120000"/>
              </a:lnSpc>
              <a:tabLst>
                <a:tab pos="5314394" algn="l"/>
                <a:tab pos="5339793" algn="l"/>
                <a:tab pos="5775816" algn="l"/>
                <a:tab pos="5801215" algn="l"/>
              </a:tabLst>
            </a:pPr>
            <a:r>
              <a:rPr sz="3200" spc="-7" dirty="0">
                <a:latin typeface="Arial"/>
                <a:cs typeface="Arial"/>
              </a:rPr>
              <a:t>?-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date(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D1,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M1,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2006)		</a:t>
            </a:r>
            <a:r>
              <a:rPr sz="3200" dirty="0">
                <a:latin typeface="Arial"/>
                <a:cs typeface="Arial"/>
              </a:rPr>
              <a:t>=		</a:t>
            </a:r>
            <a:r>
              <a:rPr sz="3200" spc="-7" dirty="0">
                <a:latin typeface="Arial"/>
                <a:cs typeface="Arial"/>
              </a:rPr>
              <a:t>date(</a:t>
            </a:r>
            <a:r>
              <a:rPr sz="3200" spc="-2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D2,</a:t>
            </a:r>
            <a:r>
              <a:rPr sz="3200" spc="-2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june,</a:t>
            </a:r>
            <a:r>
              <a:rPr sz="3200" spc="-1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Y2), </a:t>
            </a:r>
            <a:r>
              <a:rPr sz="3200" spc="-87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date(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D1,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M1,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2006)	</a:t>
            </a:r>
            <a:r>
              <a:rPr sz="3200" dirty="0">
                <a:latin typeface="Arial"/>
                <a:cs typeface="Arial"/>
              </a:rPr>
              <a:t>=	</a:t>
            </a:r>
            <a:r>
              <a:rPr sz="3200" spc="-7" dirty="0">
                <a:latin typeface="Arial"/>
                <a:cs typeface="Arial"/>
              </a:rPr>
              <a:t>date(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17,</a:t>
            </a:r>
            <a:r>
              <a:rPr sz="3200" spc="-1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M3,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Y3).</a:t>
            </a:r>
            <a:endParaRPr sz="3200" dirty="0">
              <a:latin typeface="Arial"/>
              <a:cs typeface="Arial"/>
            </a:endParaRPr>
          </a:p>
          <a:p>
            <a:pPr>
              <a:spcBef>
                <a:spcPts val="7"/>
              </a:spcBef>
            </a:pPr>
            <a:endParaRPr sz="4000" dirty="0">
              <a:latin typeface="Arial"/>
              <a:cs typeface="Arial"/>
            </a:endParaRPr>
          </a:p>
          <a:p>
            <a:pPr marL="577412" marR="2280016">
              <a:lnSpc>
                <a:spcPct val="120000"/>
              </a:lnSpc>
              <a:tabLst>
                <a:tab pos="2349441" algn="l"/>
                <a:tab pos="2778691" algn="l"/>
                <a:tab pos="4121470" algn="l"/>
              </a:tabLst>
            </a:pPr>
            <a:r>
              <a:rPr sz="3200" spc="-7" dirty="0">
                <a:latin typeface="Arial"/>
                <a:cs typeface="Arial"/>
              </a:rPr>
              <a:t>D1</a:t>
            </a:r>
            <a:r>
              <a:rPr sz="3200" dirty="0">
                <a:latin typeface="Arial"/>
                <a:cs typeface="Arial"/>
              </a:rPr>
              <a:t> = 17,	</a:t>
            </a:r>
            <a:r>
              <a:rPr sz="3200" spc="-7" dirty="0">
                <a:latin typeface="Arial"/>
                <a:cs typeface="Arial"/>
              </a:rPr>
              <a:t>D2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=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17,	M1</a:t>
            </a:r>
            <a:r>
              <a:rPr sz="3200" spc="-2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=</a:t>
            </a:r>
            <a:r>
              <a:rPr sz="3200" spc="-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june,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M3</a:t>
            </a:r>
            <a:r>
              <a:rPr sz="3200" spc="-1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=</a:t>
            </a:r>
            <a:r>
              <a:rPr sz="3200" spc="-7" dirty="0">
                <a:latin typeface="Arial"/>
                <a:cs typeface="Arial"/>
              </a:rPr>
              <a:t> june, </a:t>
            </a:r>
            <a:r>
              <a:rPr sz="3200" spc="-86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Y2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=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2006,	Y3 </a:t>
            </a:r>
            <a:r>
              <a:rPr sz="3200" dirty="0">
                <a:latin typeface="Arial"/>
                <a:cs typeface="Arial"/>
              </a:rPr>
              <a:t>=</a:t>
            </a:r>
            <a:r>
              <a:rPr sz="3200" spc="-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2006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2990" y="426636"/>
            <a:ext cx="9475914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8626">
              <a:lnSpc>
                <a:spcPct val="100000"/>
              </a:lnSpc>
              <a:spcBef>
                <a:spcPts val="133"/>
              </a:spcBef>
            </a:pPr>
            <a:r>
              <a:rPr dirty="0"/>
              <a:t>M</a:t>
            </a:r>
            <a:r>
              <a:rPr lang="en-US" dirty="0"/>
              <a:t>atching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251090" y="1731874"/>
            <a:ext cx="14196727" cy="578284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74121" marR="6773" indent="-457189">
              <a:spcBef>
                <a:spcPts val="133"/>
              </a:spcBef>
              <a:buClr>
                <a:srgbClr val="FF3300"/>
              </a:buClr>
              <a:buSzPct val="129166"/>
              <a:buChar char="•"/>
              <a:tabLst>
                <a:tab pos="473275" algn="l"/>
                <a:tab pos="474121" algn="l"/>
              </a:tabLst>
            </a:pPr>
            <a:r>
              <a:rPr sz="3200" spc="-7" dirty="0">
                <a:latin typeface="Arial"/>
                <a:cs typeface="Arial"/>
              </a:rPr>
              <a:t>Matching</a:t>
            </a:r>
            <a:r>
              <a:rPr sz="3200" spc="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succeeds</a:t>
            </a:r>
            <a:r>
              <a:rPr sz="3200" spc="3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or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fails;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if </a:t>
            </a:r>
            <a:r>
              <a:rPr sz="3200" spc="-7" dirty="0">
                <a:latin typeface="Arial"/>
                <a:cs typeface="Arial"/>
              </a:rPr>
              <a:t>succeeds</a:t>
            </a:r>
            <a:r>
              <a:rPr sz="3200" spc="2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then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it</a:t>
            </a:r>
            <a:r>
              <a:rPr sz="3200" spc="-7" dirty="0">
                <a:latin typeface="Arial"/>
                <a:cs typeface="Arial"/>
              </a:rPr>
              <a:t> results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in </a:t>
            </a:r>
            <a:r>
              <a:rPr sz="3200" spc="-86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the </a:t>
            </a:r>
            <a:r>
              <a:rPr sz="3200" dirty="0">
                <a:latin typeface="Arial"/>
                <a:cs typeface="Arial"/>
              </a:rPr>
              <a:t>most </a:t>
            </a:r>
            <a:r>
              <a:rPr sz="3200" spc="-7" dirty="0">
                <a:latin typeface="Arial"/>
                <a:cs typeface="Arial"/>
              </a:rPr>
              <a:t>general</a:t>
            </a:r>
            <a:r>
              <a:rPr sz="3200" spc="2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instantiation</a:t>
            </a:r>
            <a:endParaRPr sz="3200" dirty="0">
              <a:latin typeface="Arial"/>
              <a:cs typeface="Arial"/>
            </a:endParaRPr>
          </a:p>
          <a:p>
            <a:pPr>
              <a:spcBef>
                <a:spcPts val="7"/>
              </a:spcBef>
              <a:buClr>
                <a:srgbClr val="FF3300"/>
              </a:buClr>
              <a:buFont typeface="Arial"/>
              <a:buChar char="•"/>
            </a:pPr>
            <a:endParaRPr sz="4667" dirty="0">
              <a:latin typeface="Arial"/>
              <a:cs typeface="Arial"/>
            </a:endParaRPr>
          </a:p>
          <a:p>
            <a:pPr marL="474121" indent="-457189">
              <a:buClr>
                <a:srgbClr val="FF3300"/>
              </a:buClr>
              <a:buSzPct val="129166"/>
              <a:buChar char="•"/>
              <a:tabLst>
                <a:tab pos="473275" algn="l"/>
                <a:tab pos="474121" algn="l"/>
              </a:tabLst>
            </a:pPr>
            <a:r>
              <a:rPr lang="en-US" sz="3200" dirty="0">
                <a:latin typeface="Arial"/>
                <a:cs typeface="Arial"/>
              </a:rPr>
              <a:t>Matching algorithm on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terms</a:t>
            </a:r>
            <a:r>
              <a:rPr sz="3200" spc="-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S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and </a:t>
            </a:r>
            <a:r>
              <a:rPr sz="3200" dirty="0">
                <a:latin typeface="Arial"/>
                <a:cs typeface="Arial"/>
              </a:rPr>
              <a:t>T:</a:t>
            </a:r>
          </a:p>
          <a:p>
            <a:pPr marL="474121" marR="43178" lvl="1" indent="-8466">
              <a:spcBef>
                <a:spcPts val="767"/>
              </a:spcBef>
              <a:buAutoNum type="arabicParenBoth"/>
              <a:tabLst>
                <a:tab pos="1076086" algn="l"/>
              </a:tabLst>
            </a:pPr>
            <a:r>
              <a:rPr lang="en-US" sz="320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If S </a:t>
            </a:r>
            <a:r>
              <a:rPr sz="3200" spc="-7" dirty="0">
                <a:latin typeface="Arial"/>
                <a:cs typeface="Arial"/>
              </a:rPr>
              <a:t>and </a:t>
            </a:r>
            <a:r>
              <a:rPr sz="3200" dirty="0">
                <a:latin typeface="Arial"/>
                <a:cs typeface="Arial"/>
              </a:rPr>
              <a:t>T </a:t>
            </a:r>
            <a:r>
              <a:rPr sz="3200" spc="-7" dirty="0">
                <a:latin typeface="Arial"/>
                <a:cs typeface="Arial"/>
              </a:rPr>
              <a:t>are constants then </a:t>
            </a:r>
            <a:r>
              <a:rPr sz="3200" dirty="0">
                <a:latin typeface="Arial"/>
                <a:cs typeface="Arial"/>
              </a:rPr>
              <a:t>they match </a:t>
            </a:r>
            <a:r>
              <a:rPr sz="3200" spc="-7" dirty="0">
                <a:latin typeface="Arial"/>
                <a:cs typeface="Arial"/>
              </a:rPr>
              <a:t>only </a:t>
            </a:r>
            <a:r>
              <a:rPr sz="3200" dirty="0">
                <a:latin typeface="Arial"/>
                <a:cs typeface="Arial"/>
              </a:rPr>
              <a:t>if they </a:t>
            </a:r>
            <a:r>
              <a:rPr sz="3200" spc="-87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are identical</a:t>
            </a:r>
            <a:endParaRPr sz="3200" dirty="0">
              <a:latin typeface="Arial"/>
              <a:cs typeface="Arial"/>
            </a:endParaRPr>
          </a:p>
          <a:p>
            <a:pPr marL="474121" marR="1121805" lvl="1" indent="-8466">
              <a:spcBef>
                <a:spcPts val="773"/>
              </a:spcBef>
              <a:buAutoNum type="arabicParenBoth"/>
              <a:tabLst>
                <a:tab pos="1075240" algn="l"/>
              </a:tabLst>
            </a:pPr>
            <a:r>
              <a:rPr lang="en-US" sz="320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If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S</a:t>
            </a:r>
            <a:r>
              <a:rPr sz="3200" spc="-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is a</a:t>
            </a:r>
            <a:r>
              <a:rPr sz="3200" spc="-7" dirty="0">
                <a:latin typeface="Arial"/>
                <a:cs typeface="Arial"/>
              </a:rPr>
              <a:t> variable</a:t>
            </a:r>
            <a:r>
              <a:rPr sz="3200" spc="2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then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matching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succeeds,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S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is </a:t>
            </a:r>
            <a:r>
              <a:rPr sz="3200" spc="-87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instantiated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to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T</a:t>
            </a:r>
            <a:endParaRPr lang="en-US" sz="3200" spc="-7" dirty="0">
              <a:latin typeface="Arial"/>
              <a:cs typeface="Arial"/>
            </a:endParaRPr>
          </a:p>
          <a:p>
            <a:pPr marL="474121" marR="1121805" lvl="1" indent="-8466">
              <a:spcBef>
                <a:spcPts val="773"/>
              </a:spcBef>
              <a:buAutoNum type="arabicParenBoth"/>
              <a:tabLst>
                <a:tab pos="1075240" algn="l"/>
              </a:tabLst>
            </a:pPr>
            <a:r>
              <a:rPr lang="en-US" sz="320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if</a:t>
            </a:r>
            <a:r>
              <a:rPr sz="3200" spc="-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</a:t>
            </a:r>
            <a:r>
              <a:rPr sz="3200" spc="-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is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a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variable</a:t>
            </a:r>
            <a:r>
              <a:rPr lang="en-US" sz="3200" spc="-7" dirty="0">
                <a:latin typeface="Arial"/>
                <a:cs typeface="Arial"/>
              </a:rPr>
              <a:t> then matching succeeds, T is instantiated to S</a:t>
            </a:r>
            <a:endParaRPr sz="3200" dirty="0">
              <a:latin typeface="Arial"/>
              <a:cs typeface="Arial"/>
            </a:endParaRPr>
          </a:p>
          <a:p>
            <a:pPr marL="1075240" lvl="1" indent="-610430">
              <a:spcBef>
                <a:spcPts val="767"/>
              </a:spcBef>
              <a:buAutoNum type="arabicParenBoth"/>
              <a:tabLst>
                <a:tab pos="1076086" algn="l"/>
              </a:tabLst>
            </a:pPr>
            <a:r>
              <a:rPr sz="3200" dirty="0">
                <a:latin typeface="Arial"/>
                <a:cs typeface="Arial"/>
              </a:rPr>
              <a:t>If</a:t>
            </a:r>
            <a:r>
              <a:rPr sz="3200" spc="-3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S </a:t>
            </a:r>
            <a:r>
              <a:rPr sz="3200" spc="-7" dirty="0">
                <a:latin typeface="Arial"/>
                <a:cs typeface="Arial"/>
              </a:rPr>
              <a:t>and</a:t>
            </a:r>
            <a:r>
              <a:rPr sz="3200" dirty="0">
                <a:latin typeface="Arial"/>
                <a:cs typeface="Arial"/>
              </a:rPr>
              <a:t> T </a:t>
            </a:r>
            <a:r>
              <a:rPr sz="3200" spc="-7" dirty="0">
                <a:latin typeface="Arial"/>
                <a:cs typeface="Arial"/>
              </a:rPr>
              <a:t>are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structures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then</a:t>
            </a:r>
            <a:r>
              <a:rPr sz="3200" spc="-1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they match </a:t>
            </a:r>
            <a:r>
              <a:rPr sz="3200" spc="-7" dirty="0">
                <a:latin typeface="Arial"/>
                <a:cs typeface="Arial"/>
              </a:rPr>
              <a:t>only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if</a:t>
            </a:r>
          </a:p>
          <a:p>
            <a:pPr marL="1523962" lvl="2" indent="-610430">
              <a:spcBef>
                <a:spcPts val="767"/>
              </a:spcBef>
              <a:buAutoNum type="alphaLcParenBoth"/>
              <a:tabLst>
                <a:tab pos="1524809" algn="l"/>
              </a:tabLst>
            </a:pPr>
            <a:r>
              <a:rPr sz="3200" spc="-7" dirty="0">
                <a:latin typeface="Arial"/>
                <a:cs typeface="Arial"/>
              </a:rPr>
              <a:t>they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both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have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the </a:t>
            </a:r>
            <a:r>
              <a:rPr sz="3200" spc="-7" dirty="0">
                <a:latin typeface="Arial"/>
                <a:cs typeface="Arial"/>
              </a:rPr>
              <a:t>same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principal</a:t>
            </a:r>
            <a:r>
              <a:rPr sz="3200" spc="3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functor,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and</a:t>
            </a:r>
            <a:endParaRPr sz="3200" dirty="0">
              <a:latin typeface="Arial"/>
              <a:cs typeface="Arial"/>
            </a:endParaRPr>
          </a:p>
          <a:p>
            <a:pPr marL="1523962" lvl="2" indent="-610430">
              <a:spcBef>
                <a:spcPts val="773"/>
              </a:spcBef>
              <a:buAutoNum type="alphaLcParenBoth"/>
              <a:tabLst>
                <a:tab pos="1524809" algn="l"/>
              </a:tabLst>
            </a:pPr>
            <a:r>
              <a:rPr sz="3200" spc="-7" dirty="0">
                <a:latin typeface="Arial"/>
                <a:cs typeface="Arial"/>
              </a:rPr>
              <a:t>all</a:t>
            </a:r>
            <a:r>
              <a:rPr sz="3200" spc="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their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corresponding</a:t>
            </a:r>
            <a:r>
              <a:rPr sz="3200" spc="3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arguments</a:t>
            </a:r>
            <a:r>
              <a:rPr sz="3200" spc="3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match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2881" y="1058470"/>
            <a:ext cx="9475914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  <a:tabLst>
                <a:tab pos="3207093" algn="l"/>
                <a:tab pos="3805672" algn="l"/>
              </a:tabLst>
            </a:pPr>
            <a:r>
              <a:rPr dirty="0"/>
              <a:t>M</a:t>
            </a:r>
            <a:r>
              <a:rPr lang="en-US" dirty="0"/>
              <a:t>atching</a:t>
            </a:r>
            <a:r>
              <a:rPr dirty="0"/>
              <a:t>	≈	</a:t>
            </a:r>
            <a:r>
              <a:rPr lang="en-US" spc="-7" dirty="0"/>
              <a:t>Unification</a:t>
            </a:r>
            <a:endParaRPr spc="-7" dirty="0"/>
          </a:p>
        </p:txBody>
      </p:sp>
      <p:sp>
        <p:nvSpPr>
          <p:cNvPr id="3" name="object 3"/>
          <p:cNvSpPr txBox="1"/>
          <p:nvPr/>
        </p:nvSpPr>
        <p:spPr>
          <a:xfrm>
            <a:off x="2747381" y="2166788"/>
            <a:ext cx="10843928" cy="565973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74121" indent="-457189">
              <a:spcBef>
                <a:spcPts val="133"/>
              </a:spcBef>
              <a:buClr>
                <a:srgbClr val="FF3300"/>
              </a:buClr>
              <a:buSzPct val="129166"/>
              <a:buChar char="•"/>
              <a:tabLst>
                <a:tab pos="473275" algn="l"/>
                <a:tab pos="474121" algn="l"/>
              </a:tabLst>
            </a:pPr>
            <a:r>
              <a:rPr sz="3200" spc="-7" dirty="0">
                <a:latin typeface="Arial"/>
                <a:cs typeface="Arial"/>
              </a:rPr>
              <a:t>Unification</a:t>
            </a:r>
            <a:r>
              <a:rPr sz="3200" spc="2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known</a:t>
            </a:r>
            <a:r>
              <a:rPr sz="3200" spc="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in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predicate</a:t>
            </a:r>
            <a:r>
              <a:rPr sz="3200" spc="2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logic</a:t>
            </a:r>
            <a:endParaRPr sz="4667" dirty="0">
              <a:latin typeface="Arial"/>
              <a:cs typeface="Arial"/>
            </a:endParaRPr>
          </a:p>
          <a:p>
            <a:pPr marL="474121" indent="-457189">
              <a:buClr>
                <a:srgbClr val="FF3300"/>
              </a:buClr>
              <a:buSzPct val="129166"/>
              <a:buChar char="•"/>
              <a:tabLst>
                <a:tab pos="473275" algn="l"/>
                <a:tab pos="474121" algn="l"/>
              </a:tabLst>
            </a:pPr>
            <a:r>
              <a:rPr sz="3200" spc="-7" dirty="0">
                <a:latin typeface="Arial"/>
                <a:cs typeface="Arial"/>
              </a:rPr>
              <a:t>Unification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=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Matching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+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Occurs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check</a:t>
            </a:r>
            <a:endParaRPr lang="en-US" sz="3200" spc="-7" dirty="0">
              <a:latin typeface="Arial"/>
              <a:cs typeface="Arial"/>
            </a:endParaRPr>
          </a:p>
          <a:p>
            <a:pPr marL="474121" indent="-457189">
              <a:buClr>
                <a:srgbClr val="FF3300"/>
              </a:buClr>
              <a:buSzPct val="129166"/>
              <a:buChar char="•"/>
              <a:tabLst>
                <a:tab pos="473275" algn="l"/>
                <a:tab pos="474121" algn="l"/>
              </a:tabLst>
            </a:pPr>
            <a:r>
              <a:rPr lang="en-CA" sz="3200" spc="-7" dirty="0">
                <a:latin typeface="Arial"/>
                <a:cs typeface="Arial"/>
              </a:rPr>
              <a:t>Occurs check: does one side occur within the other side?</a:t>
            </a:r>
          </a:p>
          <a:p>
            <a:pPr marL="474121" indent="-457189">
              <a:buClr>
                <a:srgbClr val="FF3300"/>
              </a:buClr>
              <a:buSzPct val="129166"/>
              <a:buChar char="•"/>
              <a:tabLst>
                <a:tab pos="473275" algn="l"/>
                <a:tab pos="474121" algn="l"/>
              </a:tabLst>
            </a:pPr>
            <a:r>
              <a:rPr lang="en-CA" sz="3200" spc="-7" dirty="0">
                <a:latin typeface="Arial"/>
                <a:cs typeface="Arial"/>
              </a:rPr>
              <a:t>Unification is the same as matching except unification fails if one side occurs within the other side</a:t>
            </a:r>
          </a:p>
          <a:p>
            <a:pPr marL="474121" indent="-457189">
              <a:buClr>
                <a:srgbClr val="FF3300"/>
              </a:buClr>
              <a:buSzPct val="129166"/>
              <a:buChar char="•"/>
              <a:tabLst>
                <a:tab pos="473275" algn="l"/>
                <a:tab pos="474121" algn="l"/>
              </a:tabLst>
            </a:pPr>
            <a:r>
              <a:rPr lang="en-CA" sz="3200" spc="-7" dirty="0">
                <a:latin typeface="Arial"/>
                <a:cs typeface="Arial"/>
              </a:rPr>
              <a:t>We can turn on the occurs check if necessary, but for efficiency reasons the default is no occurs check</a:t>
            </a:r>
            <a:endParaRPr sz="4667" dirty="0">
              <a:latin typeface="Arial"/>
              <a:cs typeface="Arial"/>
            </a:endParaRPr>
          </a:p>
          <a:p>
            <a:pPr marL="474121" indent="-457189">
              <a:spcBef>
                <a:spcPts val="7"/>
              </a:spcBef>
              <a:buClr>
                <a:srgbClr val="FF3300"/>
              </a:buClr>
              <a:buSzPct val="129166"/>
              <a:buChar char="•"/>
              <a:tabLst>
                <a:tab pos="473275" algn="l"/>
                <a:tab pos="474121" algn="l"/>
              </a:tabLst>
            </a:pPr>
            <a:r>
              <a:rPr sz="3200" dirty="0">
                <a:latin typeface="Arial"/>
                <a:cs typeface="Arial"/>
              </a:rPr>
              <a:t>What</a:t>
            </a:r>
            <a:r>
              <a:rPr sz="3200" spc="-7" dirty="0">
                <a:latin typeface="Arial"/>
                <a:cs typeface="Arial"/>
              </a:rPr>
              <a:t> happens</a:t>
            </a:r>
            <a:r>
              <a:rPr sz="3200" spc="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when we</a:t>
            </a:r>
            <a:r>
              <a:rPr sz="3200" dirty="0">
                <a:latin typeface="Arial"/>
                <a:cs typeface="Arial"/>
              </a:rPr>
              <a:t> ask</a:t>
            </a:r>
            <a:r>
              <a:rPr sz="3200" spc="-7" dirty="0">
                <a:latin typeface="Arial"/>
                <a:cs typeface="Arial"/>
              </a:rPr>
              <a:t> Prolog:</a:t>
            </a:r>
            <a:endParaRPr sz="3200" dirty="0">
              <a:latin typeface="Arial"/>
              <a:cs typeface="Arial"/>
            </a:endParaRPr>
          </a:p>
          <a:p>
            <a:pPr>
              <a:spcBef>
                <a:spcPts val="7"/>
              </a:spcBef>
            </a:pPr>
            <a:endParaRPr sz="4667" dirty="0">
              <a:latin typeface="Arial"/>
              <a:cs typeface="Arial"/>
            </a:endParaRPr>
          </a:p>
          <a:p>
            <a:pPr marL="1811821">
              <a:spcBef>
                <a:spcPts val="7"/>
              </a:spcBef>
              <a:tabLst>
                <a:tab pos="2398547" algn="l"/>
              </a:tabLst>
            </a:pPr>
            <a:r>
              <a:rPr sz="3200" spc="-7" dirty="0">
                <a:latin typeface="Arial"/>
                <a:cs typeface="Arial"/>
              </a:rPr>
              <a:t>?-	</a:t>
            </a:r>
            <a:r>
              <a:rPr sz="3200" dirty="0">
                <a:latin typeface="Arial"/>
                <a:cs typeface="Arial"/>
              </a:rPr>
              <a:t>X</a:t>
            </a:r>
            <a:r>
              <a:rPr sz="3200" spc="-4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=</a:t>
            </a:r>
            <a:r>
              <a:rPr sz="3200" spc="-6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f(</a:t>
            </a:r>
            <a:r>
              <a:rPr sz="3200">
                <a:latin typeface="Arial"/>
                <a:cs typeface="Arial"/>
              </a:rPr>
              <a:t>X).</a:t>
            </a:r>
            <a:endParaRPr sz="4667" dirty="0">
              <a:latin typeface="Arial"/>
              <a:cs typeface="Arial"/>
            </a:endParaRPr>
          </a:p>
          <a:p>
            <a:pPr marL="577412"/>
            <a:r>
              <a:rPr sz="3200" spc="-7" dirty="0">
                <a:latin typeface="Arial"/>
                <a:cs typeface="Arial"/>
              </a:rPr>
              <a:t>Matching</a:t>
            </a:r>
            <a:r>
              <a:rPr sz="3200" spc="2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succeeds,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unification</a:t>
            </a:r>
            <a:r>
              <a:rPr sz="3200" spc="4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fails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F4294-EF1D-ADF7-C896-AE1438305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768365"/>
            <a:ext cx="10797228" cy="1335973"/>
          </a:xfrm>
        </p:spPr>
        <p:txBody>
          <a:bodyPr/>
          <a:lstStyle/>
          <a:p>
            <a:r>
              <a:rPr lang="en-US" dirty="0"/>
              <a:t>Stating that two things are different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81E547-8FB1-3E14-6576-A03402F2C6C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7FBA68-C94D-FB29-F434-AC0D131626FE}"/>
              </a:ext>
            </a:extLst>
          </p:cNvPr>
          <p:cNvSpPr txBox="1"/>
          <p:nvPr/>
        </p:nvSpPr>
        <p:spPr>
          <a:xfrm>
            <a:off x="1048409" y="1663511"/>
            <a:ext cx="14718063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Two possibilities for stating that two things are different:</a:t>
            </a:r>
          </a:p>
          <a:p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negation operator, \+,  is problematic because of the way Prolog deals with negation (more on this later):</a:t>
            </a:r>
          </a:p>
          <a:p>
            <a:r>
              <a:rPr lang="en-US" dirty="0"/>
              <a:t>       \+ X = Y     % unless both X and Y are instantiated, this always fails</a:t>
            </a:r>
          </a:p>
          <a:p>
            <a:r>
              <a:rPr lang="en-US" dirty="0"/>
              <a:t>       \+ X = 4     % this will always fail unless X is instantiated to something not 4</a:t>
            </a:r>
          </a:p>
          <a:p>
            <a:r>
              <a:rPr lang="en-US" dirty="0"/>
              <a:t>       ?- X = a, \+ X = Y.       % fails, because Y can match anything including a</a:t>
            </a:r>
          </a:p>
          <a:p>
            <a:r>
              <a:rPr lang="en-US" dirty="0"/>
              <a:t>       ?- X = a, Y = b, \+ X = Y.   % true, because a cannot match b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US" dirty="0"/>
              <a:t>The </a:t>
            </a:r>
            <a:r>
              <a:rPr lang="en-US" dirty="0" err="1"/>
              <a:t>dif</a:t>
            </a:r>
            <a:r>
              <a:rPr lang="en-US" dirty="0"/>
              <a:t>/2 </a:t>
            </a:r>
            <a:r>
              <a:rPr lang="en-US" dirty="0" err="1"/>
              <a:t>builtin</a:t>
            </a:r>
            <a:r>
              <a:rPr lang="en-US" dirty="0"/>
              <a:t> predicate is part of the constraint system.  It's better because</a:t>
            </a:r>
          </a:p>
          <a:p>
            <a:r>
              <a:rPr lang="en-US" dirty="0"/>
              <a:t>      it delays the comparison until X and Y are both instantiated</a:t>
            </a:r>
          </a:p>
          <a:p>
            <a:r>
              <a:rPr lang="en-US" dirty="0"/>
              <a:t>      </a:t>
            </a:r>
            <a:r>
              <a:rPr lang="en-US" dirty="0" err="1"/>
              <a:t>dif</a:t>
            </a:r>
            <a:r>
              <a:rPr lang="en-US" dirty="0"/>
              <a:t>(X,Y)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3406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8298" y="313459"/>
            <a:ext cx="11074319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/>
              <a:t>C</a:t>
            </a:r>
            <a:r>
              <a:rPr lang="en-US" dirty="0"/>
              <a:t>omputation</a:t>
            </a:r>
            <a:r>
              <a:rPr spc="-60" dirty="0"/>
              <a:t> </a:t>
            </a:r>
            <a:r>
              <a:rPr lang="en-US" spc="-7" dirty="0"/>
              <a:t>with</a:t>
            </a:r>
            <a:r>
              <a:rPr spc="-53" dirty="0"/>
              <a:t> </a:t>
            </a:r>
            <a:r>
              <a:rPr lang="en-US" dirty="0"/>
              <a:t>Matching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539563" y="1660993"/>
            <a:ext cx="8598747" cy="641378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spc="-7" dirty="0">
                <a:solidFill>
                  <a:srgbClr val="808080"/>
                </a:solidFill>
                <a:latin typeface="Arial"/>
                <a:cs typeface="Arial"/>
              </a:rPr>
              <a:t>%</a:t>
            </a:r>
            <a:r>
              <a:rPr sz="3200" spc="7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3200" spc="-7" dirty="0">
                <a:solidFill>
                  <a:srgbClr val="808080"/>
                </a:solidFill>
                <a:latin typeface="Arial"/>
                <a:cs typeface="Arial"/>
              </a:rPr>
              <a:t>Definition</a:t>
            </a:r>
            <a:r>
              <a:rPr sz="3200" spc="27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808080"/>
                </a:solidFill>
                <a:latin typeface="Arial"/>
                <a:cs typeface="Arial"/>
              </a:rPr>
              <a:t>of</a:t>
            </a:r>
            <a:r>
              <a:rPr sz="3200" spc="13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3200" spc="-7" dirty="0">
                <a:solidFill>
                  <a:srgbClr val="808080"/>
                </a:solidFill>
                <a:latin typeface="Arial"/>
                <a:cs typeface="Arial"/>
              </a:rPr>
              <a:t>vertical</a:t>
            </a:r>
            <a:r>
              <a:rPr sz="3200" spc="20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3200" spc="-7" dirty="0">
                <a:solidFill>
                  <a:srgbClr val="808080"/>
                </a:solidFill>
                <a:latin typeface="Arial"/>
                <a:cs typeface="Arial"/>
              </a:rPr>
              <a:t>and</a:t>
            </a:r>
            <a:r>
              <a:rPr sz="3200" spc="13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3200" spc="-7" dirty="0">
                <a:solidFill>
                  <a:srgbClr val="808080"/>
                </a:solidFill>
                <a:latin typeface="Arial"/>
                <a:cs typeface="Arial"/>
              </a:rPr>
              <a:t>horizontal</a:t>
            </a:r>
            <a:r>
              <a:rPr sz="3200" spc="40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3200" spc="-7" dirty="0">
                <a:solidFill>
                  <a:srgbClr val="808080"/>
                </a:solidFill>
                <a:latin typeface="Arial"/>
                <a:cs typeface="Arial"/>
              </a:rPr>
              <a:t>segments</a:t>
            </a:r>
            <a:endParaRPr sz="3200" dirty="0">
              <a:latin typeface="Arial"/>
              <a:cs typeface="Arial"/>
            </a:endParaRPr>
          </a:p>
          <a:p>
            <a:pPr>
              <a:spcBef>
                <a:spcPts val="7"/>
              </a:spcBef>
            </a:pPr>
            <a:endParaRPr sz="4000" dirty="0">
              <a:latin typeface="Arial"/>
              <a:cs typeface="Arial"/>
            </a:endParaRPr>
          </a:p>
          <a:p>
            <a:pPr marL="16933" marR="189649">
              <a:lnSpc>
                <a:spcPct val="120000"/>
              </a:lnSpc>
            </a:pPr>
            <a:r>
              <a:rPr sz="3200" spc="-7" dirty="0">
                <a:latin typeface="Arial"/>
                <a:cs typeface="Arial"/>
              </a:rPr>
              <a:t>vertical(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seg(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point(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X1,Y1),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point(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X1,</a:t>
            </a:r>
            <a:r>
              <a:rPr sz="3200" spc="-1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Y2))). 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horizontal(</a:t>
            </a:r>
            <a:r>
              <a:rPr sz="3200" spc="2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seg(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point(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X1,Y1),</a:t>
            </a:r>
            <a:r>
              <a:rPr sz="3200" spc="-7" dirty="0">
                <a:latin typeface="Arial"/>
                <a:cs typeface="Arial"/>
              </a:rPr>
              <a:t> point(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X2,</a:t>
            </a:r>
            <a:r>
              <a:rPr sz="3200" spc="-1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Y1))).</a:t>
            </a:r>
          </a:p>
          <a:p>
            <a:pPr>
              <a:spcBef>
                <a:spcPts val="7"/>
              </a:spcBef>
            </a:pPr>
            <a:endParaRPr sz="4000" dirty="0">
              <a:latin typeface="Arial"/>
              <a:cs typeface="Arial"/>
            </a:endParaRPr>
          </a:p>
          <a:p>
            <a:pPr marL="16933" marR="1275048">
              <a:lnSpc>
                <a:spcPct val="120000"/>
              </a:lnSpc>
              <a:spcBef>
                <a:spcPts val="7"/>
              </a:spcBef>
            </a:pPr>
            <a:r>
              <a:rPr sz="3200" spc="-7" dirty="0">
                <a:latin typeface="Arial"/>
                <a:cs typeface="Arial"/>
              </a:rPr>
              <a:t>?-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vertical(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seg(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point(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1,1),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point(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1,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3))). </a:t>
            </a:r>
            <a:r>
              <a:rPr sz="3200" spc="-87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yes</a:t>
            </a:r>
          </a:p>
          <a:p>
            <a:pPr marL="16933" marR="1230176">
              <a:lnSpc>
                <a:spcPct val="120000"/>
              </a:lnSpc>
            </a:pPr>
            <a:r>
              <a:rPr sz="3200" spc="-7" dirty="0">
                <a:latin typeface="Arial"/>
                <a:cs typeface="Arial"/>
              </a:rPr>
              <a:t>?-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vertical(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seg(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point(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1,1),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point(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2,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Y))). </a:t>
            </a:r>
            <a:r>
              <a:rPr sz="3200" spc="-873" dirty="0">
                <a:latin typeface="Arial"/>
                <a:cs typeface="Arial"/>
              </a:rPr>
              <a:t> </a:t>
            </a:r>
            <a:r>
              <a:rPr sz="3200" spc="-13" dirty="0">
                <a:latin typeface="Arial"/>
                <a:cs typeface="Arial"/>
              </a:rPr>
              <a:t>no</a:t>
            </a:r>
            <a:endParaRPr sz="3200" dirty="0">
              <a:latin typeface="Arial"/>
              <a:cs typeface="Arial"/>
            </a:endParaRPr>
          </a:p>
          <a:p>
            <a:pPr marL="16933" marR="2947173">
              <a:lnSpc>
                <a:spcPct val="120000"/>
              </a:lnSpc>
            </a:pPr>
            <a:r>
              <a:rPr sz="3200" spc="-7" dirty="0">
                <a:latin typeface="Arial"/>
                <a:cs typeface="Arial"/>
              </a:rPr>
              <a:t>?-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vertical(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seg(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point(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2,3),</a:t>
            </a:r>
            <a:r>
              <a:rPr sz="3200" dirty="0">
                <a:latin typeface="Arial"/>
                <a:cs typeface="Arial"/>
              </a:rPr>
              <a:t> P)). </a:t>
            </a:r>
            <a:r>
              <a:rPr sz="3200" spc="-86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P</a:t>
            </a:r>
            <a:r>
              <a:rPr sz="3200" spc="-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=</a:t>
            </a:r>
            <a:r>
              <a:rPr sz="3200" spc="-2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point(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2,</a:t>
            </a:r>
            <a:r>
              <a:rPr sz="3200" spc="-7" dirty="0">
                <a:latin typeface="Arial"/>
                <a:cs typeface="Arial"/>
              </a:rPr>
              <a:t> _173).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2881" y="1058470"/>
            <a:ext cx="9475914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en-US" dirty="0"/>
              <a:t>Degenerate Line Segment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12881" y="2166789"/>
            <a:ext cx="15272246" cy="592640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74121" indent="-457189">
              <a:spcBef>
                <a:spcPts val="133"/>
              </a:spcBef>
              <a:buClr>
                <a:srgbClr val="FF3300"/>
              </a:buClr>
              <a:buSzPct val="129166"/>
              <a:buChar char="•"/>
              <a:tabLst>
                <a:tab pos="473275" algn="l"/>
                <a:tab pos="474121" algn="l"/>
              </a:tabLst>
            </a:pPr>
            <a:r>
              <a:rPr sz="3200" dirty="0">
                <a:latin typeface="Arial"/>
                <a:cs typeface="Arial"/>
              </a:rPr>
              <a:t>Is</a:t>
            </a:r>
            <a:r>
              <a:rPr sz="3200" spc="-7" dirty="0">
                <a:latin typeface="Arial"/>
                <a:cs typeface="Arial"/>
              </a:rPr>
              <a:t> there</a:t>
            </a:r>
            <a:r>
              <a:rPr sz="3200" spc="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a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segment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that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is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both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vertical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and</a:t>
            </a:r>
            <a:r>
              <a:rPr sz="3200" spc="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horizontal?</a:t>
            </a:r>
            <a:r>
              <a:rPr lang="en-US" sz="3200" spc="-7" dirty="0">
                <a:latin typeface="Arial"/>
                <a:cs typeface="Arial"/>
              </a:rPr>
              <a:t>  </a:t>
            </a:r>
            <a:r>
              <a:rPr lang="en-CA" sz="3200" spc="-7" dirty="0">
                <a:latin typeface="Arial"/>
                <a:cs typeface="Arial"/>
              </a:rPr>
              <a:t>If vertical and horizontal do not rule out the degenerate line segment, we might have</a:t>
            </a:r>
            <a:endParaRPr sz="4667" dirty="0">
              <a:latin typeface="Arial"/>
              <a:cs typeface="Arial"/>
            </a:endParaRPr>
          </a:p>
          <a:p>
            <a:pPr marL="16933">
              <a:tabLst>
                <a:tab pos="602812" algn="l"/>
              </a:tabLst>
            </a:pPr>
            <a:r>
              <a:rPr sz="3200" spc="-7" dirty="0">
                <a:latin typeface="Arial"/>
                <a:cs typeface="Arial"/>
              </a:rPr>
              <a:t>?-	vertical(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S),</a:t>
            </a:r>
            <a:r>
              <a:rPr sz="3200" spc="-2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horizontal(</a:t>
            </a:r>
            <a:r>
              <a:rPr sz="3200" spc="3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S).</a:t>
            </a:r>
            <a:endParaRPr sz="4667" dirty="0">
              <a:latin typeface="Arial"/>
              <a:cs typeface="Arial"/>
            </a:endParaRPr>
          </a:p>
          <a:p>
            <a:pPr marL="16933">
              <a:spcBef>
                <a:spcPts val="7"/>
              </a:spcBef>
            </a:pPr>
            <a:r>
              <a:rPr sz="3200" dirty="0">
                <a:latin typeface="Arial"/>
                <a:cs typeface="Arial"/>
              </a:rPr>
              <a:t>S</a:t>
            </a:r>
            <a:r>
              <a:rPr sz="3200" spc="-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=</a:t>
            </a:r>
            <a:r>
              <a:rPr sz="3200" spc="-2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seg(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point(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X,Y),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point(X,Y))</a:t>
            </a:r>
            <a:endParaRPr sz="4667" dirty="0">
              <a:latin typeface="Arial"/>
              <a:cs typeface="Arial"/>
            </a:endParaRPr>
          </a:p>
          <a:p>
            <a:pPr marL="474121" marR="6773" indent="-457189">
              <a:spcBef>
                <a:spcPts val="7"/>
              </a:spcBef>
              <a:buClr>
                <a:srgbClr val="FF3300"/>
              </a:buClr>
              <a:buSzPct val="129166"/>
              <a:buChar char="•"/>
              <a:tabLst>
                <a:tab pos="473275" algn="l"/>
                <a:tab pos="474121" algn="l"/>
              </a:tabLst>
            </a:pPr>
            <a:r>
              <a:rPr sz="3200" dirty="0">
                <a:latin typeface="Arial"/>
                <a:cs typeface="Arial"/>
              </a:rPr>
              <a:t>Note,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Prolog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may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display</a:t>
            </a:r>
            <a:r>
              <a:rPr sz="3200" spc="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this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with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new</a:t>
            </a:r>
            <a:r>
              <a:rPr sz="3200" spc="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variables</a:t>
            </a:r>
            <a:r>
              <a:rPr sz="3200" spc="3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names </a:t>
            </a:r>
            <a:r>
              <a:rPr sz="3200" spc="-87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as </a:t>
            </a:r>
            <a:r>
              <a:rPr sz="3200" dirty="0">
                <a:latin typeface="Arial"/>
                <a:cs typeface="Arial"/>
              </a:rPr>
              <a:t>for</a:t>
            </a:r>
            <a:r>
              <a:rPr sz="3200" spc="-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example:</a:t>
            </a:r>
            <a:endParaRPr sz="4667" dirty="0">
              <a:latin typeface="Arial"/>
              <a:cs typeface="Arial"/>
            </a:endParaRPr>
          </a:p>
          <a:p>
            <a:pPr marL="16933"/>
            <a:r>
              <a:rPr sz="3200" dirty="0">
                <a:latin typeface="Arial"/>
                <a:cs typeface="Arial"/>
              </a:rPr>
              <a:t>S =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seg(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point(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_13,_14),</a:t>
            </a:r>
            <a:r>
              <a:rPr sz="3200" spc="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point(</a:t>
            </a:r>
            <a:r>
              <a:rPr sz="3200" spc="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_13,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_14))</a:t>
            </a:r>
            <a:endParaRPr lang="en-US" sz="3200" spc="-7" dirty="0">
              <a:latin typeface="Arial"/>
              <a:cs typeface="Arial"/>
            </a:endParaRPr>
          </a:p>
          <a:p>
            <a:pPr marL="16933"/>
            <a:endParaRPr lang="en-US" sz="3200" spc="-7" dirty="0">
              <a:latin typeface="Arial"/>
              <a:cs typeface="Arial"/>
            </a:endParaRPr>
          </a:p>
          <a:p>
            <a:pPr marL="16933"/>
            <a:r>
              <a:rPr lang="en-US" sz="3200" spc="-7" dirty="0">
                <a:latin typeface="Arial"/>
                <a:cs typeface="Arial"/>
              </a:rPr>
              <a:t>If vertical and horizontal allow the degenerate, we could use </a:t>
            </a:r>
            <a:r>
              <a:rPr lang="en-US" sz="3200" spc="-7" dirty="0" err="1">
                <a:latin typeface="Arial"/>
                <a:cs typeface="Arial"/>
              </a:rPr>
              <a:t>dif</a:t>
            </a:r>
            <a:r>
              <a:rPr lang="en-US" sz="3200" spc="-7" dirty="0">
                <a:latin typeface="Arial"/>
                <a:cs typeface="Arial"/>
              </a:rPr>
              <a:t> to address this problem:</a:t>
            </a:r>
          </a:p>
          <a:p>
            <a:pPr marL="16933"/>
            <a:r>
              <a:rPr lang="en-US" sz="3200" spc="-7" dirty="0">
                <a:latin typeface="Arial"/>
                <a:cs typeface="Arial"/>
              </a:rPr>
              <a:t>S = seg(X,Y), </a:t>
            </a:r>
            <a:r>
              <a:rPr lang="en-US" sz="3200" spc="-7" dirty="0" err="1">
                <a:latin typeface="Arial"/>
                <a:cs typeface="Arial"/>
              </a:rPr>
              <a:t>dif</a:t>
            </a:r>
            <a:r>
              <a:rPr lang="en-US" sz="3200" spc="-7" dirty="0">
                <a:latin typeface="Arial"/>
                <a:cs typeface="Arial"/>
              </a:rPr>
              <a:t>(X,Y), </a:t>
            </a:r>
            <a:r>
              <a:rPr lang="en-CA" sz="3200" spc="-7" dirty="0">
                <a:latin typeface="Arial"/>
                <a:cs typeface="Arial"/>
              </a:rPr>
              <a:t>vertical(</a:t>
            </a:r>
            <a:r>
              <a:rPr lang="en-CA" sz="3200" dirty="0">
                <a:latin typeface="Arial"/>
                <a:cs typeface="Arial"/>
              </a:rPr>
              <a:t>S),</a:t>
            </a:r>
            <a:r>
              <a:rPr lang="en-CA" sz="3200" spc="-27" dirty="0">
                <a:latin typeface="Arial"/>
                <a:cs typeface="Arial"/>
              </a:rPr>
              <a:t> </a:t>
            </a:r>
            <a:r>
              <a:rPr lang="en-CA" sz="3200" spc="-7" dirty="0">
                <a:latin typeface="Arial"/>
                <a:cs typeface="Arial"/>
              </a:rPr>
              <a:t>horizontal(</a:t>
            </a:r>
            <a:r>
              <a:rPr lang="en-CA" sz="3200" dirty="0">
                <a:latin typeface="Arial"/>
                <a:cs typeface="Arial"/>
              </a:rPr>
              <a:t>S).</a:t>
            </a:r>
            <a:endParaRPr lang="en-US" sz="3200" spc="-7" dirty="0">
              <a:latin typeface="Arial"/>
              <a:cs typeface="Arial"/>
            </a:endParaRPr>
          </a:p>
          <a:p>
            <a:pPr marL="16933"/>
            <a:endParaRPr lang="en-US" sz="3200" spc="-7" dirty="0">
              <a:latin typeface="Arial"/>
              <a:cs typeface="Arial"/>
            </a:endParaRPr>
          </a:p>
          <a:p>
            <a:pPr marL="16933"/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578521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Time to check your learning!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812881" y="1902941"/>
            <a:ext cx="14904913" cy="6203091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Let’s see how many key concepts from Prolog matching you recall by answering the following questions!</a:t>
            </a:r>
          </a:p>
          <a:p>
            <a:r>
              <a:rPr lang="en-US" dirty="0"/>
              <a:t>What is the difference between matching and unification?</a:t>
            </a:r>
          </a:p>
          <a:p>
            <a:r>
              <a:rPr lang="en-US" dirty="0"/>
              <a:t>What can an unbound Prolog variable match with?</a:t>
            </a:r>
          </a:p>
        </p:txBody>
      </p:sp>
    </p:spTree>
    <p:extLst>
      <p:ext uri="{BB962C8B-B14F-4D97-AF65-F5344CB8AC3E}">
        <p14:creationId xmlns:p14="http://schemas.microsoft.com/office/powerpoint/2010/main" val="32646270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578521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Conclusion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812881" y="1902941"/>
            <a:ext cx="14904913" cy="6203091"/>
          </a:xfrm>
        </p:spPr>
        <p:txBody>
          <a:bodyPr/>
          <a:lstStyle/>
          <a:p>
            <a:r>
              <a:rPr lang="en-US" dirty="0"/>
              <a:t>In this lesson, you learned more about Prolog data structures and syntax and the matching process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the next lesson, you will learn to use </a:t>
            </a:r>
            <a:r>
              <a:rPr lang="en-US"/>
              <a:t>lists effectively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203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gonquin College Colours">
      <a:dk1>
        <a:srgbClr val="423F3F"/>
      </a:dk1>
      <a:lt1>
        <a:sysClr val="window" lastClr="FFFFFF"/>
      </a:lt1>
      <a:dk2>
        <a:srgbClr val="00673E"/>
      </a:dk2>
      <a:lt2>
        <a:srgbClr val="FFFFFF"/>
      </a:lt2>
      <a:accent1>
        <a:srgbClr val="00673E"/>
      </a:accent1>
      <a:accent2>
        <a:srgbClr val="599A83"/>
      </a:accent2>
      <a:accent3>
        <a:srgbClr val="A6C8BC"/>
      </a:accent3>
      <a:accent4>
        <a:srgbClr val="408A70"/>
      </a:accent4>
      <a:accent5>
        <a:srgbClr val="423F3F"/>
      </a:accent5>
      <a:accent6>
        <a:srgbClr val="B4B2B5"/>
      </a:accent6>
      <a:hlink>
        <a:srgbClr val="43B02A"/>
      </a:hlink>
      <a:folHlink>
        <a:srgbClr val="7AC14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26139</TotalTime>
  <Words>1507</Words>
  <Application>Microsoft Macintosh PowerPoint</Application>
  <PresentationFormat>Custom</PresentationFormat>
  <Paragraphs>213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Helvetica</vt:lpstr>
      <vt:lpstr>Wingdings</vt:lpstr>
      <vt:lpstr>Office Theme</vt:lpstr>
      <vt:lpstr>Prolog Syntax</vt:lpstr>
      <vt:lpstr>Weekly Outcomes</vt:lpstr>
      <vt:lpstr>Lesson Overview (Agenda)</vt:lpstr>
      <vt:lpstr>DATA OBJECTS</vt:lpstr>
      <vt:lpstr>SYNTAX FOR DATA OBJECTS</vt:lpstr>
      <vt:lpstr>Atom Syntax (3 forms)</vt:lpstr>
      <vt:lpstr>Atom Syntax (cont'd)</vt:lpstr>
      <vt:lpstr>Atom Syntax (cont'd)</vt:lpstr>
      <vt:lpstr>Syntax for Numbers</vt:lpstr>
      <vt:lpstr>Syntax for Variables</vt:lpstr>
      <vt:lpstr>Anonymous Variable</vt:lpstr>
      <vt:lpstr>Structures</vt:lpstr>
      <vt:lpstr>Functors</vt:lpstr>
      <vt:lpstr>Tree Representation of Structures</vt:lpstr>
      <vt:lpstr>Structures/Trees</vt:lpstr>
      <vt:lpstr>Some Geometric Objects</vt:lpstr>
      <vt:lpstr>Line Segment</vt:lpstr>
      <vt:lpstr>Arithmetic Expressions  are Structures</vt:lpstr>
      <vt:lpstr>Time to check your learning!</vt:lpstr>
      <vt:lpstr>Matching</vt:lpstr>
      <vt:lpstr>Matching Example</vt:lpstr>
      <vt:lpstr>Most General Instantiation</vt:lpstr>
      <vt:lpstr>Matching</vt:lpstr>
      <vt:lpstr>Matching ≈ Unification</vt:lpstr>
      <vt:lpstr>Stating that two things are different</vt:lpstr>
      <vt:lpstr>Computation with Matching</vt:lpstr>
      <vt:lpstr>Degenerate Line Segment</vt:lpstr>
      <vt:lpstr>Time to check your learning!</vt:lpstr>
      <vt:lpstr>Conclusion</vt:lpstr>
    </vt:vector>
  </TitlesOfParts>
  <Company>Salt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Daniela Chavez Ackermann</dc:creator>
  <cp:lastModifiedBy>Todd Kelley</cp:lastModifiedBy>
  <cp:revision>211</cp:revision>
  <dcterms:created xsi:type="dcterms:W3CDTF">2016-12-21T16:02:28Z</dcterms:created>
  <dcterms:modified xsi:type="dcterms:W3CDTF">2025-01-22T21:35:46Z</dcterms:modified>
</cp:coreProperties>
</file>