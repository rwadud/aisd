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7" r:id="rId2"/>
    <p:sldId id="335" r:id="rId3"/>
    <p:sldId id="265" r:id="rId4"/>
    <p:sldId id="267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57" r:id="rId15"/>
    <p:sldId id="339" r:id="rId16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B02A"/>
    <a:srgbClr val="267A52"/>
    <a:srgbClr val="00673E"/>
    <a:srgbClr val="006643"/>
    <a:srgbClr val="589278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717" autoAdjust="0"/>
  </p:normalViewPr>
  <p:slideViewPr>
    <p:cSldViewPr snapToGrid="0" snapToObjects="1">
      <p:cViewPr varScale="1">
        <p:scale>
          <a:sx n="64" d="100"/>
          <a:sy n="64" d="100"/>
        </p:scale>
        <p:origin x="1032" y="168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  <a:prstGeom prst="rect">
            <a:avLst/>
          </a:prstGeo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  <a:prstGeom prst="rect">
            <a:avLst/>
          </a:prstGeo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89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  <a:prstGeom prst="rect">
            <a:avLst/>
          </a:prstGeo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  <a:prstGeom prst="rect">
            <a:avLst/>
          </a:prstGeo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  <a:prstGeom prst="rect">
            <a:avLst/>
          </a:prstGeo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  <a:prstGeom prst="rect">
            <a:avLst/>
          </a:prstGeo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  <a:prstGeom prst="rect">
            <a:avLst/>
          </a:prstGeo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  <a:prstGeom prst="rect">
            <a:avLst/>
          </a:prstGeo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prstGeom prst="rect">
            <a:avLst/>
          </a:prstGeo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  <a:prstGeom prst="rect">
            <a:avLst/>
          </a:prstGeo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  <a:prstGeom prst="rect">
            <a:avLst/>
          </a:prstGeo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67" b="0" i="0">
                <a:solidFill>
                  <a:srgbClr val="A4002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24324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23636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67" b="0" i="0">
                <a:solidFill>
                  <a:srgbClr val="0000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59520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67" b="0" i="0">
                <a:solidFill>
                  <a:srgbClr val="3333C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79" y="2103120"/>
            <a:ext cx="7072051" cy="499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2658" y="2103120"/>
            <a:ext cx="7072051" cy="499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10/30/25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9823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5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682" r:id="rId22"/>
    <p:sldLayoutId id="2147483654" r:id="rId23"/>
    <p:sldLayoutId id="2147483662" r:id="rId24"/>
    <p:sldLayoutId id="2147483683" r:id="rId25"/>
    <p:sldLayoutId id="2147483684" r:id="rId26"/>
    <p:sldLayoutId id="2147483664" r:id="rId27"/>
    <p:sldLayoutId id="2147483700" r:id="rId28"/>
    <p:sldLayoutId id="2147483701" r:id="rId29"/>
    <p:sldLayoutId id="2147483657" r:id="rId30"/>
    <p:sldLayoutId id="2147483674" r:id="rId31"/>
    <p:sldLayoutId id="2147483675" r:id="rId32"/>
    <p:sldLayoutId id="2147483681" r:id="rId33"/>
    <p:sldLayoutId id="2147483667" r:id="rId34"/>
    <p:sldLayoutId id="2147483680" r:id="rId35"/>
    <p:sldLayoutId id="2147483702" r:id="rId36"/>
    <p:sldLayoutId id="2147483703" r:id="rId37"/>
    <p:sldLayoutId id="2147483704" r:id="rId38"/>
    <p:sldLayoutId id="2147483706" r:id="rId39"/>
    <p:sldLayoutId id="2147483707" r:id="rId40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Planning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99082" y="8572491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0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/>
              <a:t>Lesson Overview (Agenda)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In the following lesson, we will explore: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Applications of Knowledge Representation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Planning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Breadth-first vs Depth-first planning</a:t>
            </a:r>
          </a:p>
          <a:p>
            <a:pPr marL="385763" indent="-385763">
              <a:buFont typeface="+mj-lt"/>
              <a:buAutoNum type="arabicPeriod"/>
            </a:pP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Prolog Programming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758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462728" y="2154851"/>
          <a:ext cx="3075091" cy="1333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7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30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327">
                <a:tc>
                  <a:txBody>
                    <a:bodyPr/>
                    <a:lstStyle/>
                    <a:p>
                      <a:pPr marL="113030">
                        <a:lnSpc>
                          <a:spcPts val="2395"/>
                        </a:lnSpc>
                        <a:spcBef>
                          <a:spcPts val="1440"/>
                        </a:spcBef>
                      </a:pPr>
                      <a:r>
                        <a:rPr sz="2700" dirty="0">
                          <a:latin typeface="Arial"/>
                          <a:cs typeface="Arial"/>
                        </a:rPr>
                        <a:t>c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243840" marB="0">
                    <a:lnL w="28575">
                      <a:solidFill>
                        <a:srgbClr val="00946E"/>
                      </a:solidFill>
                      <a:prstDash val="solid"/>
                    </a:lnL>
                    <a:lnR w="28575">
                      <a:solidFill>
                        <a:srgbClr val="00946E"/>
                      </a:solidFill>
                      <a:prstDash val="solid"/>
                    </a:lnR>
                    <a:lnT w="28575">
                      <a:solidFill>
                        <a:srgbClr val="00946E"/>
                      </a:solidFill>
                      <a:prstDash val="solid"/>
                    </a:lnT>
                    <a:lnB w="28575">
                      <a:solidFill>
                        <a:srgbClr val="00946E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946E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173">
                <a:tc>
                  <a:txBody>
                    <a:bodyPr/>
                    <a:lstStyle/>
                    <a:p>
                      <a:pPr marL="11303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700" dirty="0">
                          <a:latin typeface="Arial"/>
                          <a:cs typeface="Arial"/>
                        </a:rPr>
                        <a:t>a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65193" marB="0">
                    <a:lnL w="28575">
                      <a:solidFill>
                        <a:srgbClr val="00946E"/>
                      </a:solidFill>
                      <a:prstDash val="solid"/>
                    </a:lnL>
                    <a:lnR w="28575">
                      <a:solidFill>
                        <a:srgbClr val="00946E"/>
                      </a:solidFill>
                      <a:prstDash val="solid"/>
                    </a:lnR>
                    <a:lnT w="28575">
                      <a:solidFill>
                        <a:srgbClr val="00946E"/>
                      </a:solidFill>
                      <a:prstDash val="solid"/>
                    </a:lnT>
                    <a:lnB w="57150">
                      <a:solidFill>
                        <a:srgbClr val="00CC97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946E"/>
                      </a:solidFill>
                      <a:prstDash val="solid"/>
                    </a:lnL>
                    <a:lnR w="28575">
                      <a:solidFill>
                        <a:srgbClr val="00946E"/>
                      </a:solidFill>
                      <a:prstDash val="solid"/>
                    </a:lnR>
                    <a:lnB w="57150">
                      <a:solidFill>
                        <a:srgbClr val="00CC9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2700" dirty="0">
                          <a:latin typeface="Arial"/>
                          <a:cs typeface="Arial"/>
                        </a:rPr>
                        <a:t>b</a:t>
                      </a:r>
                      <a:endParaRPr sz="2700">
                        <a:latin typeface="Arial"/>
                        <a:cs typeface="Arial"/>
                      </a:endParaRPr>
                    </a:p>
                  </a:txBody>
                  <a:tcPr marL="0" marR="0" marT="65193" marB="0">
                    <a:lnL w="28575">
                      <a:solidFill>
                        <a:srgbClr val="00946E"/>
                      </a:solidFill>
                      <a:prstDash val="solid"/>
                    </a:lnL>
                    <a:lnR w="28575">
                      <a:solidFill>
                        <a:srgbClr val="00946E"/>
                      </a:solidFill>
                      <a:prstDash val="solid"/>
                    </a:lnR>
                    <a:lnT w="28575">
                      <a:solidFill>
                        <a:srgbClr val="00946E"/>
                      </a:solidFill>
                      <a:prstDash val="solid"/>
                    </a:lnT>
                    <a:lnB w="57150">
                      <a:solidFill>
                        <a:srgbClr val="00CC97"/>
                      </a:solidFill>
                      <a:prstDash val="solid"/>
                    </a:lnB>
                    <a:solidFill>
                      <a:srgbClr val="00C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946E"/>
                      </a:solidFill>
                      <a:prstDash val="solid"/>
                    </a:lnL>
                    <a:lnB w="57150">
                      <a:solidFill>
                        <a:srgbClr val="00CC9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27"/>
              </a:spcBef>
            </a:pPr>
            <a:r>
              <a:rPr spc="-7" dirty="0"/>
              <a:t>A</a:t>
            </a:r>
            <a:r>
              <a:rPr spc="-13" dirty="0"/>
              <a:t> </a:t>
            </a:r>
            <a:r>
              <a:rPr spc="-7" dirty="0"/>
              <a:t>BLOCKS WORLD PROBLEM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72381" y="3862493"/>
            <a:ext cx="12101747" cy="4090629"/>
          </a:xfrm>
          <a:prstGeom prst="rect">
            <a:avLst/>
          </a:prstGeom>
        </p:spPr>
        <p:txBody>
          <a:bodyPr vert="horz" wrap="square" lIns="0" tIns="16087" rIns="0" bIns="0" rtlCol="0">
            <a:spAutoFit/>
          </a:bodyPr>
          <a:lstStyle/>
          <a:p>
            <a:pPr marL="2158099">
              <a:spcBef>
                <a:spcPts val="127"/>
              </a:spcBef>
              <a:tabLst>
                <a:tab pos="2906534" algn="l"/>
                <a:tab pos="3654122" algn="l"/>
                <a:tab pos="4493148" algn="l"/>
              </a:tabLst>
            </a:pPr>
            <a:r>
              <a:rPr sz="2667" spc="-7" dirty="0">
                <a:latin typeface="Arial"/>
                <a:cs typeface="Arial"/>
              </a:rPr>
              <a:t>1	2	3	4</a:t>
            </a:r>
            <a:endParaRPr sz="2667" dirty="0">
              <a:latin typeface="Arial"/>
              <a:cs typeface="Arial"/>
            </a:endParaRPr>
          </a:p>
          <a:p>
            <a:pPr>
              <a:spcBef>
                <a:spcPts val="40"/>
              </a:spcBef>
            </a:pPr>
            <a:endParaRPr sz="3867" dirty="0">
              <a:latin typeface="Arial"/>
              <a:cs typeface="Arial"/>
            </a:endParaRPr>
          </a:p>
          <a:p>
            <a:pPr marL="474121" indent="-457189">
              <a:buClr>
                <a:srgbClr val="FF0000"/>
              </a:buClr>
              <a:buSzPct val="130000"/>
              <a:buFont typeface="Wingdings"/>
              <a:buChar char=""/>
              <a:tabLst>
                <a:tab pos="473275" algn="l"/>
                <a:tab pos="474121" algn="l"/>
              </a:tabLst>
            </a:pPr>
            <a:r>
              <a:rPr sz="2667" spc="-7" dirty="0">
                <a:latin typeface="Arial"/>
                <a:cs typeface="Arial"/>
              </a:rPr>
              <a:t>Three blocks</a:t>
            </a:r>
            <a:r>
              <a:rPr sz="2667" dirty="0">
                <a:latin typeface="Arial"/>
                <a:cs typeface="Arial"/>
              </a:rPr>
              <a:t> </a:t>
            </a:r>
            <a:r>
              <a:rPr lang="en-CA" sz="2667" dirty="0">
                <a:latin typeface="Arial"/>
                <a:cs typeface="Arial"/>
              </a:rPr>
              <a:t>block(</a:t>
            </a:r>
            <a:r>
              <a:rPr sz="2667" spc="-7" dirty="0">
                <a:latin typeface="Arial"/>
                <a:cs typeface="Arial"/>
              </a:rPr>
              <a:t>a</a:t>
            </a:r>
            <a:r>
              <a:rPr lang="en-CA" sz="2667" spc="-7" dirty="0">
                <a:latin typeface="Arial"/>
                <a:cs typeface="Arial"/>
              </a:rPr>
              <a:t>)</a:t>
            </a:r>
            <a:r>
              <a:rPr sz="2667" spc="-7" dirty="0">
                <a:latin typeface="Arial"/>
                <a:cs typeface="Arial"/>
              </a:rPr>
              <a:t>, </a:t>
            </a:r>
            <a:r>
              <a:rPr lang="en-CA" sz="2667" spc="-7" dirty="0">
                <a:latin typeface="Arial"/>
                <a:cs typeface="Arial"/>
              </a:rPr>
              <a:t>block(</a:t>
            </a:r>
            <a:r>
              <a:rPr sz="2667" spc="-7" dirty="0">
                <a:latin typeface="Arial"/>
                <a:cs typeface="Arial"/>
              </a:rPr>
              <a:t>b</a:t>
            </a:r>
            <a:r>
              <a:rPr lang="en-CA" sz="2667" spc="-7" dirty="0">
                <a:latin typeface="Arial"/>
                <a:cs typeface="Arial"/>
              </a:rPr>
              <a:t>)</a:t>
            </a:r>
            <a:r>
              <a:rPr sz="2667" spc="-7" dirty="0">
                <a:latin typeface="Arial"/>
                <a:cs typeface="Arial"/>
              </a:rPr>
              <a:t>, </a:t>
            </a:r>
            <a:r>
              <a:rPr lang="en-CA" sz="2667" spc="-7" dirty="0">
                <a:latin typeface="Arial"/>
                <a:cs typeface="Arial"/>
              </a:rPr>
              <a:t>block(c)</a:t>
            </a:r>
          </a:p>
          <a:p>
            <a:pPr marL="474121" indent="-457189">
              <a:buClr>
                <a:srgbClr val="FF0000"/>
              </a:buClr>
              <a:buSzPct val="130000"/>
              <a:buFont typeface="Wingdings"/>
              <a:buChar char=""/>
              <a:tabLst>
                <a:tab pos="473275" algn="l"/>
                <a:tab pos="474121" algn="l"/>
              </a:tabLst>
            </a:pPr>
            <a:r>
              <a:rPr sz="2667" spc="-7" dirty="0">
                <a:latin typeface="Arial"/>
                <a:cs typeface="Arial"/>
              </a:rPr>
              <a:t>four</a:t>
            </a:r>
            <a:r>
              <a:rPr sz="2667" spc="-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locations</a:t>
            </a:r>
            <a:r>
              <a:rPr sz="2667" spc="13" dirty="0">
                <a:latin typeface="Arial"/>
                <a:cs typeface="Arial"/>
              </a:rPr>
              <a:t> </a:t>
            </a:r>
            <a:r>
              <a:rPr lang="en-CA" sz="2667" spc="13" dirty="0">
                <a:latin typeface="Arial"/>
                <a:cs typeface="Arial"/>
              </a:rPr>
              <a:t>location(</a:t>
            </a:r>
            <a:r>
              <a:rPr sz="2667" spc="-7" dirty="0">
                <a:latin typeface="Arial"/>
                <a:cs typeface="Arial"/>
              </a:rPr>
              <a:t>1</a:t>
            </a:r>
            <a:r>
              <a:rPr lang="en-CA" sz="2667" spc="-7" dirty="0">
                <a:latin typeface="Arial"/>
                <a:cs typeface="Arial"/>
              </a:rPr>
              <a:t>)</a:t>
            </a:r>
            <a:r>
              <a:rPr sz="2667" spc="-7" dirty="0">
                <a:latin typeface="Arial"/>
                <a:cs typeface="Arial"/>
              </a:rPr>
              <a:t>, </a:t>
            </a:r>
            <a:r>
              <a:rPr lang="en-CA" sz="2667" spc="-7" dirty="0">
                <a:latin typeface="Arial"/>
                <a:cs typeface="Arial"/>
              </a:rPr>
              <a:t>location(</a:t>
            </a:r>
            <a:r>
              <a:rPr sz="2667" spc="-7" dirty="0">
                <a:latin typeface="Arial"/>
                <a:cs typeface="Arial"/>
              </a:rPr>
              <a:t>2</a:t>
            </a:r>
            <a:r>
              <a:rPr lang="en-CA" sz="2667" spc="-7" dirty="0">
                <a:latin typeface="Arial"/>
                <a:cs typeface="Arial"/>
              </a:rPr>
              <a:t>)</a:t>
            </a:r>
            <a:r>
              <a:rPr sz="2667" spc="-7" dirty="0">
                <a:latin typeface="Arial"/>
                <a:cs typeface="Arial"/>
              </a:rPr>
              <a:t>, </a:t>
            </a:r>
            <a:r>
              <a:rPr lang="en-CA" sz="2667" spc="-7" dirty="0">
                <a:latin typeface="Arial"/>
                <a:cs typeface="Arial"/>
              </a:rPr>
              <a:t>location(</a:t>
            </a:r>
            <a:r>
              <a:rPr sz="2667" spc="-7" dirty="0">
                <a:latin typeface="Arial"/>
                <a:cs typeface="Arial"/>
              </a:rPr>
              <a:t>3</a:t>
            </a:r>
            <a:r>
              <a:rPr lang="en-CA" sz="2667" spc="-7" dirty="0">
                <a:latin typeface="Arial"/>
                <a:cs typeface="Arial"/>
              </a:rPr>
              <a:t>)</a:t>
            </a:r>
            <a:r>
              <a:rPr sz="2667" spc="-7" dirty="0">
                <a:latin typeface="Arial"/>
                <a:cs typeface="Arial"/>
              </a:rPr>
              <a:t>, </a:t>
            </a:r>
            <a:r>
              <a:rPr lang="en-CA" sz="2667" spc="-7" dirty="0">
                <a:latin typeface="Arial"/>
                <a:cs typeface="Arial"/>
              </a:rPr>
              <a:t>location(</a:t>
            </a:r>
            <a:r>
              <a:rPr sz="2667" spc="-7" dirty="0">
                <a:latin typeface="Arial"/>
                <a:cs typeface="Arial"/>
              </a:rPr>
              <a:t>4</a:t>
            </a:r>
            <a:r>
              <a:rPr lang="en-CA" sz="2667" spc="-7" dirty="0">
                <a:latin typeface="Arial"/>
                <a:cs typeface="Arial"/>
              </a:rPr>
              <a:t>)</a:t>
            </a:r>
            <a:endParaRPr sz="3867" dirty="0">
              <a:latin typeface="Arial"/>
              <a:cs typeface="Arial"/>
            </a:endParaRPr>
          </a:p>
          <a:p>
            <a:pPr marL="474121" indent="-457189">
              <a:buClr>
                <a:srgbClr val="FF0000"/>
              </a:buClr>
              <a:buSzPct val="130000"/>
              <a:buFont typeface="Wingdings"/>
              <a:buChar char=""/>
              <a:tabLst>
                <a:tab pos="473275" algn="l"/>
                <a:tab pos="474121" algn="l"/>
              </a:tabLst>
            </a:pPr>
            <a:r>
              <a:rPr sz="2667" spc="-7" dirty="0">
                <a:latin typeface="Arial"/>
                <a:cs typeface="Arial"/>
              </a:rPr>
              <a:t>Relationships</a:t>
            </a:r>
            <a:r>
              <a:rPr sz="2667" spc="20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in initial</a:t>
            </a:r>
            <a:r>
              <a:rPr sz="2667" spc="13" dirty="0">
                <a:latin typeface="Arial"/>
                <a:cs typeface="Arial"/>
              </a:rPr>
              <a:t> </a:t>
            </a:r>
            <a:r>
              <a:rPr sz="2667" dirty="0">
                <a:latin typeface="Arial"/>
                <a:cs typeface="Arial"/>
              </a:rPr>
              <a:t>state:</a:t>
            </a:r>
          </a:p>
          <a:p>
            <a:pPr marL="1236102">
              <a:spcBef>
                <a:spcPts val="640"/>
              </a:spcBef>
            </a:pPr>
            <a:r>
              <a:rPr sz="2667" spc="-7" dirty="0">
                <a:latin typeface="Arial"/>
                <a:cs typeface="Arial"/>
              </a:rPr>
              <a:t>on(</a:t>
            </a:r>
            <a:r>
              <a:rPr lang="en-CA" sz="2667" spc="-7" dirty="0">
                <a:latin typeface="Arial"/>
                <a:cs typeface="Arial"/>
              </a:rPr>
              <a:t>block(c)</a:t>
            </a:r>
            <a:r>
              <a:rPr sz="2667" spc="-7" dirty="0">
                <a:latin typeface="Arial"/>
                <a:cs typeface="Arial"/>
              </a:rPr>
              <a:t>,</a:t>
            </a:r>
            <a:r>
              <a:rPr lang="en-CA" sz="2667" spc="-7" dirty="0">
                <a:latin typeface="Arial"/>
                <a:cs typeface="Arial"/>
              </a:rPr>
              <a:t>block(</a:t>
            </a:r>
            <a:r>
              <a:rPr sz="2667" spc="-7" dirty="0">
                <a:latin typeface="Arial"/>
                <a:cs typeface="Arial"/>
              </a:rPr>
              <a:t>a</a:t>
            </a:r>
            <a:r>
              <a:rPr lang="en-CA" sz="2667" spc="-7" dirty="0">
                <a:latin typeface="Arial"/>
                <a:cs typeface="Arial"/>
              </a:rPr>
              <a:t>)</a:t>
            </a:r>
            <a:r>
              <a:rPr sz="2667" spc="-7" dirty="0">
                <a:latin typeface="Arial"/>
                <a:cs typeface="Arial"/>
              </a:rPr>
              <a:t>),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on(</a:t>
            </a:r>
            <a:r>
              <a:rPr lang="en-CA" sz="2667" spc="-7" dirty="0">
                <a:latin typeface="Arial"/>
                <a:cs typeface="Arial"/>
              </a:rPr>
              <a:t>block(</a:t>
            </a:r>
            <a:r>
              <a:rPr sz="2667" spc="-7" dirty="0">
                <a:latin typeface="Arial"/>
                <a:cs typeface="Arial"/>
              </a:rPr>
              <a:t>a</a:t>
            </a:r>
            <a:r>
              <a:rPr lang="en-CA" sz="2667" spc="-7" dirty="0">
                <a:latin typeface="Arial"/>
                <a:cs typeface="Arial"/>
              </a:rPr>
              <a:t>)</a:t>
            </a:r>
            <a:r>
              <a:rPr sz="2667" spc="-7" dirty="0">
                <a:latin typeface="Arial"/>
                <a:cs typeface="Arial"/>
              </a:rPr>
              <a:t>,</a:t>
            </a:r>
            <a:r>
              <a:rPr lang="en-CA" sz="2667" spc="-7" dirty="0">
                <a:latin typeface="Arial"/>
                <a:cs typeface="Arial"/>
              </a:rPr>
              <a:t>location(</a:t>
            </a:r>
            <a:r>
              <a:rPr sz="2667" spc="-7" dirty="0">
                <a:latin typeface="Arial"/>
                <a:cs typeface="Arial"/>
              </a:rPr>
              <a:t>1</a:t>
            </a:r>
            <a:r>
              <a:rPr lang="en-CA" sz="2667" spc="-7" dirty="0">
                <a:latin typeface="Arial"/>
                <a:cs typeface="Arial"/>
              </a:rPr>
              <a:t>)</a:t>
            </a:r>
            <a:r>
              <a:rPr sz="2667" spc="-7" dirty="0">
                <a:latin typeface="Arial"/>
                <a:cs typeface="Arial"/>
              </a:rPr>
              <a:t>),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on(</a:t>
            </a:r>
            <a:r>
              <a:rPr lang="en-CA" sz="2667" spc="-7" dirty="0">
                <a:latin typeface="Arial"/>
                <a:cs typeface="Arial"/>
              </a:rPr>
              <a:t>block(</a:t>
            </a:r>
            <a:r>
              <a:rPr sz="2667" spc="-7" dirty="0">
                <a:latin typeface="Arial"/>
                <a:cs typeface="Arial"/>
              </a:rPr>
              <a:t>b</a:t>
            </a:r>
            <a:r>
              <a:rPr lang="en-CA" sz="2667" spc="-7" dirty="0">
                <a:latin typeface="Arial"/>
                <a:cs typeface="Arial"/>
              </a:rPr>
              <a:t>)</a:t>
            </a:r>
            <a:r>
              <a:rPr sz="2667" spc="-7" dirty="0">
                <a:latin typeface="Arial"/>
                <a:cs typeface="Arial"/>
              </a:rPr>
              <a:t>,</a:t>
            </a:r>
            <a:r>
              <a:rPr lang="en-CA" sz="2667" spc="-7" dirty="0">
                <a:latin typeface="Arial"/>
                <a:cs typeface="Arial"/>
              </a:rPr>
              <a:t>location(</a:t>
            </a:r>
            <a:r>
              <a:rPr sz="2667" spc="-7" dirty="0">
                <a:latin typeface="Arial"/>
                <a:cs typeface="Arial"/>
              </a:rPr>
              <a:t>3</a:t>
            </a:r>
            <a:r>
              <a:rPr lang="en-CA" sz="2667" spc="-7" dirty="0">
                <a:latin typeface="Arial"/>
                <a:cs typeface="Arial"/>
              </a:rPr>
              <a:t>)</a:t>
            </a:r>
            <a:r>
              <a:rPr sz="2667" spc="-7" dirty="0">
                <a:latin typeface="Arial"/>
                <a:cs typeface="Arial"/>
              </a:rPr>
              <a:t>),</a:t>
            </a:r>
            <a:r>
              <a:rPr sz="2667" spc="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clear(</a:t>
            </a:r>
            <a:r>
              <a:rPr lang="en-CA" sz="2667" spc="-7" dirty="0">
                <a:latin typeface="Arial"/>
                <a:cs typeface="Arial"/>
              </a:rPr>
              <a:t>location(</a:t>
            </a:r>
            <a:r>
              <a:rPr sz="2667" spc="-7" dirty="0">
                <a:latin typeface="Arial"/>
                <a:cs typeface="Arial"/>
              </a:rPr>
              <a:t>2</a:t>
            </a:r>
            <a:r>
              <a:rPr lang="en-CA" sz="2667" spc="-7" dirty="0">
                <a:latin typeface="Arial"/>
                <a:cs typeface="Arial"/>
              </a:rPr>
              <a:t>)</a:t>
            </a:r>
            <a:r>
              <a:rPr sz="2667" spc="-7" dirty="0">
                <a:latin typeface="Arial"/>
                <a:cs typeface="Arial"/>
              </a:rPr>
              <a:t>),</a:t>
            </a:r>
            <a:r>
              <a:rPr sz="2667" spc="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clear(</a:t>
            </a:r>
            <a:r>
              <a:rPr lang="en-CA" sz="2667" spc="-7" dirty="0">
                <a:latin typeface="Arial"/>
                <a:cs typeface="Arial"/>
              </a:rPr>
              <a:t>location(</a:t>
            </a:r>
            <a:r>
              <a:rPr sz="2667" spc="-7" dirty="0">
                <a:latin typeface="Arial"/>
                <a:cs typeface="Arial"/>
              </a:rPr>
              <a:t>4</a:t>
            </a:r>
            <a:r>
              <a:rPr lang="en-CA" sz="2667" spc="-7" dirty="0">
                <a:latin typeface="Arial"/>
                <a:cs typeface="Arial"/>
              </a:rPr>
              <a:t>)</a:t>
            </a:r>
            <a:r>
              <a:rPr sz="2667" spc="-7" dirty="0">
                <a:latin typeface="Arial"/>
                <a:cs typeface="Arial"/>
              </a:rPr>
              <a:t>),</a:t>
            </a:r>
            <a:r>
              <a:rPr sz="2667" spc="2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clear(</a:t>
            </a:r>
            <a:r>
              <a:rPr lang="en-CA" sz="2667" spc="-7" dirty="0">
                <a:latin typeface="Arial"/>
                <a:cs typeface="Arial"/>
              </a:rPr>
              <a:t>block(</a:t>
            </a:r>
            <a:r>
              <a:rPr sz="2667" spc="-7" dirty="0">
                <a:latin typeface="Arial"/>
                <a:cs typeface="Arial"/>
              </a:rPr>
              <a:t>b</a:t>
            </a:r>
            <a:r>
              <a:rPr lang="en-CA" sz="2667" spc="-7" dirty="0">
                <a:latin typeface="Arial"/>
                <a:cs typeface="Arial"/>
              </a:rPr>
              <a:t>)</a:t>
            </a:r>
            <a:r>
              <a:rPr sz="2667" spc="-7" dirty="0">
                <a:latin typeface="Arial"/>
                <a:cs typeface="Arial"/>
              </a:rPr>
              <a:t>),</a:t>
            </a:r>
            <a:r>
              <a:rPr sz="2667" spc="1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clear(</a:t>
            </a:r>
            <a:r>
              <a:rPr lang="en-CA" sz="2667" spc="-7" dirty="0">
                <a:latin typeface="Arial"/>
                <a:cs typeface="Arial"/>
              </a:rPr>
              <a:t>block(c)</a:t>
            </a:r>
            <a:r>
              <a:rPr sz="2667" spc="-7" dirty="0">
                <a:latin typeface="Arial"/>
                <a:cs typeface="Arial"/>
              </a:rPr>
              <a:t>)</a:t>
            </a:r>
            <a:endParaRPr sz="3333" dirty="0">
              <a:latin typeface="Arial"/>
              <a:cs typeface="Arial"/>
            </a:endParaRPr>
          </a:p>
          <a:p>
            <a:pPr marL="473275" marR="4041039" indent="-473275">
              <a:lnSpc>
                <a:spcPct val="120000"/>
              </a:lnSpc>
              <a:buClr>
                <a:srgbClr val="FF0000"/>
              </a:buClr>
              <a:buSzPct val="130000"/>
              <a:buFont typeface="Wingdings"/>
              <a:buChar char=""/>
              <a:tabLst>
                <a:tab pos="473275" algn="l"/>
                <a:tab pos="474121" algn="l"/>
              </a:tabLst>
            </a:pPr>
            <a:r>
              <a:rPr sz="2667" spc="-7" dirty="0">
                <a:latin typeface="Arial"/>
                <a:cs typeface="Arial"/>
              </a:rPr>
              <a:t>Goal of plan e.g. build </a:t>
            </a:r>
            <a:r>
              <a:rPr sz="2667" dirty="0">
                <a:latin typeface="Arial"/>
                <a:cs typeface="Arial"/>
              </a:rPr>
              <a:t>stack </a:t>
            </a:r>
            <a:r>
              <a:rPr sz="2667" spc="-7" dirty="0">
                <a:latin typeface="Arial"/>
                <a:cs typeface="Arial"/>
              </a:rPr>
              <a:t>a, b, c </a:t>
            </a:r>
            <a:r>
              <a:rPr lang="en-CA" sz="2667" spc="-7" dirty="0">
                <a:latin typeface="Arial"/>
                <a:cs typeface="Arial"/>
              </a:rPr>
              <a:t>:</a:t>
            </a:r>
            <a:r>
              <a:rPr sz="266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Goal stated</a:t>
            </a:r>
            <a:r>
              <a:rPr sz="2667" spc="-33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as: </a:t>
            </a:r>
            <a:r>
              <a:rPr lang="en-CA" sz="2667" spc="-7" dirty="0">
                <a:solidFill>
                  <a:srgbClr val="FF0000"/>
                </a:solidFill>
                <a:latin typeface="Arial"/>
                <a:cs typeface="Arial"/>
              </a:rPr>
              <a:t>(</a:t>
            </a:r>
            <a:r>
              <a:rPr sz="2667" spc="-7" dirty="0">
                <a:latin typeface="Arial"/>
                <a:cs typeface="Arial"/>
              </a:rPr>
              <a:t>on(</a:t>
            </a:r>
            <a:r>
              <a:rPr lang="en-CA" sz="2667" spc="-7" dirty="0">
                <a:latin typeface="Arial"/>
                <a:cs typeface="Arial"/>
              </a:rPr>
              <a:t>block(</a:t>
            </a:r>
            <a:r>
              <a:rPr sz="2667" spc="-7" dirty="0">
                <a:latin typeface="Arial"/>
                <a:cs typeface="Arial"/>
              </a:rPr>
              <a:t>a</a:t>
            </a:r>
            <a:r>
              <a:rPr lang="en-CA" sz="2667" spc="-7" dirty="0">
                <a:latin typeface="Arial"/>
                <a:cs typeface="Arial"/>
              </a:rPr>
              <a:t>)</a:t>
            </a:r>
            <a:r>
              <a:rPr sz="2667" spc="-7" dirty="0">
                <a:latin typeface="Arial"/>
                <a:cs typeface="Arial"/>
              </a:rPr>
              <a:t>,</a:t>
            </a:r>
            <a:r>
              <a:rPr lang="en-CA" sz="2667" spc="-7" dirty="0">
                <a:latin typeface="Arial"/>
                <a:cs typeface="Arial"/>
              </a:rPr>
              <a:t>block(</a:t>
            </a:r>
            <a:r>
              <a:rPr sz="2667" spc="-7" dirty="0">
                <a:latin typeface="Arial"/>
                <a:cs typeface="Arial"/>
              </a:rPr>
              <a:t>b</a:t>
            </a:r>
            <a:r>
              <a:rPr lang="en-CA" sz="2667" spc="-7" dirty="0">
                <a:latin typeface="Arial"/>
                <a:cs typeface="Arial"/>
              </a:rPr>
              <a:t>)</a:t>
            </a:r>
            <a:r>
              <a:rPr sz="2667" spc="-7" dirty="0">
                <a:latin typeface="Arial"/>
                <a:cs typeface="Arial"/>
              </a:rPr>
              <a:t>),</a:t>
            </a:r>
            <a:r>
              <a:rPr sz="2667" spc="-27" dirty="0">
                <a:latin typeface="Arial"/>
                <a:cs typeface="Arial"/>
              </a:rPr>
              <a:t> </a:t>
            </a:r>
            <a:r>
              <a:rPr sz="2667" spc="-7" dirty="0">
                <a:latin typeface="Arial"/>
                <a:cs typeface="Arial"/>
              </a:rPr>
              <a:t>on(</a:t>
            </a:r>
            <a:r>
              <a:rPr lang="en-CA" sz="2667" spc="-7" dirty="0">
                <a:latin typeface="Arial"/>
                <a:cs typeface="Arial"/>
              </a:rPr>
              <a:t>block(</a:t>
            </a:r>
            <a:r>
              <a:rPr sz="2667" spc="-7" dirty="0">
                <a:latin typeface="Arial"/>
                <a:cs typeface="Arial"/>
              </a:rPr>
              <a:t>b</a:t>
            </a:r>
            <a:r>
              <a:rPr lang="en-CA" sz="2667" spc="-7" dirty="0">
                <a:latin typeface="Arial"/>
                <a:cs typeface="Arial"/>
              </a:rPr>
              <a:t>)</a:t>
            </a:r>
            <a:r>
              <a:rPr sz="2667" spc="-7" dirty="0">
                <a:latin typeface="Arial"/>
                <a:cs typeface="Arial"/>
              </a:rPr>
              <a:t>,</a:t>
            </a:r>
            <a:r>
              <a:rPr lang="en-CA" sz="2667" spc="-7" dirty="0">
                <a:latin typeface="Arial"/>
                <a:cs typeface="Arial"/>
              </a:rPr>
              <a:t>block(c))</a:t>
            </a:r>
            <a:r>
              <a:rPr sz="2667" spc="-7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endParaRPr sz="2667" dirty="0">
              <a:solidFill>
                <a:srgbClr val="FF0000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087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27"/>
              </a:spcBef>
            </a:pPr>
            <a:r>
              <a:rPr spc="-7" dirty="0"/>
              <a:t>Action</a:t>
            </a:r>
            <a:r>
              <a:rPr spc="-67" dirty="0"/>
              <a:t> </a:t>
            </a:r>
            <a:r>
              <a:rPr spc="-7" dirty="0"/>
              <a:t>schema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2382" y="2397420"/>
            <a:ext cx="9618979" cy="3525879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74121" indent="-457189">
              <a:spcBef>
                <a:spcPts val="133"/>
              </a:spcBef>
              <a:buClr>
                <a:srgbClr val="FF0000"/>
              </a:buClr>
              <a:buSzPct val="129166"/>
              <a:buFont typeface="Wingdings"/>
              <a:buChar char=""/>
              <a:tabLst>
                <a:tab pos="473275" algn="l"/>
                <a:tab pos="474121" algn="l"/>
              </a:tabLst>
            </a:pPr>
            <a:r>
              <a:rPr sz="3200" spc="-7" dirty="0">
                <a:latin typeface="Arial"/>
                <a:cs typeface="Arial"/>
              </a:rPr>
              <a:t>Represents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number</a:t>
            </a:r>
            <a:r>
              <a:rPr sz="3200" spc="2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of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actions</a:t>
            </a:r>
            <a:r>
              <a:rPr sz="3200" spc="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by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using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variables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7"/>
              </a:spcBef>
              <a:buClr>
                <a:srgbClr val="FF0000"/>
              </a:buClr>
              <a:buFont typeface="Wingdings"/>
              <a:buChar char=""/>
            </a:pPr>
            <a:endParaRPr sz="4667">
              <a:latin typeface="Arial"/>
              <a:cs typeface="Arial"/>
            </a:endParaRPr>
          </a:p>
          <a:p>
            <a:pPr marL="474121" indent="-457189">
              <a:buClr>
                <a:srgbClr val="FF0000"/>
              </a:buClr>
              <a:buSzPct val="129166"/>
              <a:buFont typeface="Wingdings"/>
              <a:buChar char=""/>
              <a:tabLst>
                <a:tab pos="473275" algn="l"/>
                <a:tab pos="474121" algn="l"/>
              </a:tabLst>
            </a:pPr>
            <a:r>
              <a:rPr sz="3200" spc="-7" dirty="0">
                <a:latin typeface="Arial"/>
                <a:cs typeface="Arial"/>
              </a:rPr>
              <a:t>move(</a:t>
            </a:r>
            <a:r>
              <a:rPr sz="3200" spc="-2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X,</a:t>
            </a:r>
            <a:r>
              <a:rPr sz="3200" spc="-47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Y,</a:t>
            </a:r>
            <a:r>
              <a:rPr sz="3200" spc="-3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Z)</a:t>
            </a:r>
            <a:endParaRPr sz="3200">
              <a:latin typeface="Arial"/>
              <a:cs typeface="Arial"/>
            </a:endParaRPr>
          </a:p>
          <a:p>
            <a:pPr>
              <a:spcBef>
                <a:spcPts val="13"/>
              </a:spcBef>
            </a:pPr>
            <a:endParaRPr sz="4667">
              <a:latin typeface="Arial"/>
              <a:cs typeface="Arial"/>
            </a:endParaRPr>
          </a:p>
          <a:p>
            <a:pPr marL="1363946"/>
            <a:r>
              <a:rPr sz="3200" dirty="0">
                <a:latin typeface="Arial"/>
                <a:cs typeface="Arial"/>
              </a:rPr>
              <a:t>X</a:t>
            </a:r>
            <a:r>
              <a:rPr sz="3200" spc="-3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stands </a:t>
            </a:r>
            <a:r>
              <a:rPr sz="3200" dirty="0">
                <a:latin typeface="Arial"/>
                <a:cs typeface="Arial"/>
              </a:rPr>
              <a:t>for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any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block</a:t>
            </a:r>
            <a:endParaRPr sz="3200">
              <a:latin typeface="Arial"/>
              <a:cs typeface="Arial"/>
            </a:endParaRPr>
          </a:p>
          <a:p>
            <a:pPr marL="1347858">
              <a:spcBef>
                <a:spcPts val="767"/>
              </a:spcBef>
            </a:pPr>
            <a:r>
              <a:rPr sz="3200" dirty="0">
                <a:latin typeface="Arial"/>
                <a:cs typeface="Arial"/>
              </a:rPr>
              <a:t>Y,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Z</a:t>
            </a:r>
            <a:r>
              <a:rPr sz="3200" spc="-13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stand</a:t>
            </a:r>
            <a:r>
              <a:rPr sz="3200" dirty="0">
                <a:latin typeface="Arial"/>
                <a:cs typeface="Arial"/>
              </a:rPr>
              <a:t> for </a:t>
            </a:r>
            <a:r>
              <a:rPr sz="3200" spc="-7" dirty="0">
                <a:latin typeface="Arial"/>
                <a:cs typeface="Arial"/>
              </a:rPr>
              <a:t>any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block</a:t>
            </a:r>
            <a:r>
              <a:rPr sz="3200" spc="7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or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7" dirty="0">
                <a:latin typeface="Arial"/>
                <a:cs typeface="Arial"/>
              </a:rPr>
              <a:t>location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319B4-3E90-BD48-987C-D8DE3E90E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12473628" cy="1335973"/>
          </a:xfrm>
        </p:spPr>
        <p:txBody>
          <a:bodyPr/>
          <a:lstStyle/>
          <a:p>
            <a:r>
              <a:rPr lang="en-US" dirty="0"/>
              <a:t>Situation Calculus Blocks World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25F0-92C1-694F-A90F-C8082BEA2F7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2C9946-96D4-DC40-BC8B-B48C7D2065DB}"/>
              </a:ext>
            </a:extLst>
          </p:cNvPr>
          <p:cNvSpPr txBox="1"/>
          <p:nvPr/>
        </p:nvSpPr>
        <p:spPr>
          <a:xfrm>
            <a:off x="10477127" y="470877"/>
            <a:ext cx="5427892" cy="820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block_exists</a:t>
            </a:r>
            <a:r>
              <a:rPr lang="en-CA" dirty="0"/>
              <a:t>(block(a)).</a:t>
            </a:r>
          </a:p>
          <a:p>
            <a:r>
              <a:rPr lang="en-CA" dirty="0" err="1"/>
              <a:t>block_exists</a:t>
            </a:r>
            <a:r>
              <a:rPr lang="en-CA" dirty="0"/>
              <a:t>(block(b)).</a:t>
            </a:r>
          </a:p>
          <a:p>
            <a:r>
              <a:rPr lang="en-CA" dirty="0" err="1"/>
              <a:t>block_exists</a:t>
            </a:r>
            <a:r>
              <a:rPr lang="en-CA" dirty="0"/>
              <a:t>(block(c)).</a:t>
            </a:r>
          </a:p>
          <a:p>
            <a:endParaRPr lang="en-CA" dirty="0"/>
          </a:p>
          <a:p>
            <a:r>
              <a:rPr lang="en-CA" dirty="0" err="1"/>
              <a:t>location_exists</a:t>
            </a:r>
            <a:r>
              <a:rPr lang="en-CA" dirty="0"/>
              <a:t>(location(1)).</a:t>
            </a:r>
          </a:p>
          <a:p>
            <a:r>
              <a:rPr lang="en-CA" dirty="0" err="1"/>
              <a:t>location_exists</a:t>
            </a:r>
            <a:r>
              <a:rPr lang="en-CA" dirty="0"/>
              <a:t>(location(2)).</a:t>
            </a:r>
          </a:p>
          <a:p>
            <a:r>
              <a:rPr lang="en-CA" dirty="0" err="1"/>
              <a:t>location_exists</a:t>
            </a:r>
            <a:r>
              <a:rPr lang="en-CA" dirty="0"/>
              <a:t>(location(3)).</a:t>
            </a:r>
          </a:p>
          <a:p>
            <a:r>
              <a:rPr lang="en-CA" dirty="0" err="1"/>
              <a:t>location_exists</a:t>
            </a:r>
            <a:r>
              <a:rPr lang="en-CA" dirty="0"/>
              <a:t>(location(4)).</a:t>
            </a:r>
          </a:p>
          <a:p>
            <a:endParaRPr lang="en-CA" dirty="0"/>
          </a:p>
          <a:p>
            <a:r>
              <a:rPr lang="en-CA" dirty="0"/>
              <a:t>clear(location(2),[]).</a:t>
            </a:r>
          </a:p>
          <a:p>
            <a:r>
              <a:rPr lang="en-CA" dirty="0"/>
              <a:t>clear(location(4),[]).</a:t>
            </a:r>
          </a:p>
          <a:p>
            <a:r>
              <a:rPr lang="en-CA" dirty="0"/>
              <a:t>clear(block(b),[]).</a:t>
            </a:r>
          </a:p>
          <a:p>
            <a:r>
              <a:rPr lang="en-CA" dirty="0"/>
              <a:t>clear(block(c),[]).</a:t>
            </a:r>
          </a:p>
          <a:p>
            <a:r>
              <a:rPr lang="en-CA" dirty="0"/>
              <a:t>on(block(a), location(1),[]).</a:t>
            </a:r>
          </a:p>
          <a:p>
            <a:r>
              <a:rPr lang="en-CA" dirty="0"/>
              <a:t>on(block(b), location(3),[]).</a:t>
            </a:r>
          </a:p>
          <a:p>
            <a:r>
              <a:rPr lang="en-CA" dirty="0"/>
              <a:t>on(block(c), block(a),[]).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3FC26C-B4D7-3A45-9C87-B2534DEC4E98}"/>
              </a:ext>
            </a:extLst>
          </p:cNvPr>
          <p:cNvSpPr txBox="1"/>
          <p:nvPr/>
        </p:nvSpPr>
        <p:spPr>
          <a:xfrm>
            <a:off x="2036618" y="2867891"/>
            <a:ext cx="3743845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Action: move(X,Y,Z)</a:t>
            </a:r>
          </a:p>
          <a:p>
            <a:r>
              <a:rPr lang="en-US" dirty="0" err="1"/>
              <a:t>Fluents</a:t>
            </a:r>
            <a:r>
              <a:rPr lang="en-US" dirty="0"/>
              <a:t>: clear, 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7660DA-664B-A54A-8350-52C4E766239C}"/>
              </a:ext>
            </a:extLst>
          </p:cNvPr>
          <p:cNvSpPr txBox="1"/>
          <p:nvPr/>
        </p:nvSpPr>
        <p:spPr>
          <a:xfrm>
            <a:off x="7941904" y="2583197"/>
            <a:ext cx="2262158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 State:</a:t>
            </a:r>
          </a:p>
        </p:txBody>
      </p:sp>
    </p:spTree>
    <p:extLst>
      <p:ext uri="{BB962C8B-B14F-4D97-AF65-F5344CB8AC3E}">
        <p14:creationId xmlns:p14="http://schemas.microsoft.com/office/powerpoint/2010/main" val="2130235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CEEAA-EBB5-A848-8D55-3B7F60715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866471"/>
          </a:xfrm>
        </p:spPr>
        <p:txBody>
          <a:bodyPr/>
          <a:lstStyle/>
          <a:p>
            <a:r>
              <a:rPr lang="en-US" dirty="0" err="1"/>
              <a:t>Sitcalc</a:t>
            </a:r>
            <a:r>
              <a:rPr lang="en-US" dirty="0"/>
              <a:t> precondition axiom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20C52-2E4D-7C48-B1ED-0087AD0A5AE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10965-34EF-F24D-B012-326E576863BD}"/>
              </a:ext>
            </a:extLst>
          </p:cNvPr>
          <p:cNvSpPr txBox="1"/>
          <p:nvPr/>
        </p:nvSpPr>
        <p:spPr>
          <a:xfrm>
            <a:off x="1745673" y="2701636"/>
            <a:ext cx="10282204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/>
              <a:t>poss</a:t>
            </a:r>
            <a:r>
              <a:rPr lang="en-CA" dirty="0"/>
              <a:t>([move(</a:t>
            </a:r>
            <a:r>
              <a:rPr lang="en-CA" dirty="0" err="1"/>
              <a:t>Block,From,To</a:t>
            </a:r>
            <a:r>
              <a:rPr lang="en-CA" dirty="0"/>
              <a:t>)|S]):-</a:t>
            </a:r>
          </a:p>
          <a:p>
            <a:r>
              <a:rPr lang="en-CA" dirty="0"/>
              <a:t>  </a:t>
            </a:r>
            <a:r>
              <a:rPr lang="en-CA" dirty="0" err="1"/>
              <a:t>block_exists</a:t>
            </a:r>
            <a:r>
              <a:rPr lang="en-CA" dirty="0"/>
              <a:t>(Block),</a:t>
            </a:r>
          </a:p>
          <a:p>
            <a:r>
              <a:rPr lang="en-CA" dirty="0"/>
              <a:t>  clear(</a:t>
            </a:r>
            <a:r>
              <a:rPr lang="en-CA" dirty="0" err="1"/>
              <a:t>Block,S</a:t>
            </a:r>
            <a:r>
              <a:rPr lang="en-CA" dirty="0"/>
              <a:t>),</a:t>
            </a:r>
          </a:p>
          <a:p>
            <a:r>
              <a:rPr lang="en-CA" dirty="0"/>
              <a:t>  (</a:t>
            </a:r>
            <a:r>
              <a:rPr lang="en-CA" dirty="0" err="1"/>
              <a:t>location_exists</a:t>
            </a:r>
            <a:r>
              <a:rPr lang="en-CA" dirty="0"/>
              <a:t>(To) ; </a:t>
            </a:r>
            <a:r>
              <a:rPr lang="en-CA" dirty="0" err="1"/>
              <a:t>block_exists</a:t>
            </a:r>
            <a:r>
              <a:rPr lang="en-CA" dirty="0"/>
              <a:t>(To)),</a:t>
            </a:r>
          </a:p>
          <a:p>
            <a:r>
              <a:rPr lang="en-CA" dirty="0"/>
              <a:t>  Block \= To,</a:t>
            </a:r>
          </a:p>
          <a:p>
            <a:r>
              <a:rPr lang="en-CA" dirty="0"/>
              <a:t>  clear(</a:t>
            </a:r>
            <a:r>
              <a:rPr lang="en-CA" dirty="0" err="1"/>
              <a:t>To,S</a:t>
            </a:r>
            <a:r>
              <a:rPr lang="en-CA" dirty="0"/>
              <a:t>),</a:t>
            </a:r>
          </a:p>
          <a:p>
            <a:r>
              <a:rPr lang="en-CA" dirty="0"/>
              <a:t>  (</a:t>
            </a:r>
            <a:r>
              <a:rPr lang="en-CA" dirty="0" err="1"/>
              <a:t>location_exists</a:t>
            </a:r>
            <a:r>
              <a:rPr lang="en-CA" dirty="0"/>
              <a:t>(From);</a:t>
            </a:r>
            <a:r>
              <a:rPr lang="en-CA" dirty="0" err="1"/>
              <a:t>block_exists</a:t>
            </a:r>
            <a:r>
              <a:rPr lang="en-CA" dirty="0"/>
              <a:t>(From)),</a:t>
            </a:r>
          </a:p>
          <a:p>
            <a:r>
              <a:rPr lang="en-CA" dirty="0"/>
              <a:t>  on(</a:t>
            </a:r>
            <a:r>
              <a:rPr lang="en-CA" dirty="0" err="1"/>
              <a:t>Block,From,S</a:t>
            </a:r>
            <a:r>
              <a:rPr lang="en-CA" dirty="0"/>
              <a:t>).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A36DD5-3764-C44A-B436-CE5319916ADE}"/>
              </a:ext>
            </a:extLst>
          </p:cNvPr>
          <p:cNvSpPr txBox="1"/>
          <p:nvPr/>
        </p:nvSpPr>
        <p:spPr>
          <a:xfrm>
            <a:off x="1967346" y="1771854"/>
            <a:ext cx="7802136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%Let's add comments to this code together</a:t>
            </a:r>
          </a:p>
        </p:txBody>
      </p:sp>
    </p:spTree>
    <p:extLst>
      <p:ext uri="{BB962C8B-B14F-4D97-AF65-F5344CB8AC3E}">
        <p14:creationId xmlns:p14="http://schemas.microsoft.com/office/powerpoint/2010/main" val="3277940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789BC-5B19-A849-B6A5-99F85C182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9862" y="646545"/>
            <a:ext cx="13291047" cy="569388"/>
          </a:xfrm>
        </p:spPr>
        <p:txBody>
          <a:bodyPr/>
          <a:lstStyle/>
          <a:p>
            <a:r>
              <a:rPr lang="en-US" dirty="0" err="1"/>
              <a:t>SitCalc</a:t>
            </a:r>
            <a:r>
              <a:rPr lang="en-US" dirty="0"/>
              <a:t> successor state axioms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46662-6DCE-F343-A5F0-CEB1D616110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92F076-ECC0-1940-8091-064DCEBE1E84}"/>
              </a:ext>
            </a:extLst>
          </p:cNvPr>
          <p:cNvSpPr txBox="1"/>
          <p:nvPr/>
        </p:nvSpPr>
        <p:spPr>
          <a:xfrm>
            <a:off x="1939636" y="2203424"/>
            <a:ext cx="8900193" cy="629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clear(X,[move(Z,X,Y)|S]):- </a:t>
            </a:r>
            <a:r>
              <a:rPr lang="en-CA" dirty="0" err="1"/>
              <a:t>poss</a:t>
            </a:r>
            <a:r>
              <a:rPr lang="en-CA" dirty="0"/>
              <a:t>([</a:t>
            </a:r>
            <a:r>
              <a:rPr lang="en-CA"/>
              <a:t>move(Z,X,Y)|</a:t>
            </a:r>
            <a:r>
              <a:rPr lang="en-CA" dirty="0"/>
              <a:t>S]).</a:t>
            </a:r>
          </a:p>
          <a:p>
            <a:r>
              <a:rPr lang="en-CA" dirty="0"/>
              <a:t>clear(X,[A|S]):-</a:t>
            </a:r>
          </a:p>
          <a:p>
            <a:r>
              <a:rPr lang="en-CA" dirty="0"/>
              <a:t>  </a:t>
            </a:r>
            <a:r>
              <a:rPr lang="en-CA" dirty="0" err="1"/>
              <a:t>poss</a:t>
            </a:r>
            <a:r>
              <a:rPr lang="en-CA" dirty="0"/>
              <a:t>([A|S]),</a:t>
            </a:r>
          </a:p>
          <a:p>
            <a:r>
              <a:rPr lang="en-CA" dirty="0"/>
              <a:t>  A \= move(_,_,X),</a:t>
            </a:r>
          </a:p>
          <a:p>
            <a:r>
              <a:rPr lang="en-CA" dirty="0"/>
              <a:t>  clear(X,S).</a:t>
            </a:r>
          </a:p>
          <a:p>
            <a:br>
              <a:rPr lang="en-CA" dirty="0"/>
            </a:br>
            <a:endParaRPr lang="en-CA" dirty="0"/>
          </a:p>
          <a:p>
            <a:r>
              <a:rPr lang="en-CA" dirty="0"/>
              <a:t>on(X,Y,[move(X,Z,Y)|S]):- </a:t>
            </a:r>
            <a:r>
              <a:rPr lang="en-CA" dirty="0" err="1"/>
              <a:t>poss</a:t>
            </a:r>
            <a:r>
              <a:rPr lang="en-CA" dirty="0"/>
              <a:t>([move(X,Z,Y)|S]).</a:t>
            </a:r>
          </a:p>
          <a:p>
            <a:r>
              <a:rPr lang="en-CA" dirty="0"/>
              <a:t>on(X,Y,[A|S]):-</a:t>
            </a:r>
          </a:p>
          <a:p>
            <a:r>
              <a:rPr lang="en-CA" dirty="0"/>
              <a:t>  </a:t>
            </a:r>
            <a:r>
              <a:rPr lang="en-CA" dirty="0" err="1"/>
              <a:t>poss</a:t>
            </a:r>
            <a:r>
              <a:rPr lang="en-CA" dirty="0"/>
              <a:t>([A|S]),</a:t>
            </a:r>
          </a:p>
          <a:p>
            <a:r>
              <a:rPr lang="en-CA" dirty="0"/>
              <a:t>  A \= move(X,Y,_),</a:t>
            </a:r>
          </a:p>
          <a:p>
            <a:r>
              <a:rPr lang="en-CA" dirty="0"/>
              <a:t>  on(X,Y,S).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04DF5D-4AEF-C04E-A7AF-5319F98F07D3}"/>
              </a:ext>
            </a:extLst>
          </p:cNvPr>
          <p:cNvSpPr txBox="1"/>
          <p:nvPr/>
        </p:nvSpPr>
        <p:spPr>
          <a:xfrm>
            <a:off x="1939636" y="1523999"/>
            <a:ext cx="8000908" cy="5693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% Let's add comments to this code together</a:t>
            </a:r>
          </a:p>
        </p:txBody>
      </p:sp>
    </p:spTree>
    <p:extLst>
      <p:ext uri="{BB962C8B-B14F-4D97-AF65-F5344CB8AC3E}">
        <p14:creationId xmlns:p14="http://schemas.microsoft.com/office/powerpoint/2010/main" val="4121207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B264B-723C-E54F-881E-E031BBFCE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Queries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A765E-DD51-C94A-9F3D-428B529396F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A69F5D-0A3F-A347-8B06-FE84B96CFD32}"/>
              </a:ext>
            </a:extLst>
          </p:cNvPr>
          <p:cNvSpPr txBox="1"/>
          <p:nvPr/>
        </p:nvSpPr>
        <p:spPr>
          <a:xfrm>
            <a:off x="3297382" y="2964873"/>
            <a:ext cx="8158003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?- on(block(b),location(2),S).</a:t>
            </a:r>
          </a:p>
          <a:p>
            <a:r>
              <a:rPr lang="en-CA" dirty="0"/>
              <a:t>S = [move(block(b), location(3), location(2))] </a:t>
            </a:r>
            <a:r>
              <a:rPr lang="en-CA" b="1" dirty="0"/>
              <a:t>.</a:t>
            </a:r>
            <a:endParaRPr lang="en-CA" dirty="0"/>
          </a:p>
          <a:p>
            <a:r>
              <a:rPr lang="en-CA" dirty="0"/>
              <a:t>?- 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A925D9-4686-D94A-A3BA-6A9991EA1159}"/>
              </a:ext>
            </a:extLst>
          </p:cNvPr>
          <p:cNvSpPr txBox="1"/>
          <p:nvPr/>
        </p:nvSpPr>
        <p:spPr>
          <a:xfrm>
            <a:off x="3297382" y="5070765"/>
            <a:ext cx="8465127" cy="2477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 planning that easy?  Not so fast…</a:t>
            </a:r>
          </a:p>
          <a:p>
            <a:endParaRPr lang="en-US" dirty="0"/>
          </a:p>
          <a:p>
            <a:r>
              <a:rPr lang="en-CA" dirty="0"/>
              <a:t>?- clear(location(3),S).</a:t>
            </a:r>
          </a:p>
          <a:p>
            <a:r>
              <a:rPr lang="en-CA" b="1" dirty="0"/>
              <a:t>ERROR: Stack limit (1.0Gb) exceeded</a:t>
            </a:r>
            <a:endParaRPr lang="en-CA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472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5B101-DD99-0F41-B352-8C7E13884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214" y="297312"/>
            <a:ext cx="11005046" cy="783344"/>
          </a:xfrm>
        </p:spPr>
        <p:txBody>
          <a:bodyPr/>
          <a:lstStyle/>
          <a:p>
            <a:r>
              <a:rPr lang="en-US" dirty="0"/>
              <a:t>Depth-first search and Infinite Loops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6DB7B-5954-9C4D-A21A-6A22023019A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978285-DB9E-9744-B773-F1E0B81EB410}"/>
              </a:ext>
            </a:extLst>
          </p:cNvPr>
          <p:cNvSpPr txBox="1"/>
          <p:nvPr/>
        </p:nvSpPr>
        <p:spPr>
          <a:xfrm>
            <a:off x="0" y="1049571"/>
            <a:ext cx="9525365" cy="7478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dirty="0"/>
              <a:t>[trace]  ?- clear(location(3),S).</a:t>
            </a:r>
          </a:p>
          <a:p>
            <a:r>
              <a:rPr lang="en-CA" sz="2400" dirty="0"/>
              <a:t>   </a:t>
            </a:r>
            <a:r>
              <a:rPr lang="en-CA" sz="2400" b="1" dirty="0"/>
              <a:t>Call: </a:t>
            </a:r>
            <a:r>
              <a:rPr lang="en-CA" sz="2400" dirty="0"/>
              <a:t>(10) clear(location(3), _3838) ? creep</a:t>
            </a:r>
          </a:p>
          <a:p>
            <a:r>
              <a:rPr lang="en-CA" sz="2400" dirty="0"/>
              <a:t>   </a:t>
            </a:r>
            <a:r>
              <a:rPr lang="en-CA" sz="2400" b="1" dirty="0"/>
              <a:t>Call: </a:t>
            </a:r>
            <a:r>
              <a:rPr lang="en-CA" sz="2400" dirty="0"/>
              <a:t>(11) </a:t>
            </a:r>
            <a:r>
              <a:rPr lang="en-CA" sz="2400" dirty="0" err="1"/>
              <a:t>poss</a:t>
            </a:r>
            <a:r>
              <a:rPr lang="en-CA" sz="2400" dirty="0"/>
              <a:t>([move(_5048, location(3), _5052)|_5030]) ? creep</a:t>
            </a:r>
          </a:p>
          <a:p>
            <a:r>
              <a:rPr lang="en-CA" sz="2400" dirty="0"/>
              <a:t>   </a:t>
            </a:r>
            <a:r>
              <a:rPr lang="en-CA" sz="2400" b="1" dirty="0"/>
              <a:t>Call: </a:t>
            </a:r>
            <a:r>
              <a:rPr lang="en-CA" sz="2400" dirty="0"/>
              <a:t>(12) </a:t>
            </a:r>
            <a:r>
              <a:rPr lang="en-CA" sz="2400" dirty="0" err="1"/>
              <a:t>block_exists</a:t>
            </a:r>
            <a:r>
              <a:rPr lang="en-CA" sz="2400" dirty="0"/>
              <a:t>(5048) ? creep</a:t>
            </a:r>
          </a:p>
          <a:p>
            <a:r>
              <a:rPr lang="en-CA" sz="2400" dirty="0"/>
              <a:t>   </a:t>
            </a:r>
            <a:r>
              <a:rPr lang="en-CA" sz="2400" b="1" dirty="0"/>
              <a:t>Exit: </a:t>
            </a:r>
            <a:r>
              <a:rPr lang="en-CA" sz="2400" dirty="0"/>
              <a:t>(12) </a:t>
            </a:r>
            <a:r>
              <a:rPr lang="en-CA" sz="2400" dirty="0" err="1"/>
              <a:t>block_exists</a:t>
            </a:r>
            <a:r>
              <a:rPr lang="en-CA" sz="2400" dirty="0"/>
              <a:t>(block(a)) ? creep</a:t>
            </a:r>
          </a:p>
          <a:p>
            <a:r>
              <a:rPr lang="en-CA" sz="2400" dirty="0"/>
              <a:t>   </a:t>
            </a:r>
            <a:r>
              <a:rPr lang="en-CA" sz="2400" b="1" dirty="0"/>
              <a:t>Call: </a:t>
            </a:r>
            <a:r>
              <a:rPr lang="en-CA" sz="2400" dirty="0"/>
              <a:t>(12) clear(block(a), _5030) ? creep</a:t>
            </a:r>
          </a:p>
          <a:p>
            <a:r>
              <a:rPr lang="en-CA" sz="2400" dirty="0"/>
              <a:t>   </a:t>
            </a:r>
            <a:r>
              <a:rPr lang="en-CA" sz="2400" b="1" dirty="0"/>
              <a:t>Call: </a:t>
            </a:r>
            <a:r>
              <a:rPr lang="en-CA" sz="2400" dirty="0"/>
              <a:t>(13) </a:t>
            </a:r>
            <a:r>
              <a:rPr lang="en-CA" sz="2400" dirty="0" err="1"/>
              <a:t>poss</a:t>
            </a:r>
            <a:r>
              <a:rPr lang="en-CA" sz="2400" dirty="0"/>
              <a:t>([move(_8080, block(a), _8084)|_8062]) ? creep</a:t>
            </a:r>
          </a:p>
          <a:p>
            <a:r>
              <a:rPr lang="en-CA" sz="2400" dirty="0"/>
              <a:t>   </a:t>
            </a:r>
            <a:r>
              <a:rPr lang="en-CA" sz="2400" b="1" dirty="0"/>
              <a:t>Call: </a:t>
            </a:r>
            <a:r>
              <a:rPr lang="en-CA" sz="2400" dirty="0"/>
              <a:t>(14) </a:t>
            </a:r>
            <a:r>
              <a:rPr lang="en-CA" sz="2400" dirty="0" err="1"/>
              <a:t>block_exists</a:t>
            </a:r>
            <a:r>
              <a:rPr lang="en-CA" sz="2400" dirty="0"/>
              <a:t>(_8080) ? creep</a:t>
            </a:r>
          </a:p>
          <a:p>
            <a:r>
              <a:rPr lang="en-CA" sz="2400" dirty="0"/>
              <a:t>   </a:t>
            </a:r>
            <a:r>
              <a:rPr lang="en-CA" sz="2400" b="1" dirty="0"/>
              <a:t>Exit: </a:t>
            </a:r>
            <a:r>
              <a:rPr lang="en-CA" sz="2400" dirty="0"/>
              <a:t>(14) </a:t>
            </a:r>
            <a:r>
              <a:rPr lang="en-CA" sz="2400" dirty="0" err="1"/>
              <a:t>block_exists</a:t>
            </a:r>
            <a:r>
              <a:rPr lang="en-CA" sz="2400" dirty="0"/>
              <a:t>(block(a)) ? creep</a:t>
            </a:r>
          </a:p>
          <a:p>
            <a:r>
              <a:rPr lang="en-CA" sz="2400" dirty="0"/>
              <a:t>   </a:t>
            </a:r>
            <a:r>
              <a:rPr lang="en-CA" sz="2400" b="1" dirty="0"/>
              <a:t>Call: </a:t>
            </a:r>
            <a:r>
              <a:rPr lang="en-CA" sz="2400" dirty="0"/>
              <a:t>(14) clear(block(a), _8062) ? creep</a:t>
            </a:r>
          </a:p>
          <a:p>
            <a:r>
              <a:rPr lang="en-CA" sz="2400" dirty="0"/>
              <a:t>   </a:t>
            </a:r>
            <a:r>
              <a:rPr lang="en-CA" sz="2400" b="1" dirty="0"/>
              <a:t>Call: </a:t>
            </a:r>
            <a:r>
              <a:rPr lang="en-CA" sz="2400" dirty="0"/>
              <a:t>(15) </a:t>
            </a:r>
            <a:r>
              <a:rPr lang="en-CA" sz="2400" dirty="0" err="1"/>
              <a:t>poss</a:t>
            </a:r>
            <a:r>
              <a:rPr lang="en-CA" sz="2400" dirty="0"/>
              <a:t>([move(_11112, block(a), _11116)|_11094]) ? creep</a:t>
            </a:r>
          </a:p>
          <a:p>
            <a:r>
              <a:rPr lang="en-CA" sz="2400" dirty="0"/>
              <a:t>   </a:t>
            </a:r>
            <a:r>
              <a:rPr lang="en-CA" sz="2400" b="1" dirty="0"/>
              <a:t>Call: </a:t>
            </a:r>
            <a:r>
              <a:rPr lang="en-CA" sz="2400" dirty="0"/>
              <a:t>(16) block(_11112) ? creep</a:t>
            </a:r>
          </a:p>
          <a:p>
            <a:r>
              <a:rPr lang="en-CA" sz="2400" dirty="0"/>
              <a:t>   </a:t>
            </a:r>
            <a:r>
              <a:rPr lang="en-CA" sz="2400" b="1" dirty="0"/>
              <a:t>Exit: </a:t>
            </a:r>
            <a:r>
              <a:rPr lang="en-CA" sz="2400" dirty="0"/>
              <a:t>(16) </a:t>
            </a:r>
            <a:r>
              <a:rPr lang="en-CA" sz="2400" dirty="0" err="1"/>
              <a:t>block_exists</a:t>
            </a:r>
            <a:r>
              <a:rPr lang="en-CA" sz="2400" dirty="0"/>
              <a:t>(block(a)) ? creep</a:t>
            </a:r>
          </a:p>
          <a:p>
            <a:r>
              <a:rPr lang="en-CA" sz="2400" dirty="0"/>
              <a:t>   </a:t>
            </a:r>
            <a:r>
              <a:rPr lang="en-CA" sz="2400" b="1" dirty="0"/>
              <a:t>Call: </a:t>
            </a:r>
            <a:r>
              <a:rPr lang="en-CA" sz="2400" dirty="0"/>
              <a:t>(16) clear(block(a), _11094) ? creep</a:t>
            </a:r>
          </a:p>
          <a:p>
            <a:r>
              <a:rPr lang="en-CA" sz="2400" dirty="0"/>
              <a:t>   </a:t>
            </a:r>
            <a:r>
              <a:rPr lang="en-CA" sz="2400" b="1" dirty="0"/>
              <a:t>Call: </a:t>
            </a:r>
            <a:r>
              <a:rPr lang="en-CA" sz="2400" dirty="0"/>
              <a:t>(17) </a:t>
            </a:r>
            <a:r>
              <a:rPr lang="en-CA" sz="2400" dirty="0" err="1"/>
              <a:t>poss</a:t>
            </a:r>
            <a:r>
              <a:rPr lang="en-CA" sz="2400" dirty="0"/>
              <a:t>([move(_14144, block(a), _14148)|_14126]) ? creep</a:t>
            </a:r>
          </a:p>
          <a:p>
            <a:r>
              <a:rPr lang="en-CA" sz="2400" dirty="0"/>
              <a:t>   </a:t>
            </a:r>
            <a:r>
              <a:rPr lang="en-CA" sz="2400" b="1" dirty="0"/>
              <a:t>Call: </a:t>
            </a:r>
            <a:r>
              <a:rPr lang="en-CA" sz="2400" dirty="0"/>
              <a:t>(18) </a:t>
            </a:r>
            <a:r>
              <a:rPr lang="en-CA" sz="2400" dirty="0" err="1"/>
              <a:t>block_exists</a:t>
            </a:r>
            <a:r>
              <a:rPr lang="en-CA" sz="2400" dirty="0"/>
              <a:t>(_14144) ? creep</a:t>
            </a:r>
          </a:p>
          <a:p>
            <a:r>
              <a:rPr lang="en-CA" sz="2400" dirty="0"/>
              <a:t>   </a:t>
            </a:r>
            <a:r>
              <a:rPr lang="en-CA" sz="2400" b="1" dirty="0"/>
              <a:t>Exit: </a:t>
            </a:r>
            <a:r>
              <a:rPr lang="en-CA" sz="2400" dirty="0"/>
              <a:t>(18) </a:t>
            </a:r>
            <a:r>
              <a:rPr lang="en-CA" sz="2400" dirty="0" err="1"/>
              <a:t>block_exists</a:t>
            </a:r>
            <a:r>
              <a:rPr lang="en-CA" sz="2400" dirty="0"/>
              <a:t>(block(a)) ? creep</a:t>
            </a:r>
          </a:p>
          <a:p>
            <a:r>
              <a:rPr lang="en-CA" sz="2400" dirty="0"/>
              <a:t>   </a:t>
            </a:r>
            <a:r>
              <a:rPr lang="en-CA" sz="2400" b="1" dirty="0"/>
              <a:t>Call: </a:t>
            </a:r>
            <a:r>
              <a:rPr lang="en-CA" sz="2400" dirty="0"/>
              <a:t>(18) clear(block(a), _14126) ? creep</a:t>
            </a:r>
          </a:p>
          <a:p>
            <a:r>
              <a:rPr lang="en-CA" sz="2400" dirty="0"/>
              <a:t>   </a:t>
            </a:r>
            <a:r>
              <a:rPr lang="en-CA" sz="2400" b="1" dirty="0"/>
              <a:t>Call: </a:t>
            </a:r>
            <a:r>
              <a:rPr lang="en-CA" sz="2400" dirty="0"/>
              <a:t>(19) </a:t>
            </a:r>
            <a:r>
              <a:rPr lang="en-CA" sz="2400" dirty="0" err="1"/>
              <a:t>poss</a:t>
            </a:r>
            <a:r>
              <a:rPr lang="en-CA" sz="2400" dirty="0"/>
              <a:t>([move(_17176, block(a), _17180)|_17158]) ? </a:t>
            </a:r>
          </a:p>
          <a:p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39AA58-5347-C843-8E63-43B9D8981977}"/>
              </a:ext>
            </a:extLst>
          </p:cNvPr>
          <p:cNvSpPr txBox="1"/>
          <p:nvPr/>
        </p:nvSpPr>
        <p:spPr>
          <a:xfrm>
            <a:off x="9171796" y="1049571"/>
            <a:ext cx="679064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What's Happening?</a:t>
            </a:r>
          </a:p>
          <a:p>
            <a:r>
              <a:rPr lang="en-US" sz="2400" dirty="0"/>
              <a:t>Location(3) is clear if we move something from it</a:t>
            </a:r>
          </a:p>
          <a:p>
            <a:r>
              <a:rPr lang="en-US" sz="2400" dirty="0"/>
              <a:t>Can we move a block?</a:t>
            </a:r>
          </a:p>
          <a:p>
            <a:endParaRPr lang="en-US" sz="2400" dirty="0"/>
          </a:p>
          <a:p>
            <a:r>
              <a:rPr lang="en-US" sz="2400" dirty="0"/>
              <a:t>Is block(a) a block?</a:t>
            </a:r>
          </a:p>
          <a:p>
            <a:r>
              <a:rPr lang="en-US" sz="2400" dirty="0"/>
              <a:t>Is block(a) clear?</a:t>
            </a:r>
          </a:p>
          <a:p>
            <a:r>
              <a:rPr lang="en-US" sz="2400" dirty="0"/>
              <a:t>Can we move a block from block(a)?</a:t>
            </a:r>
          </a:p>
          <a:p>
            <a:r>
              <a:rPr lang="en-US" sz="2400" dirty="0"/>
              <a:t>No progress since 12</a:t>
            </a:r>
          </a:p>
          <a:p>
            <a:r>
              <a:rPr lang="en-US" sz="2400" dirty="0"/>
              <a:t>Is block(a) a block?</a:t>
            </a:r>
          </a:p>
          <a:p>
            <a:r>
              <a:rPr lang="en-US" sz="2400" dirty="0"/>
              <a:t>Is block(a) clear?  (in infinite loop)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1F7BA5-12CF-AC90-F853-4EC3FF3A4B44}"/>
              </a:ext>
            </a:extLst>
          </p:cNvPr>
          <p:cNvSpPr txBox="1"/>
          <p:nvPr/>
        </p:nvSpPr>
        <p:spPr>
          <a:xfrm>
            <a:off x="10761785" y="6049108"/>
            <a:ext cx="4009292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this case, Prolog is descending an infinitely long branch of the search tree</a:t>
            </a:r>
          </a:p>
        </p:txBody>
      </p:sp>
    </p:spTree>
    <p:extLst>
      <p:ext uri="{BB962C8B-B14F-4D97-AF65-F5344CB8AC3E}">
        <p14:creationId xmlns:p14="http://schemas.microsoft.com/office/powerpoint/2010/main" val="1374948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E1A2A-301B-E141-A17B-83E4C3F87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700217"/>
          </a:xfrm>
        </p:spPr>
        <p:txBody>
          <a:bodyPr/>
          <a:lstStyle/>
          <a:p>
            <a:r>
              <a:rPr lang="en-US" dirty="0"/>
              <a:t>Breadth First Planning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DF80B-2622-DD4A-841F-3634E86AC37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3ED2E8-CA92-7642-A334-28463F5A2339}"/>
              </a:ext>
            </a:extLst>
          </p:cNvPr>
          <p:cNvSpPr txBox="1"/>
          <p:nvPr/>
        </p:nvSpPr>
        <p:spPr>
          <a:xfrm>
            <a:off x="812881" y="1648691"/>
            <a:ext cx="14995644" cy="53399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are searching a tree of plans.</a:t>
            </a:r>
          </a:p>
          <a:p>
            <a:endParaRPr lang="en-US" dirty="0"/>
          </a:p>
          <a:p>
            <a:r>
              <a:rPr lang="en-US" dirty="0"/>
              <a:t>Depth first plans include an infinite sequence of moving a block back and forth.</a:t>
            </a:r>
          </a:p>
          <a:p>
            <a:endParaRPr lang="en-US" dirty="0"/>
          </a:p>
          <a:p>
            <a:r>
              <a:rPr lang="en-US" dirty="0"/>
              <a:t>We can fix the depth-first infinite loop problem by arranging for a breadth first search</a:t>
            </a:r>
          </a:p>
          <a:p>
            <a:endParaRPr lang="en-US" dirty="0"/>
          </a:p>
          <a:p>
            <a:r>
              <a:rPr lang="en-US" dirty="0"/>
              <a:t>We first generate a plans of length 1, until one of them satisfies the goal</a:t>
            </a:r>
          </a:p>
          <a:p>
            <a:endParaRPr lang="en-US" dirty="0"/>
          </a:p>
          <a:p>
            <a:r>
              <a:rPr lang="en-US" dirty="0"/>
              <a:t>Once plans of length 1 are exhausted, we move on to plans of length 2</a:t>
            </a:r>
          </a:p>
          <a:p>
            <a:endParaRPr lang="en-US" dirty="0"/>
          </a:p>
          <a:p>
            <a:r>
              <a:rPr lang="en-US" dirty="0"/>
              <a:t>And so on, until the goal succeeds, then we have our plan.</a:t>
            </a:r>
          </a:p>
        </p:txBody>
      </p:sp>
    </p:spTree>
    <p:extLst>
      <p:ext uri="{BB962C8B-B14F-4D97-AF65-F5344CB8AC3E}">
        <p14:creationId xmlns:p14="http://schemas.microsoft.com/office/powerpoint/2010/main" val="718545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EC6BC-821D-234D-834F-5F850BDFB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planning (cont'd)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ECD95-A98E-9243-9B68-6863A2731F6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AAEE7-BD05-A04D-9A55-273D75C000C6}"/>
              </a:ext>
            </a:extLst>
          </p:cNvPr>
          <p:cNvSpPr txBox="1"/>
          <p:nvPr/>
        </p:nvSpPr>
        <p:spPr>
          <a:xfrm>
            <a:off x="3532909" y="1828800"/>
            <a:ext cx="7869975" cy="629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First, try a plan of length 1</a:t>
            </a:r>
          </a:p>
          <a:p>
            <a:r>
              <a:rPr lang="en-CA" dirty="0"/>
              <a:t>?- </a:t>
            </a:r>
            <a:r>
              <a:rPr lang="en-CA" dirty="0" err="1"/>
              <a:t>poss</a:t>
            </a:r>
            <a:r>
              <a:rPr lang="en-CA" dirty="0"/>
              <a:t>([A]),clear(location(3),[A]).</a:t>
            </a:r>
          </a:p>
          <a:p>
            <a:r>
              <a:rPr lang="en-CA" dirty="0"/>
              <a:t>A = move(block(b), location(3), location(2)) </a:t>
            </a:r>
            <a:r>
              <a:rPr lang="en-CA" b="1" dirty="0"/>
              <a:t>;</a:t>
            </a:r>
            <a:endParaRPr lang="en-CA" dirty="0"/>
          </a:p>
          <a:p>
            <a:r>
              <a:rPr lang="en-CA" dirty="0"/>
              <a:t>A = move(block(b), location(3), location(2)) </a:t>
            </a:r>
            <a:r>
              <a:rPr lang="en-CA" b="1" dirty="0"/>
              <a:t>;</a:t>
            </a:r>
            <a:endParaRPr lang="en-CA" dirty="0"/>
          </a:p>
          <a:p>
            <a:r>
              <a:rPr lang="en-CA" dirty="0"/>
              <a:t>A = move(block(b), location(3), location(2)) </a:t>
            </a:r>
            <a:r>
              <a:rPr lang="en-CA" b="1" dirty="0"/>
              <a:t>;</a:t>
            </a:r>
            <a:endParaRPr lang="en-CA" dirty="0"/>
          </a:p>
          <a:p>
            <a:r>
              <a:rPr lang="en-CA" dirty="0"/>
              <a:t>A = move(block(b), location(3), location(4)) </a:t>
            </a:r>
            <a:r>
              <a:rPr lang="en-CA" b="1" dirty="0"/>
              <a:t>;</a:t>
            </a:r>
            <a:endParaRPr lang="en-CA" dirty="0"/>
          </a:p>
          <a:p>
            <a:r>
              <a:rPr lang="en-CA" dirty="0"/>
              <a:t>A = move(block(b), location(3), location(4)) </a:t>
            </a:r>
            <a:r>
              <a:rPr lang="en-CA" b="1" dirty="0"/>
              <a:t>;</a:t>
            </a:r>
            <a:endParaRPr lang="en-CA" dirty="0"/>
          </a:p>
          <a:p>
            <a:r>
              <a:rPr lang="en-CA" dirty="0"/>
              <a:t>A = move(block(b), location(3), location(4)) </a:t>
            </a:r>
            <a:r>
              <a:rPr lang="en-CA" b="1" dirty="0"/>
              <a:t>;</a:t>
            </a:r>
            <a:endParaRPr lang="en-CA" dirty="0"/>
          </a:p>
          <a:p>
            <a:r>
              <a:rPr lang="en-CA" dirty="0"/>
              <a:t>A = move(block(b), location(3), block(c)) </a:t>
            </a:r>
            <a:r>
              <a:rPr lang="en-CA" b="1" dirty="0"/>
              <a:t>;</a:t>
            </a:r>
            <a:endParaRPr lang="en-CA" dirty="0"/>
          </a:p>
          <a:p>
            <a:r>
              <a:rPr lang="en-CA" dirty="0"/>
              <a:t>A = move(block(b), location(3), block(c)) </a:t>
            </a:r>
            <a:r>
              <a:rPr lang="en-CA" b="1" dirty="0"/>
              <a:t>;</a:t>
            </a:r>
            <a:endParaRPr lang="en-CA" dirty="0"/>
          </a:p>
          <a:p>
            <a:r>
              <a:rPr lang="en-CA" dirty="0"/>
              <a:t>A = move(block(b), location(3), block(c)) </a:t>
            </a:r>
            <a:r>
              <a:rPr lang="en-CA" b="1" dirty="0"/>
              <a:t>;</a:t>
            </a:r>
            <a:endParaRPr lang="en-CA" dirty="0"/>
          </a:p>
          <a:p>
            <a:r>
              <a:rPr lang="en-CA" b="1" dirty="0"/>
              <a:t>false.</a:t>
            </a:r>
            <a:endParaRPr lang="en-CA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959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EC6BC-821D-234D-834F-5F850BDFB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planning (cont'd)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7ECD95-A98E-9243-9B68-6863A2731F6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AAEE7-BD05-A04D-9A55-273D75C000C6}"/>
              </a:ext>
            </a:extLst>
          </p:cNvPr>
          <p:cNvSpPr txBox="1"/>
          <p:nvPr/>
        </p:nvSpPr>
        <p:spPr>
          <a:xfrm>
            <a:off x="3532909" y="1828800"/>
            <a:ext cx="7826181" cy="24776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First, try a plan of length 2</a:t>
            </a:r>
          </a:p>
          <a:p>
            <a:r>
              <a:rPr lang="en-CA" dirty="0"/>
              <a:t>?- </a:t>
            </a:r>
            <a:r>
              <a:rPr lang="en-CA" dirty="0" err="1"/>
              <a:t>poss</a:t>
            </a:r>
            <a:r>
              <a:rPr lang="en-CA" dirty="0"/>
              <a:t>([B,A]),clear(location(3),[B,A]).</a:t>
            </a:r>
          </a:p>
          <a:p>
            <a:r>
              <a:rPr lang="en-CA" dirty="0"/>
              <a:t>B = move(block(b), location(2), location(4)),</a:t>
            </a:r>
          </a:p>
          <a:p>
            <a:r>
              <a:rPr lang="en-CA" dirty="0"/>
              <a:t>A = move(block(b), location(3), location(2)) </a:t>
            </a:r>
          </a:p>
          <a:p>
            <a:r>
              <a:rPr lang="en-US" dirty="0"/>
              <a:t>…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97884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068F9-3198-7E42-A6D1-F1882F63B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can implement breadth-first planning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72B3E-C116-044B-8EBA-A354B9DA155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242E80-B359-044B-8C72-7A7F09568234}"/>
              </a:ext>
            </a:extLst>
          </p:cNvPr>
          <p:cNvSpPr txBox="1"/>
          <p:nvPr/>
        </p:nvSpPr>
        <p:spPr>
          <a:xfrm>
            <a:off x="812881" y="2379092"/>
            <a:ext cx="10293202" cy="39087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% plan for a goal by doing a breadth-first search for plans</a:t>
            </a:r>
          </a:p>
          <a:p>
            <a:r>
              <a:rPr lang="en-CA" dirty="0"/>
              <a:t>plan(</a:t>
            </a:r>
            <a:r>
              <a:rPr lang="en-CA" dirty="0" err="1"/>
              <a:t>Goal,Plan</a:t>
            </a:r>
            <a:r>
              <a:rPr lang="en-CA" dirty="0"/>
              <a:t>):-</a:t>
            </a:r>
            <a:r>
              <a:rPr lang="en-CA" dirty="0" err="1"/>
              <a:t>bposs</a:t>
            </a:r>
            <a:r>
              <a:rPr lang="en-CA" dirty="0"/>
              <a:t>(Plan),Goal.</a:t>
            </a:r>
          </a:p>
          <a:p>
            <a:endParaRPr lang="en-CA" dirty="0"/>
          </a:p>
          <a:p>
            <a:r>
              <a:rPr lang="en-CA" dirty="0" err="1"/>
              <a:t>bposs</a:t>
            </a:r>
            <a:r>
              <a:rPr lang="en-CA" dirty="0"/>
              <a:t>(S) :- </a:t>
            </a:r>
            <a:r>
              <a:rPr lang="en-CA" dirty="0" err="1"/>
              <a:t>tryposs</a:t>
            </a:r>
            <a:r>
              <a:rPr lang="en-CA" dirty="0"/>
              <a:t>([],S).</a:t>
            </a:r>
          </a:p>
          <a:p>
            <a:endParaRPr lang="en-CA" dirty="0"/>
          </a:p>
          <a:p>
            <a:r>
              <a:rPr lang="en-CA" dirty="0" err="1"/>
              <a:t>tryposs</a:t>
            </a:r>
            <a:r>
              <a:rPr lang="en-CA" dirty="0"/>
              <a:t>(S,S) :- </a:t>
            </a:r>
            <a:r>
              <a:rPr lang="en-CA" dirty="0" err="1"/>
              <a:t>poss</a:t>
            </a:r>
            <a:r>
              <a:rPr lang="en-CA" dirty="0"/>
              <a:t>(S).             %S is a plan; otherwise..</a:t>
            </a:r>
          </a:p>
          <a:p>
            <a:r>
              <a:rPr lang="en-CA" dirty="0" err="1"/>
              <a:t>tryposs</a:t>
            </a:r>
            <a:r>
              <a:rPr lang="en-CA" dirty="0"/>
              <a:t>(X,S) :- </a:t>
            </a:r>
            <a:r>
              <a:rPr lang="en-CA" dirty="0" err="1"/>
              <a:t>tryposs</a:t>
            </a:r>
            <a:r>
              <a:rPr lang="en-CA" dirty="0"/>
              <a:t>([_|X],S). %increase plan length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920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EF221-02E7-3E4B-9EA0-46CB5E214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breadth-first planning (cont'd)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F99042-E2F9-8643-93E8-8A33848BF607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8445D6-EB18-A545-815E-D1779C9A5105}"/>
              </a:ext>
            </a:extLst>
          </p:cNvPr>
          <p:cNvSpPr txBox="1"/>
          <p:nvPr/>
        </p:nvSpPr>
        <p:spPr>
          <a:xfrm>
            <a:off x="1510145" y="2590800"/>
            <a:ext cx="7936788" cy="1523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?- plan(clear(location(3),S),S). </a:t>
            </a:r>
          </a:p>
          <a:p>
            <a:r>
              <a:rPr lang="en-CA" dirty="0"/>
              <a:t>S = [move(block(b), location(3), location(2))]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390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9475914" cy="57852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Time to check your learning!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812881" y="1902941"/>
            <a:ext cx="14904913" cy="6203091"/>
          </a:xfrm>
        </p:spPr>
        <p:txBody>
          <a:bodyPr/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Let’s see how many key concepts from Planning you recall by answering the following questions!</a:t>
            </a:r>
          </a:p>
          <a:p>
            <a:endParaRPr lang="en-US" dirty="0"/>
          </a:p>
          <a:p>
            <a:r>
              <a:rPr lang="en-US" dirty="0"/>
              <a:t>Why does a "normal" planning query not always terminate?</a:t>
            </a:r>
          </a:p>
          <a:p>
            <a:endParaRPr lang="en-US" dirty="0"/>
          </a:p>
          <a:p>
            <a:r>
              <a:rPr lang="en-US" dirty="0"/>
              <a:t>How does a breadth-first planning query address that problem?</a:t>
            </a:r>
          </a:p>
        </p:txBody>
      </p:sp>
    </p:spTree>
    <p:extLst>
      <p:ext uri="{BB962C8B-B14F-4D97-AF65-F5344CB8AC3E}">
        <p14:creationId xmlns:p14="http://schemas.microsoft.com/office/powerpoint/2010/main" val="207853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24242</TotalTime>
  <Words>1552</Words>
  <Application>Microsoft Macintosh PowerPoint</Application>
  <PresentationFormat>Custom</PresentationFormat>
  <Paragraphs>168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Helvetica</vt:lpstr>
      <vt:lpstr>Times New Roman</vt:lpstr>
      <vt:lpstr>Wingdings</vt:lpstr>
      <vt:lpstr>Office Theme</vt:lpstr>
      <vt:lpstr>Planning</vt:lpstr>
      <vt:lpstr>Lesson Overview (Agenda)</vt:lpstr>
      <vt:lpstr>A BLOCKS WORLD PROBLEM</vt:lpstr>
      <vt:lpstr>Action schema</vt:lpstr>
      <vt:lpstr>Situation Calculus Blocks World</vt:lpstr>
      <vt:lpstr>Sitcalc precondition axiom</vt:lpstr>
      <vt:lpstr>SitCalc successor state axioms</vt:lpstr>
      <vt:lpstr>Sample Queries</vt:lpstr>
      <vt:lpstr>Depth-first search and Infinite Loops</vt:lpstr>
      <vt:lpstr>Breadth First Planning</vt:lpstr>
      <vt:lpstr>Breadth-first planning (cont'd)</vt:lpstr>
      <vt:lpstr>Breadth-first planning (cont'd)</vt:lpstr>
      <vt:lpstr>We can implement breadth-first planning</vt:lpstr>
      <vt:lpstr>Implement breadth-first planning (cont'd)</vt:lpstr>
      <vt:lpstr>Time to check your learning!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Todd Kelley</cp:lastModifiedBy>
  <cp:revision>218</cp:revision>
  <dcterms:created xsi:type="dcterms:W3CDTF">2016-12-21T16:02:28Z</dcterms:created>
  <dcterms:modified xsi:type="dcterms:W3CDTF">2025-10-31T01:41:39Z</dcterms:modified>
</cp:coreProperties>
</file>