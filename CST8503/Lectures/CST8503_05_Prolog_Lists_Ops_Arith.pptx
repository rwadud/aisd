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7" r:id="rId2"/>
    <p:sldId id="334" r:id="rId3"/>
    <p:sldId id="345" r:id="rId4"/>
    <p:sldId id="368" r:id="rId5"/>
    <p:sldId id="369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39" r:id="rId21"/>
    <p:sldId id="360" r:id="rId22"/>
    <p:sldId id="361" r:id="rId23"/>
    <p:sldId id="362" r:id="rId24"/>
    <p:sldId id="364" r:id="rId25"/>
    <p:sldId id="365" r:id="rId26"/>
    <p:sldId id="366" r:id="rId27"/>
    <p:sldId id="367" r:id="rId28"/>
    <p:sldId id="341" r:id="rId29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5" autoAdjust="0"/>
    <p:restoredTop sz="94674" autoAdjust="0"/>
  </p:normalViewPr>
  <p:slideViewPr>
    <p:cSldViewPr snapToGrid="0" snapToObjects="1">
      <p:cViewPr varScale="1">
        <p:scale>
          <a:sx n="93" d="100"/>
          <a:sy n="93" d="100"/>
        </p:scale>
        <p:origin x="480" y="200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i-prolog.org/pldoc/doc_for?object=member/2" TargetMode="External"/><Relationship Id="rId2" Type="http://schemas.openxmlformats.org/officeDocument/2006/relationships/hyperlink" Target="https://www.swi-prolog.org/pldoc/man?section=preddesc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wi-prolog.org/pldoc/doc_for?object=(discontiguous)/1" TargetMode="External"/><Relationship Id="rId3" Type="http://schemas.openxmlformats.org/officeDocument/2006/relationships/hyperlink" Target="https://www.swi-prolog.org/pldoc/doc_for?object=(dynamic)/1" TargetMode="External"/><Relationship Id="rId7" Type="http://schemas.openxmlformats.org/officeDocument/2006/relationships/hyperlink" Target="https://www.swi-prolog.org/pldoc/man?predicate=consult/1" TargetMode="External"/><Relationship Id="rId2" Type="http://schemas.openxmlformats.org/officeDocument/2006/relationships/hyperlink" Target="https://www.swi-prolog.org/pldoc/man?section=declare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swi-prolog.org/pldoc/doc_for?object=(multifile)/1" TargetMode="External"/><Relationship Id="rId5" Type="http://schemas.openxmlformats.org/officeDocument/2006/relationships/hyperlink" Target="https://www.swi-prolog.org/pldoc/man?predicate=retract/1" TargetMode="External"/><Relationship Id="rId4" Type="http://schemas.openxmlformats.org/officeDocument/2006/relationships/hyperlink" Target="https://www.swi-prolog.org/pldoc/man?predicate=assert/1" TargetMode="External"/><Relationship Id="rId9" Type="http://schemas.openxmlformats.org/officeDocument/2006/relationships/hyperlink" Target="https://www.swi-prolog.org/pldoc/man?predicate=style_check/1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wi-prolog.org/pldoc/man?section=operators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Lists, Operators and Arithmetic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Prolog predicate argument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Prolog Lists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Prolog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Prolog Arithmetic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9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E019B-DD12-0546-9C9C-A320F8F6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AE2F1-E1E9-AB4E-ABEE-B1C01029D8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3"/>
            <a:ext cx="11615780" cy="5741939"/>
          </a:xfrm>
        </p:spPr>
        <p:txBody>
          <a:bodyPr/>
          <a:lstStyle/>
          <a:p>
            <a:r>
              <a:rPr lang="en-CA" dirty="0" err="1"/>
              <a:t>Prolog</a:t>
            </a:r>
            <a:r>
              <a:rPr lang="en-CA" dirty="0"/>
              <a:t> = “pure </a:t>
            </a:r>
            <a:r>
              <a:rPr lang="en-CA" dirty="0" err="1"/>
              <a:t>Prolog</a:t>
            </a:r>
            <a:r>
              <a:rPr lang="en-CA" dirty="0"/>
              <a:t>” + additions </a:t>
            </a:r>
          </a:p>
          <a:p>
            <a:r>
              <a:rPr lang="en-CA" dirty="0"/>
              <a:t>Pure </a:t>
            </a:r>
            <a:r>
              <a:rPr lang="en-CA" dirty="0" err="1"/>
              <a:t>Prolog</a:t>
            </a:r>
            <a:r>
              <a:rPr lang="en-CA" dirty="0"/>
              <a:t> ~ logic </a:t>
            </a:r>
          </a:p>
          <a:p>
            <a:r>
              <a:rPr lang="en-CA" dirty="0"/>
              <a:t>Additions make </a:t>
            </a:r>
            <a:r>
              <a:rPr lang="en-CA" dirty="0" err="1"/>
              <a:t>Prolog's</a:t>
            </a:r>
            <a:r>
              <a:rPr lang="en-CA" dirty="0"/>
              <a:t> logical basis to work in practice </a:t>
            </a:r>
          </a:p>
          <a:p>
            <a:r>
              <a:rPr lang="en-CA" dirty="0"/>
              <a:t>Additions: </a:t>
            </a:r>
          </a:p>
          <a:p>
            <a:r>
              <a:rPr lang="en-CA" dirty="0"/>
              <a:t>“Pure” (do not affect logical meaning – just notational cosmetics)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List notation, operator notation </a:t>
            </a:r>
          </a:p>
          <a:p>
            <a:r>
              <a:rPr lang="en-CA" dirty="0"/>
              <a:t>“Dirty” (do not have a logical meaning, </a:t>
            </a:r>
            <a:r>
              <a:rPr lang="en-CA" dirty="0" err="1"/>
              <a:t>eg.</a:t>
            </a:r>
            <a:r>
              <a:rPr lang="en-CA" dirty="0"/>
              <a:t> write(X))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arithmetic, I/O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894A3-1674-0145-A633-2270DCAB0E0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82E5-2B55-BB88-59C1-F5EA303F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Mode Indicators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449E-7BA1-884E-6B6F-450053DFCA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45552"/>
            <a:ext cx="14759627" cy="6725612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https://www.swi-prolog.org/pldoc/man?section=preddesc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An </a:t>
            </a:r>
            <a:r>
              <a:rPr lang="en-CA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argument mode indicator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(in the documentation) gives information about the intended direction in which information carried by a predicate argument is supposed to flow.</a:t>
            </a:r>
          </a:p>
          <a:p>
            <a:r>
              <a:rPr lang="en-CA" dirty="0">
                <a:solidFill>
                  <a:srgbClr val="000000"/>
                </a:solidFill>
                <a:latin typeface="Source Sans Pro" panose="020B0503030403020204" pitchFamily="34" charset="0"/>
              </a:rPr>
              <a:t>Example: </a:t>
            </a:r>
            <a:r>
              <a:rPr lang="en-CA" dirty="0">
                <a:solidFill>
                  <a:srgbClr val="000000"/>
                </a:solidFill>
                <a:latin typeface="Source Sans Pro" panose="020B0503030403020204" pitchFamily="34" charset="0"/>
                <a:hlinkClick r:id="rId3"/>
              </a:rPr>
              <a:t>https://www.swi-prolog.org/pldoc/doc_for?object=member/2</a:t>
            </a:r>
            <a:endParaRPr lang="en-CA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r>
              <a:rPr lang="en-CA" b="1" dirty="0">
                <a:effectLst/>
              </a:rPr>
              <a:t>member</a:t>
            </a:r>
            <a:r>
              <a:rPr lang="en-CA" dirty="0">
                <a:effectLst/>
              </a:rPr>
              <a:t>(</a:t>
            </a:r>
            <a:r>
              <a:rPr lang="en-CA" i="1" dirty="0">
                <a:effectLst/>
              </a:rPr>
              <a:t>?Elem, ?List</a:t>
            </a:r>
            <a:r>
              <a:rPr lang="en-CA" dirty="0">
                <a:effectLst/>
              </a:rPr>
              <a:t>):</a:t>
            </a:r>
          </a:p>
          <a:p>
            <a:r>
              <a:rPr lang="en-CA" dirty="0"/>
              <a:t>	True if </a:t>
            </a:r>
            <a:r>
              <a:rPr lang="en-CA" i="1" dirty="0"/>
              <a:t>Elem</a:t>
            </a:r>
            <a:r>
              <a:rPr lang="en-CA" dirty="0"/>
              <a:t> is a member of </a:t>
            </a:r>
            <a:r>
              <a:rPr lang="en-CA" i="1" dirty="0"/>
              <a:t>List</a:t>
            </a:r>
            <a:r>
              <a:rPr lang="en-CA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Think of the ?-argument as either providing input or accepting output or being used for both input and output.</a:t>
            </a:r>
          </a:p>
          <a:p>
            <a:r>
              <a:rPr lang="en-CA" dirty="0">
                <a:solidFill>
                  <a:srgbClr val="000000"/>
                </a:solidFill>
                <a:latin typeface="Source Sans Pro" panose="020B0503030403020204" pitchFamily="34" charset="0"/>
              </a:rPr>
              <a:t>?- member(X,[</a:t>
            </a:r>
            <a:r>
              <a:rPr lang="en-CA" dirty="0" err="1">
                <a:solidFill>
                  <a:srgbClr val="000000"/>
                </a:solidFill>
                <a:latin typeface="Source Sans Pro" panose="020B0503030403020204" pitchFamily="34" charset="0"/>
              </a:rPr>
              <a:t>a,b,c</a:t>
            </a:r>
            <a:r>
              <a:rPr lang="en-CA" dirty="0">
                <a:solidFill>
                  <a:srgbClr val="000000"/>
                </a:solidFill>
                <a:latin typeface="Source Sans Pro" panose="020B0503030403020204" pitchFamily="34" charset="0"/>
              </a:rPr>
              <a:t>]).     % first </a:t>
            </a:r>
            <a:r>
              <a:rPr lang="en-CA" dirty="0" err="1">
                <a:solidFill>
                  <a:srgbClr val="000000"/>
                </a:solidFill>
                <a:latin typeface="Source Sans Pro" panose="020B0503030403020204" pitchFamily="34" charset="0"/>
              </a:rPr>
              <a:t>arg</a:t>
            </a:r>
            <a:r>
              <a:rPr lang="en-CA" dirty="0">
                <a:solidFill>
                  <a:srgbClr val="000000"/>
                </a:solidFill>
                <a:latin typeface="Source Sans Pro" panose="020B0503030403020204" pitchFamily="34" charset="0"/>
              </a:rPr>
              <a:t> is output, second </a:t>
            </a:r>
            <a:r>
              <a:rPr lang="en-CA" dirty="0" err="1">
                <a:solidFill>
                  <a:srgbClr val="000000"/>
                </a:solidFill>
                <a:latin typeface="Source Sans Pro" panose="020B0503030403020204" pitchFamily="34" charset="0"/>
              </a:rPr>
              <a:t>arg</a:t>
            </a:r>
            <a:r>
              <a:rPr lang="en-CA" dirty="0">
                <a:solidFill>
                  <a:srgbClr val="000000"/>
                </a:solidFill>
                <a:latin typeface="Source Sans Pro" panose="020B0503030403020204" pitchFamily="34" charset="0"/>
              </a:rPr>
              <a:t> is input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37A5D-C106-5799-0EFA-4E0A4CB2D6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7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A324-1912-0EB6-63A1-B67A76A8D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Directives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C2DDF-C613-4D5F-5B1D-79CBE547E0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37855"/>
            <a:ext cx="15313809" cy="6733309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https://www.swi-prolog.org/pldoc/man?section=declare</a:t>
            </a:r>
            <a:endParaRPr lang="en-US" dirty="0"/>
          </a:p>
          <a:p>
            <a:r>
              <a:rPr lang="en-US" dirty="0">
                <a:hlinkClick r:id="rId3"/>
              </a:rPr>
              <a:t>https://www.swi-prolog.org/pldoc/doc_for?object=(dynamic)/1</a:t>
            </a: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Informs the interpreter that the definition of the predicate(s) may change during execution (using </a:t>
            </a:r>
            <a:r>
              <a:rPr lang="en-CA" b="0" i="0" dirty="0">
                <a:effectLst/>
                <a:latin typeface="Source Sans Pro" panose="020B0503030403020204" pitchFamily="34" charset="0"/>
                <a:hlinkClick r:id="rId4"/>
              </a:rPr>
              <a:t>assert/1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and/or </a:t>
            </a:r>
            <a:r>
              <a:rPr lang="en-CA" b="0" i="0" dirty="0">
                <a:effectLst/>
                <a:latin typeface="Source Sans Pro" panose="020B0503030403020204" pitchFamily="34" charset="0"/>
                <a:hlinkClick r:id="rId5"/>
              </a:rPr>
              <a:t>retract/1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).</a:t>
            </a:r>
            <a:endParaRPr lang="en-US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hlinkClick r:id="rId6"/>
              </a:rPr>
              <a:t>https://www.swi-prolog.org/pldoc/doc_for?object=(multifile)/1</a:t>
            </a:r>
            <a:endParaRPr lang="en-US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Informs the system that the specified predicate(s) may be defined over more than one file. This stops </a:t>
            </a:r>
            <a:r>
              <a:rPr lang="en-CA" b="0" i="0" dirty="0">
                <a:effectLst/>
                <a:latin typeface="Source Sans Pro" panose="020B0503030403020204" pitchFamily="34" charset="0"/>
                <a:hlinkClick r:id="rId7"/>
              </a:rPr>
              <a:t>consult/1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from redefining a predicate when a new definition is found.</a:t>
            </a:r>
            <a:endParaRPr lang="en-CA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hlinkClick r:id="rId8"/>
              </a:rPr>
              <a:t>https://www.swi-prolog.org/pldoc/doc_for?object=(discontiguous)/1</a:t>
            </a:r>
            <a:endParaRPr lang="en-CA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</a:endParaRP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Informs the system that the clauses of the specified predicate(s) might not be together in the source file. See also </a:t>
            </a:r>
            <a:r>
              <a:rPr lang="en-CA" b="0" i="0" dirty="0">
                <a:effectLst/>
                <a:latin typeface="Source Sans Pro" panose="020B0503030403020204" pitchFamily="34" charset="0"/>
                <a:hlinkClick r:id="rId9"/>
              </a:rPr>
              <a:t>style_check/1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n-US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E21FE-9D3A-81AE-3AB5-4ECCA72077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04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23A4-7D25-2849-81F2-33955D14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A6410-2238-C840-AA84-079042513A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Examples of lists: </a:t>
            </a:r>
          </a:p>
          <a:p>
            <a:r>
              <a:rPr lang="en-CA" dirty="0"/>
              <a:t> [ a, b, c, d]</a:t>
            </a:r>
            <a:br>
              <a:rPr lang="en-CA" dirty="0"/>
            </a:br>
            <a:r>
              <a:rPr lang="en-CA" dirty="0"/>
              <a:t> []</a:t>
            </a:r>
            <a:br>
              <a:rPr lang="en-CA" dirty="0"/>
            </a:br>
            <a:r>
              <a:rPr lang="en-CA" dirty="0"/>
              <a:t> [ </a:t>
            </a:r>
            <a:r>
              <a:rPr lang="en-CA" dirty="0" err="1"/>
              <a:t>ann</a:t>
            </a:r>
            <a:r>
              <a:rPr lang="en-CA" dirty="0"/>
              <a:t>, tennis, tom, running]</a:t>
            </a:r>
            <a:br>
              <a:rPr lang="en-CA" dirty="0"/>
            </a:br>
            <a:r>
              <a:rPr lang="en-CA" dirty="0"/>
              <a:t> [ link(</a:t>
            </a:r>
            <a:r>
              <a:rPr lang="en-CA" dirty="0" err="1"/>
              <a:t>a,b</a:t>
            </a:r>
            <a:r>
              <a:rPr lang="en-CA" dirty="0"/>
              <a:t>), link(</a:t>
            </a:r>
            <a:r>
              <a:rPr lang="en-CA" dirty="0" err="1"/>
              <a:t>a,c</a:t>
            </a:r>
            <a:r>
              <a:rPr lang="en-CA" dirty="0"/>
              <a:t>), link(</a:t>
            </a:r>
            <a:r>
              <a:rPr lang="en-CA" dirty="0" err="1"/>
              <a:t>b,d</a:t>
            </a:r>
            <a:r>
              <a:rPr lang="en-CA" dirty="0"/>
              <a:t>)]</a:t>
            </a:r>
          </a:p>
          <a:p>
            <a:r>
              <a:rPr lang="en-CA" dirty="0"/>
              <a:t> [ a, [</a:t>
            </a:r>
            <a:r>
              <a:rPr lang="en-CA" dirty="0" err="1"/>
              <a:t>b,c</a:t>
            </a:r>
            <a:r>
              <a:rPr lang="en-CA" dirty="0"/>
              <a:t>], d, [ ], [</a:t>
            </a:r>
            <a:r>
              <a:rPr lang="en-CA" dirty="0" err="1"/>
              <a:t>a,a,a</a:t>
            </a:r>
            <a:r>
              <a:rPr lang="en-CA" dirty="0"/>
              <a:t>], f(X,Y) ]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93FEB-A175-4A44-96BA-9153C0B271F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99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4DCD-D871-D646-807C-9BA3998F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and Tail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EFB9C-0272-674E-B8EB-E701A49699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939636"/>
            <a:ext cx="11615780" cy="55956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L = [ a, b, c, d]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 a is head of L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[ b, c, d] is tail of 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More notation, vertical bar: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 = [ Head | Tail]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 = [ a, b, c] = [ a | [ b, c]] = [ a, b | [ c]] = [ a, b, c | [ ] ]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82C7B-8B58-4646-9795-C3528456564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80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EA80-368F-F448-8174-199F1880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notation is Syntactic Sugar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EBC69-905A-3141-943A-30079AD1A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List notation: [ Head | Tail]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Equivalent to standard </a:t>
            </a:r>
            <a:r>
              <a:rPr lang="en-CA" dirty="0" err="1"/>
              <a:t>Prolog</a:t>
            </a:r>
            <a:r>
              <a:rPr lang="en-CA" dirty="0"/>
              <a:t> notation: '[|]'( Head, Tail)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Note: '[|]' is a functor (with –traditional option to </a:t>
            </a:r>
            <a:r>
              <a:rPr lang="en-CA" dirty="0" err="1"/>
              <a:t>prolog</a:t>
            </a:r>
            <a:r>
              <a:rPr lang="en-CA" dirty="0"/>
              <a:t> interpreter, this functor is ".")</a:t>
            </a:r>
          </a:p>
          <a:p>
            <a:r>
              <a:rPr lang="en-CA" dirty="0"/>
              <a:t>Equivalent terms: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[ a, b, c] = '[|]'( a, '[|]'(b, '[|]'( c, [ ]))) </a:t>
            </a:r>
          </a:p>
          <a:p>
            <a:r>
              <a:rPr lang="en-CA" dirty="0"/>
              <a:t>The latter expression can be, as usual, shown as a tree (first '[|]' is root of tree)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119E7-F0B0-B243-B443-9936FCFEF8D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55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4DF6-9C9D-8C44-921F-B85BB1E5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Membership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2E602-E4B5-6B4B-BDE1-3D8A5E25A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% member( X, L) means that X is member of List L </a:t>
            </a:r>
          </a:p>
          <a:p>
            <a:r>
              <a:rPr lang="en-CA" dirty="0"/>
              <a:t>member( X, [ X | _ ]).        % X appears as head of list </a:t>
            </a:r>
          </a:p>
          <a:p>
            <a:r>
              <a:rPr lang="en-CA" dirty="0"/>
              <a:t>member( X, [ _ | L]) :-</a:t>
            </a:r>
            <a:br>
              <a:rPr lang="en-CA" dirty="0"/>
            </a:br>
            <a:r>
              <a:rPr lang="en-CA" dirty="0"/>
              <a:t>    member( X, L).              % X in tail of list </a:t>
            </a:r>
          </a:p>
          <a:p>
            <a:endParaRPr lang="en-CA" dirty="0"/>
          </a:p>
          <a:p>
            <a:r>
              <a:rPr lang="en-CA" dirty="0"/>
              <a:t>TRY VARIOUS USES OF member/2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89D46-B6BD-4640-8D8A-23B8307635C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68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C977-0395-B241-96A0-FCE31465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Concatenation of Lists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11FE5-B23A-E346-A178-579C6B9886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3595845" cy="5130800"/>
          </a:xfrm>
        </p:spPr>
        <p:txBody>
          <a:bodyPr/>
          <a:lstStyle/>
          <a:p>
            <a:r>
              <a:rPr lang="en-CA" dirty="0"/>
              <a:t>% conc( L1, L2, L3) means that L3 is concatenation of L1 and L2 </a:t>
            </a:r>
          </a:p>
          <a:p>
            <a:r>
              <a:rPr lang="en-CA" dirty="0"/>
              <a:t>conc( [ ], L, L).                        % Base case </a:t>
            </a:r>
          </a:p>
          <a:p>
            <a:r>
              <a:rPr lang="en-CA" dirty="0"/>
              <a:t>conc( [X | L1], L2, [X | L3]) :-   % Recursive case</a:t>
            </a:r>
          </a:p>
          <a:p>
            <a:r>
              <a:rPr lang="en-CA" dirty="0"/>
              <a:t>      conc( L1, L2, L3). </a:t>
            </a:r>
          </a:p>
          <a:p>
            <a:endParaRPr lang="en-CA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CD62B-33E5-BD4D-B7AF-98F2DDA6B25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51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DBC0-2F01-2A4F-8574-3B9663FBA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uses of conc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B8565-ACB1-7846-8F71-58D2E94D19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?- conc( [</a:t>
            </a:r>
            <a:r>
              <a:rPr lang="en-CA" dirty="0" err="1"/>
              <a:t>a,b,c</a:t>
            </a:r>
            <a:r>
              <a:rPr lang="en-CA" dirty="0"/>
              <a:t>], [1,2,3], L).</a:t>
            </a:r>
          </a:p>
          <a:p>
            <a:r>
              <a:rPr lang="en-CA" dirty="0"/>
              <a:t> L = [a,b,c,1,2,3] </a:t>
            </a:r>
          </a:p>
          <a:p>
            <a:r>
              <a:rPr lang="en-CA" dirty="0"/>
              <a:t>?- conc( [a,[</a:t>
            </a:r>
            <a:r>
              <a:rPr lang="en-CA" dirty="0" err="1"/>
              <a:t>b,c</a:t>
            </a:r>
            <a:r>
              <a:rPr lang="en-CA" dirty="0"/>
              <a:t>],d], [a,[ ],b], L).</a:t>
            </a:r>
          </a:p>
          <a:p>
            <a:r>
              <a:rPr lang="en-CA" dirty="0"/>
              <a:t> L = [a, [</a:t>
            </a:r>
            <a:r>
              <a:rPr lang="en-CA" dirty="0" err="1"/>
              <a:t>b,c</a:t>
            </a:r>
            <a:r>
              <a:rPr lang="en-CA" dirty="0"/>
              <a:t>], d, a, [ ], b] </a:t>
            </a:r>
          </a:p>
          <a:p>
            <a:r>
              <a:rPr lang="en-CA" dirty="0"/>
              <a:t>?- conc( L1, L2, [</a:t>
            </a:r>
            <a:r>
              <a:rPr lang="en-CA" dirty="0" err="1"/>
              <a:t>a,b,c</a:t>
            </a:r>
            <a:r>
              <a:rPr lang="en-CA" dirty="0"/>
              <a:t>] ).</a:t>
            </a:r>
          </a:p>
          <a:p>
            <a:r>
              <a:rPr lang="en-CA" dirty="0"/>
              <a:t> ....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286A5-57EF-5842-999F-BD917662DE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852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5C73-C887-914F-A7FB-3EC69CB1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Lists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E736E-F220-D347-986A-BE23D32542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Try this: </a:t>
            </a:r>
          </a:p>
          <a:p>
            <a:r>
              <a:rPr lang="en-CA" dirty="0"/>
              <a:t>?- conc( L, _, _).</a:t>
            </a:r>
          </a:p>
          <a:p>
            <a:r>
              <a:rPr lang="en-CA" dirty="0"/>
              <a:t> ....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E97C7-858E-2044-8124-8C0F97D3A7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26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2371-58F7-4841-B896-016BB6B2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conc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EAF16-1708-9146-B545-A61131ED21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Months before and after May?</a:t>
            </a:r>
            <a:endParaRPr lang="en-CA" dirty="0"/>
          </a:p>
          <a:p>
            <a:endParaRPr lang="en-CA" dirty="0"/>
          </a:p>
          <a:p>
            <a:r>
              <a:rPr lang="en-CA" dirty="0"/>
              <a:t>?- Months = [</a:t>
            </a:r>
            <a:r>
              <a:rPr lang="en-CA" dirty="0" err="1"/>
              <a:t>jan,feb,mar,apr,may,jun,jul,aug,sep,oct,nov,dec</a:t>
            </a:r>
            <a:r>
              <a:rPr lang="en-CA" dirty="0"/>
              <a:t>] ,</a:t>
            </a:r>
          </a:p>
          <a:p>
            <a:r>
              <a:rPr lang="en-CA" dirty="0"/>
              <a:t>     conc( Before, [may | After], Months). </a:t>
            </a:r>
          </a:p>
          <a:p>
            <a:r>
              <a:rPr lang="en-CA" dirty="0"/>
              <a:t>…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F415F-981B-6C44-A5A0-F9667B5BE6F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EAA7-9B25-2646-A4FC-75A5CDE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 of conc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D86B6-CBFE-3248-A65D-F4179D5A04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sz="2800" dirty="0"/>
              <a:t>Delete everything that follows three consecutive occurrences of 'z'</a:t>
            </a:r>
          </a:p>
          <a:p>
            <a:endParaRPr lang="en-CA" dirty="0"/>
          </a:p>
          <a:p>
            <a:r>
              <a:rPr lang="en-CA" dirty="0"/>
              <a:t>?- L1 = [</a:t>
            </a:r>
            <a:r>
              <a:rPr lang="en-CA" dirty="0" err="1"/>
              <a:t>a,b,z,z,c,z,z,z,d,e</a:t>
            </a:r>
            <a:r>
              <a:rPr lang="en-CA" dirty="0"/>
              <a:t>],     % Given list</a:t>
            </a:r>
            <a:br>
              <a:rPr lang="en-CA" dirty="0"/>
            </a:br>
            <a:r>
              <a:rPr lang="en-CA" dirty="0"/>
              <a:t>conc( L2, [</a:t>
            </a:r>
            <a:r>
              <a:rPr lang="en-CA" dirty="0" err="1"/>
              <a:t>z,z,z</a:t>
            </a:r>
            <a:r>
              <a:rPr lang="en-CA" dirty="0"/>
              <a:t> | _ ], L1).         % L2 is L1 up to 3 </a:t>
            </a:r>
            <a:r>
              <a:rPr lang="en-CA" dirty="0" err="1"/>
              <a:t>z‟s</a:t>
            </a:r>
            <a:r>
              <a:rPr lang="en-CA" dirty="0"/>
              <a:t>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CF389-741B-A844-A361-F3418C3636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68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763D-3C1F-EC4F-B471-13208176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membership with conc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100B4-B684-B14A-8621-09F2EACEF2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% member2( X, L) means that X is member of list L </a:t>
            </a:r>
          </a:p>
          <a:p>
            <a:r>
              <a:rPr lang="en-CA" dirty="0"/>
              <a:t>member2( X, L) :- </a:t>
            </a:r>
          </a:p>
          <a:p>
            <a:r>
              <a:rPr lang="en-CA" dirty="0"/>
              <a:t>    conc( _, [X | _ ], L).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0D868-E61B-4240-9AF1-4A65080818F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469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B5F97-792A-1046-9CBA-B65575D0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Deletion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BE4AE-BC9C-714A-8E84-FEB91AB492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3734391" cy="5130800"/>
          </a:xfrm>
        </p:spPr>
        <p:txBody>
          <a:bodyPr/>
          <a:lstStyle/>
          <a:p>
            <a:r>
              <a:rPr lang="en-CA" dirty="0"/>
              <a:t>% del( X, L, </a:t>
            </a:r>
            <a:r>
              <a:rPr lang="en-CA" dirty="0" err="1"/>
              <a:t>NewL</a:t>
            </a:r>
            <a:r>
              <a:rPr lang="en-CA" dirty="0"/>
              <a:t>) means that </a:t>
            </a:r>
            <a:r>
              <a:rPr lang="en-CA" dirty="0" err="1"/>
              <a:t>NewL</a:t>
            </a:r>
            <a:r>
              <a:rPr lang="en-CA" dirty="0"/>
              <a:t> is the List L with first X removed</a:t>
            </a:r>
          </a:p>
          <a:p>
            <a:r>
              <a:rPr lang="en-CA" dirty="0"/>
              <a:t>del( X, [X | Tail], Tail). </a:t>
            </a:r>
          </a:p>
          <a:p>
            <a:r>
              <a:rPr lang="en-CA" dirty="0"/>
              <a:t>del( X, [Y | Tail], [Y | Tail1] ) :-</a:t>
            </a:r>
          </a:p>
          <a:p>
            <a:r>
              <a:rPr lang="en-CA" dirty="0"/>
              <a:t>     del( X, Tail, Tail1). </a:t>
            </a:r>
          </a:p>
          <a:p>
            <a:endParaRPr lang="en-CA" dirty="0"/>
          </a:p>
          <a:p>
            <a:r>
              <a:rPr lang="en-CA" dirty="0"/>
              <a:t>?- del( X, [ a, b, c, d], L1).</a:t>
            </a:r>
          </a:p>
          <a:p>
            <a:r>
              <a:rPr lang="en-CA" dirty="0"/>
              <a:t>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731236-0D8B-3B47-9F6D-4BE3AD70D15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130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C9D8-2EAC-C046-B693-EE8ABB64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insertion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D5172-8D44-524A-9C3D-630F94A71E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122318" cy="5130800"/>
          </a:xfrm>
        </p:spPr>
        <p:txBody>
          <a:bodyPr/>
          <a:lstStyle/>
          <a:p>
            <a:r>
              <a:rPr lang="en-CA" dirty="0"/>
              <a:t>% insert( X, L, </a:t>
            </a:r>
            <a:r>
              <a:rPr lang="en-CA" dirty="0" err="1"/>
              <a:t>NewL</a:t>
            </a:r>
            <a:r>
              <a:rPr lang="en-CA" dirty="0"/>
              <a:t>) means that </a:t>
            </a:r>
            <a:r>
              <a:rPr lang="en-CA" dirty="0" err="1"/>
              <a:t>NewL</a:t>
            </a:r>
            <a:r>
              <a:rPr lang="en-CA" dirty="0"/>
              <a:t> is List L with X inserted anywhere</a:t>
            </a:r>
          </a:p>
          <a:p>
            <a:r>
              <a:rPr lang="en-CA" dirty="0"/>
              <a:t>%  insert X into L “non-deterministically” at any position, </a:t>
            </a:r>
          </a:p>
          <a:p>
            <a:r>
              <a:rPr lang="en-CA" dirty="0"/>
              <a:t>%  resulting in </a:t>
            </a:r>
            <a:r>
              <a:rPr lang="en-CA" dirty="0" err="1"/>
              <a:t>NewL</a:t>
            </a:r>
            <a:r>
              <a:rPr lang="en-CA" dirty="0"/>
              <a:t> </a:t>
            </a:r>
          </a:p>
          <a:p>
            <a:r>
              <a:rPr lang="en-CA" dirty="0"/>
              <a:t>insert( X, L, [X | L]).                  % Insert X as head </a:t>
            </a:r>
          </a:p>
          <a:p>
            <a:r>
              <a:rPr lang="en-CA" dirty="0"/>
              <a:t>insert( X, [Y | L], [Y | </a:t>
            </a:r>
            <a:r>
              <a:rPr lang="en-CA" dirty="0" err="1"/>
              <a:t>NewL</a:t>
            </a:r>
            <a:r>
              <a:rPr lang="en-CA" dirty="0"/>
              <a:t>]) :-</a:t>
            </a:r>
            <a:br>
              <a:rPr lang="en-CA" dirty="0"/>
            </a:br>
            <a:r>
              <a:rPr lang="en-CA" dirty="0"/>
              <a:t>       insert( X, L, </a:t>
            </a:r>
            <a:r>
              <a:rPr lang="en-CA" dirty="0" err="1"/>
              <a:t>NewL</a:t>
            </a:r>
            <a:r>
              <a:rPr lang="en-CA" dirty="0"/>
              <a:t>).            % Insert X into tail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86645-F477-EE42-9325-EF4A0B01A4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781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7CEB-B6A3-F14C-B4B0-B15469BD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as opposite of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71817-4D5E-C74E-87CD-4E782B2866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537855"/>
            <a:ext cx="15092137" cy="6317672"/>
          </a:xfrm>
        </p:spPr>
        <p:txBody>
          <a:bodyPr/>
          <a:lstStyle/>
          <a:p>
            <a:r>
              <a:rPr lang="en-CA" dirty="0"/>
              <a:t>?- del( apple, L, [1,2,3] ). % What is L?</a:t>
            </a:r>
          </a:p>
          <a:p>
            <a:r>
              <a:rPr lang="en-CA" dirty="0"/>
              <a:t> ... </a:t>
            </a:r>
          </a:p>
          <a:p>
            <a:r>
              <a:rPr lang="en-CA" dirty="0"/>
              <a:t>% </a:t>
            </a:r>
            <a:r>
              <a:rPr lang="en-CA" sz="2800" dirty="0"/>
              <a:t>insert( X, L, </a:t>
            </a:r>
            <a:r>
              <a:rPr lang="en-CA" sz="2800" dirty="0" err="1"/>
              <a:t>LongerL</a:t>
            </a:r>
            <a:r>
              <a:rPr lang="en-CA" sz="2800" dirty="0"/>
              <a:t>) means that </a:t>
            </a:r>
            <a:r>
              <a:rPr lang="en-CA" sz="2800" dirty="0" err="1"/>
              <a:t>LongerL</a:t>
            </a:r>
            <a:r>
              <a:rPr lang="en-CA" sz="2800" dirty="0"/>
              <a:t> is List L with X inserted at any position</a:t>
            </a:r>
          </a:p>
          <a:p>
            <a:r>
              <a:rPr lang="en-CA" dirty="0"/>
              <a:t>insert( X, List, </a:t>
            </a:r>
            <a:r>
              <a:rPr lang="en-CA" dirty="0" err="1"/>
              <a:t>LongerList</a:t>
            </a:r>
            <a:r>
              <a:rPr lang="en-CA" dirty="0"/>
              <a:t>) :- </a:t>
            </a:r>
          </a:p>
          <a:p>
            <a:r>
              <a:rPr lang="en-CA" dirty="0"/>
              <a:t>    del( X, </a:t>
            </a:r>
            <a:r>
              <a:rPr lang="en-CA" dirty="0" err="1"/>
              <a:t>LongerList</a:t>
            </a:r>
            <a:r>
              <a:rPr lang="en-CA" dirty="0"/>
              <a:t>, List). </a:t>
            </a:r>
          </a:p>
          <a:p>
            <a:r>
              <a:rPr lang="en-CA" dirty="0"/>
              <a:t>% member3( X, L) means that X is an element of List L, alternative implementation </a:t>
            </a:r>
          </a:p>
          <a:p>
            <a:r>
              <a:rPr lang="en-CA" dirty="0"/>
              <a:t>member3( X, L) :-</a:t>
            </a:r>
            <a:br>
              <a:rPr lang="en-CA" dirty="0"/>
            </a:br>
            <a:r>
              <a:rPr lang="en-CA" dirty="0"/>
              <a:t>    del( X, L, _).                  % X can be deleted from L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78DDD-02F1-A746-942A-430A2DEE065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827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7660-19D7-0D49-8687-B63FB1F3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Sublist</a:t>
            </a:r>
            <a:r>
              <a:rPr lang="en-US" dirty="0"/>
              <a:t> of a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4F7C9-C52A-FA40-A125-2D3201F89E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593273"/>
            <a:ext cx="14828900" cy="6511635"/>
          </a:xfrm>
        </p:spPr>
        <p:txBody>
          <a:bodyPr/>
          <a:lstStyle/>
          <a:p>
            <a:r>
              <a:rPr lang="en-CA" dirty="0"/>
              <a:t>% </a:t>
            </a:r>
            <a:r>
              <a:rPr lang="en-CA" dirty="0" err="1"/>
              <a:t>sublist</a:t>
            </a:r>
            <a:r>
              <a:rPr lang="en-CA" dirty="0"/>
              <a:t>( List, </a:t>
            </a:r>
            <a:r>
              <a:rPr lang="en-CA" dirty="0" err="1"/>
              <a:t>Sublist</a:t>
            </a:r>
            <a:r>
              <a:rPr lang="en-CA" dirty="0"/>
              <a:t>) means that  </a:t>
            </a:r>
            <a:r>
              <a:rPr lang="en-CA" dirty="0" err="1"/>
              <a:t>Sublist</a:t>
            </a:r>
            <a:r>
              <a:rPr lang="en-CA" dirty="0"/>
              <a:t> appears as a </a:t>
            </a:r>
            <a:r>
              <a:rPr lang="en-CA" dirty="0" err="1"/>
              <a:t>sublist</a:t>
            </a:r>
            <a:r>
              <a:rPr lang="en-CA" dirty="0"/>
              <a:t> in List</a:t>
            </a:r>
            <a:br>
              <a:rPr lang="en-CA" dirty="0"/>
            </a:br>
            <a:r>
              <a:rPr lang="en-CA" dirty="0"/>
              <a:t>% It's easy!</a:t>
            </a:r>
            <a:br>
              <a:rPr lang="en-CA" dirty="0"/>
            </a:br>
            <a:r>
              <a:rPr lang="en-CA" dirty="0"/>
              <a:t>% Just draw List and </a:t>
            </a:r>
            <a:r>
              <a:rPr lang="en-CA" dirty="0" err="1"/>
              <a:t>Sublist</a:t>
            </a:r>
            <a:r>
              <a:rPr lang="en-CA" dirty="0"/>
              <a:t> and rewrite the drawing into </a:t>
            </a:r>
            <a:r>
              <a:rPr lang="en-CA" dirty="0" err="1"/>
              <a:t>Prolog</a:t>
            </a:r>
            <a:r>
              <a:rPr lang="en-CA" dirty="0"/>
              <a:t> </a:t>
            </a:r>
          </a:p>
          <a:p>
            <a:pPr algn="ctr"/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 err="1"/>
              <a:t>sublist</a:t>
            </a:r>
            <a:r>
              <a:rPr lang="en-CA" dirty="0"/>
              <a:t>( S, L) :- </a:t>
            </a:r>
          </a:p>
          <a:p>
            <a:r>
              <a:rPr lang="en-CA" dirty="0"/>
              <a:t>    conc( L1, L2, L),</a:t>
            </a:r>
          </a:p>
          <a:p>
            <a:r>
              <a:rPr lang="en-CA" dirty="0"/>
              <a:t>    conc( S, L3, L2).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F02BA-81E1-B749-BA7F-EC4DD88E2B4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E5DEFA7-8E05-F04E-BC54-3DA4B2085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863089"/>
              </p:ext>
            </p:extLst>
          </p:nvPr>
        </p:nvGraphicFramePr>
        <p:xfrm>
          <a:off x="1476544" y="4571999"/>
          <a:ext cx="8812251" cy="581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417">
                  <a:extLst>
                    <a:ext uri="{9D8B030D-6E8A-4147-A177-3AD203B41FA5}">
                      <a16:colId xmlns:a16="http://schemas.microsoft.com/office/drawing/2014/main" val="1429203641"/>
                    </a:ext>
                  </a:extLst>
                </a:gridCol>
                <a:gridCol w="2937417">
                  <a:extLst>
                    <a:ext uri="{9D8B030D-6E8A-4147-A177-3AD203B41FA5}">
                      <a16:colId xmlns:a16="http://schemas.microsoft.com/office/drawing/2014/main" val="704442972"/>
                    </a:ext>
                  </a:extLst>
                </a:gridCol>
                <a:gridCol w="2937417">
                  <a:extLst>
                    <a:ext uri="{9D8B030D-6E8A-4147-A177-3AD203B41FA5}">
                      <a16:colId xmlns:a16="http://schemas.microsoft.com/office/drawing/2014/main" val="3569948477"/>
                    </a:ext>
                  </a:extLst>
                </a:gridCol>
              </a:tblGrid>
              <a:tr h="581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768902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1BA10A-CB31-FF43-BAA2-CA4D8F9AFEFA}"/>
              </a:ext>
            </a:extLst>
          </p:cNvPr>
          <p:cNvCxnSpPr/>
          <p:nvPr/>
        </p:nvCxnSpPr>
        <p:spPr>
          <a:xfrm>
            <a:off x="1476544" y="4308764"/>
            <a:ext cx="88122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F6C2B3-98D3-6C44-B54D-661EEF80AF7E}"/>
              </a:ext>
            </a:extLst>
          </p:cNvPr>
          <p:cNvCxnSpPr>
            <a:cxnSpLocks/>
          </p:cNvCxnSpPr>
          <p:nvPr/>
        </p:nvCxnSpPr>
        <p:spPr>
          <a:xfrm>
            <a:off x="4493011" y="5430982"/>
            <a:ext cx="57957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9A529AD-C1ED-EB4B-AB9C-B2CDB9EC22E4}"/>
              </a:ext>
            </a:extLst>
          </p:cNvPr>
          <p:cNvSpPr txBox="1"/>
          <p:nvPr/>
        </p:nvSpPr>
        <p:spPr>
          <a:xfrm>
            <a:off x="5716414" y="3784319"/>
            <a:ext cx="332509" cy="581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EB0B8-00DC-7344-AA90-FFF3E058AA39}"/>
              </a:ext>
            </a:extLst>
          </p:cNvPr>
          <p:cNvSpPr txBox="1"/>
          <p:nvPr/>
        </p:nvSpPr>
        <p:spPr>
          <a:xfrm>
            <a:off x="7190509" y="5636772"/>
            <a:ext cx="651163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1095149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Prolog Lists you recall by answering the following questions!</a:t>
            </a:r>
          </a:p>
          <a:p>
            <a:r>
              <a:rPr lang="en-US" dirty="0"/>
              <a:t>What is the difference </a:t>
            </a:r>
            <a:r>
              <a:rPr lang="en-US"/>
              <a:t>between '[|]'(</a:t>
            </a:r>
            <a:r>
              <a:rPr lang="en-US" dirty="0"/>
              <a:t>a,[]) and [a]?</a:t>
            </a:r>
          </a:p>
          <a:p>
            <a:r>
              <a:rPr lang="en-US" dirty="0"/>
              <a:t>What is the difference between [a] and [a|[ ]]?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3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E2198-9A3D-CB42-873B-6E4D7726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43927-A1BB-FF45-8048-BE302C6958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42655"/>
            <a:ext cx="13512718" cy="6345381"/>
          </a:xfrm>
        </p:spPr>
        <p:txBody>
          <a:bodyPr/>
          <a:lstStyle/>
          <a:p>
            <a:r>
              <a:rPr lang="en-CA" dirty="0"/>
              <a:t>Operator notation is just a cosmetic, surface notational improvement </a:t>
            </a:r>
          </a:p>
          <a:p>
            <a:r>
              <a:rPr lang="en-CA" dirty="0"/>
              <a:t>Equivalent notations for arithmetic expressions: </a:t>
            </a:r>
          </a:p>
          <a:p>
            <a:r>
              <a:rPr lang="en-CA" dirty="0"/>
              <a:t>+( *(2,a), *(</a:t>
            </a:r>
            <a:r>
              <a:rPr lang="en-CA" dirty="0" err="1"/>
              <a:t>b,c</a:t>
            </a:r>
            <a:r>
              <a:rPr lang="en-CA" dirty="0"/>
              <a:t>) ) = 2*a + b*c </a:t>
            </a:r>
          </a:p>
          <a:p>
            <a:r>
              <a:rPr lang="en-CA" dirty="0"/>
              <a:t>+, * are infix operators built into </a:t>
            </a:r>
            <a:r>
              <a:rPr lang="en-CA" dirty="0" err="1"/>
              <a:t>Prolog</a:t>
            </a:r>
            <a:endParaRPr lang="en-CA" dirty="0"/>
          </a:p>
          <a:p>
            <a:br>
              <a:rPr lang="en-CA" dirty="0"/>
            </a:br>
            <a:r>
              <a:rPr lang="en-CA" dirty="0"/>
              <a:t>Higher precedence </a:t>
            </a:r>
            <a:r>
              <a:rPr lang="en-CA" b="1" dirty="0"/>
              <a:t>in </a:t>
            </a:r>
            <a:r>
              <a:rPr lang="en-CA" b="1" dirty="0" err="1"/>
              <a:t>Prolog</a:t>
            </a:r>
            <a:r>
              <a:rPr lang="en-CA" dirty="0"/>
              <a:t> means the outermost functor, so + has higher precedence than *</a:t>
            </a:r>
          </a:p>
          <a:p>
            <a:r>
              <a:rPr lang="en-CA" dirty="0"/>
              <a:t>Operators with </a:t>
            </a:r>
            <a:r>
              <a:rPr lang="en-CA" b="1" dirty="0"/>
              <a:t>lower </a:t>
            </a:r>
            <a:r>
              <a:rPr lang="en-CA" b="1" dirty="0" err="1"/>
              <a:t>Prolog</a:t>
            </a:r>
            <a:r>
              <a:rPr lang="en-CA" b="1" dirty="0"/>
              <a:t> precedence bind tighter</a:t>
            </a:r>
            <a:r>
              <a:rPr lang="en-CA" dirty="0"/>
              <a:t> as a result of this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0D7EC-C4FE-6944-8032-5375CAEDB5A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31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15DB-F6E7-7747-AE66-8B31C50C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2570610" cy="840301"/>
          </a:xfrm>
        </p:spPr>
        <p:txBody>
          <a:bodyPr/>
          <a:lstStyle/>
          <a:p>
            <a:r>
              <a:rPr lang="en-US" dirty="0"/>
              <a:t>User-defined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D6203-DF27-DF41-A7C3-F352FCF313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3"/>
            <a:ext cx="13665118" cy="5547975"/>
          </a:xfrm>
        </p:spPr>
        <p:txBody>
          <a:bodyPr/>
          <a:lstStyle/>
          <a:p>
            <a:r>
              <a:rPr lang="en-CA" dirty="0">
                <a:hlinkClick r:id="rId2"/>
              </a:rPr>
              <a:t>https://</a:t>
            </a:r>
            <a:r>
              <a:rPr lang="en-CA" dirty="0" err="1">
                <a:hlinkClick r:id="rId2"/>
              </a:rPr>
              <a:t>www.swi-prolog.org</a:t>
            </a:r>
            <a:r>
              <a:rPr lang="en-CA" dirty="0">
                <a:hlinkClick r:id="rId2"/>
              </a:rPr>
              <a:t>/</a:t>
            </a:r>
            <a:r>
              <a:rPr lang="en-CA" dirty="0" err="1">
                <a:hlinkClick r:id="rId2"/>
              </a:rPr>
              <a:t>pldoc</a:t>
            </a:r>
            <a:r>
              <a:rPr lang="en-CA" dirty="0">
                <a:hlinkClick r:id="rId2"/>
              </a:rPr>
              <a:t>/</a:t>
            </a:r>
            <a:r>
              <a:rPr lang="en-CA" dirty="0" err="1">
                <a:hlinkClick r:id="rId2"/>
              </a:rPr>
              <a:t>man?section</a:t>
            </a:r>
            <a:r>
              <a:rPr lang="en-CA" dirty="0">
                <a:hlinkClick r:id="rId2"/>
              </a:rPr>
              <a:t>=operators</a:t>
            </a:r>
            <a:endParaRPr lang="en-CA" dirty="0"/>
          </a:p>
          <a:p>
            <a:r>
              <a:rPr lang="en-CA" dirty="0"/>
              <a:t>has( peter, information).</a:t>
            </a:r>
          </a:p>
          <a:p>
            <a:r>
              <a:rPr lang="en-CA" dirty="0"/>
              <a:t>supports( floor, table). </a:t>
            </a:r>
          </a:p>
          <a:p>
            <a:r>
              <a:rPr lang="en-CA" dirty="0"/>
              <a:t>This can be rewritten with infix operators as: </a:t>
            </a:r>
          </a:p>
          <a:p>
            <a:pPr marL="781583" lvl="1" indent="0">
              <a:buNone/>
            </a:pPr>
            <a:r>
              <a:rPr lang="en-CA" dirty="0"/>
              <a:t>:- op( 600, </a:t>
            </a:r>
            <a:r>
              <a:rPr lang="en-CA" dirty="0" err="1"/>
              <a:t>xfx</a:t>
            </a:r>
            <a:r>
              <a:rPr lang="en-CA" dirty="0"/>
              <a:t>, has).</a:t>
            </a:r>
            <a:br>
              <a:rPr lang="en-CA" dirty="0"/>
            </a:br>
            <a:r>
              <a:rPr lang="en-CA" dirty="0"/>
              <a:t>:- op( 600, </a:t>
            </a:r>
            <a:r>
              <a:rPr lang="en-CA" dirty="0" err="1"/>
              <a:t>xfx</a:t>
            </a:r>
            <a:r>
              <a:rPr lang="en-CA" dirty="0"/>
              <a:t>, supports). </a:t>
            </a:r>
          </a:p>
          <a:p>
            <a:r>
              <a:rPr lang="en-CA" dirty="0"/>
              <a:t>peter has information.</a:t>
            </a:r>
          </a:p>
          <a:p>
            <a:r>
              <a:rPr lang="en-CA" dirty="0"/>
              <a:t>floor supports table.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E0D98-C9B4-0048-9F99-3B919F500B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94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53BB-0BB7-2E44-9261-999AE94E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274122"/>
            <a:ext cx="9475914" cy="1335973"/>
          </a:xfrm>
        </p:spPr>
        <p:txBody>
          <a:bodyPr/>
          <a:lstStyle/>
          <a:p>
            <a:r>
              <a:rPr lang="en-US" dirty="0"/>
              <a:t>Operator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38E6D-7C1D-5548-A3BD-AFBFC69AAA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942107"/>
            <a:ext cx="14631825" cy="7259783"/>
          </a:xfrm>
        </p:spPr>
        <p:txBody>
          <a:bodyPr/>
          <a:lstStyle/>
          <a:p>
            <a:r>
              <a:rPr lang="en-CA" dirty="0"/>
              <a:t>(1) infix operators  </a:t>
            </a:r>
          </a:p>
          <a:p>
            <a:pPr marL="781583" lvl="1" indent="0">
              <a:buNone/>
            </a:pPr>
            <a:r>
              <a:rPr lang="en-CA" dirty="0" err="1"/>
              <a:t>xfx</a:t>
            </a:r>
            <a:r>
              <a:rPr lang="en-CA" dirty="0"/>
              <a:t> </a:t>
            </a:r>
            <a:r>
              <a:rPr lang="en-CA" dirty="0" err="1"/>
              <a:t>xfy</a:t>
            </a:r>
            <a:r>
              <a:rPr lang="en-CA" dirty="0"/>
              <a:t> </a:t>
            </a:r>
            <a:r>
              <a:rPr lang="en-CA" dirty="0" err="1"/>
              <a:t>yfx</a:t>
            </a:r>
            <a:r>
              <a:rPr lang="en-CA" dirty="0"/>
              <a:t> </a:t>
            </a:r>
          </a:p>
          <a:p>
            <a:r>
              <a:rPr lang="en-CA" dirty="0"/>
              <a:t>(2) prefix operators </a:t>
            </a:r>
          </a:p>
          <a:p>
            <a:pPr marL="781583" lvl="1" indent="0">
              <a:buNone/>
            </a:pPr>
            <a:r>
              <a:rPr lang="en-CA" dirty="0" err="1"/>
              <a:t>fx</a:t>
            </a:r>
            <a:r>
              <a:rPr lang="en-CA" dirty="0"/>
              <a:t> </a:t>
            </a:r>
            <a:r>
              <a:rPr lang="en-CA" dirty="0" err="1"/>
              <a:t>fy</a:t>
            </a:r>
            <a:r>
              <a:rPr lang="en-CA" dirty="0"/>
              <a:t> </a:t>
            </a:r>
          </a:p>
          <a:p>
            <a:r>
              <a:rPr lang="en-CA" dirty="0"/>
              <a:t>(3) postfix operators </a:t>
            </a:r>
          </a:p>
          <a:p>
            <a:pPr marL="781583" lvl="1" indent="0">
              <a:buNone/>
            </a:pPr>
            <a:r>
              <a:rPr lang="en-CA" dirty="0" err="1"/>
              <a:t>xf</a:t>
            </a:r>
            <a:r>
              <a:rPr lang="en-CA" dirty="0"/>
              <a:t> </a:t>
            </a:r>
            <a:r>
              <a:rPr lang="en-CA" dirty="0" err="1"/>
              <a:t>yf</a:t>
            </a:r>
            <a:r>
              <a:rPr lang="en-CA" dirty="0"/>
              <a:t> </a:t>
            </a:r>
          </a:p>
          <a:p>
            <a:r>
              <a:rPr lang="en-CA" dirty="0" err="1"/>
              <a:t>yfx</a:t>
            </a:r>
            <a:r>
              <a:rPr lang="en-CA" dirty="0"/>
              <a:t> is left associative operator </a:t>
            </a:r>
          </a:p>
          <a:p>
            <a:r>
              <a:rPr lang="en-CA" dirty="0" err="1"/>
              <a:t>xfy</a:t>
            </a:r>
            <a:r>
              <a:rPr lang="en-CA" dirty="0"/>
              <a:t> is right associative operator </a:t>
            </a:r>
          </a:p>
          <a:p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‘</a:t>
            </a:r>
            <a:r>
              <a:rPr lang="en-CA" dirty="0" err="1"/>
              <a:t>y</a:t>
            </a:r>
            <a:r>
              <a:rPr lang="en-CA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’should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be interpreted as “on this position a term with precedence lower or equal to the precedence of the functor should occur” . </a:t>
            </a:r>
            <a:r>
              <a:rPr lang="en-CA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For‘</a:t>
            </a:r>
            <a:r>
              <a:rPr lang="en-CA" dirty="0" err="1"/>
              <a:t>x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’ the precedence of the argument must be strictly lower.  (remember lower precedence in </a:t>
            </a:r>
            <a:r>
              <a:rPr lang="en-CA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Prolog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is more tightly binding)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CCC05-C1EE-0B4F-BC4A-4E6817E688E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54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4CB6-9CF7-7F49-91AA-67AFC75E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897A8-29C6-7C4A-BC4C-296FD1B7B6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14945"/>
            <a:ext cx="11615780" cy="5720389"/>
          </a:xfrm>
        </p:spPr>
        <p:txBody>
          <a:bodyPr/>
          <a:lstStyle/>
          <a:p>
            <a:r>
              <a:rPr lang="en-CA" dirty="0"/>
              <a:t>• Try to add 1 + 2 with:</a:t>
            </a:r>
            <a:br>
              <a:rPr lang="en-CA" dirty="0"/>
            </a:br>
            <a:r>
              <a:rPr lang="en-CA" dirty="0"/>
              <a:t>?- X = 1+2.</a:t>
            </a:r>
            <a:br>
              <a:rPr lang="en-CA" dirty="0"/>
            </a:br>
            <a:r>
              <a:rPr lang="en-CA" dirty="0"/>
              <a:t>X = 1 + 2           % </a:t>
            </a:r>
            <a:r>
              <a:rPr lang="en-CA" dirty="0" err="1"/>
              <a:t>Prolog</a:t>
            </a:r>
            <a:r>
              <a:rPr lang="en-CA" dirty="0"/>
              <a:t> just keeps expression unevaluated </a:t>
            </a:r>
          </a:p>
          <a:p>
            <a:r>
              <a:rPr lang="en-CA" dirty="0"/>
              <a:t>• This is better:</a:t>
            </a:r>
            <a:br>
              <a:rPr lang="en-CA" dirty="0"/>
            </a:br>
            <a:r>
              <a:rPr lang="en-CA" dirty="0"/>
              <a:t>?- X is 1 + 2.      % “is”: built-in predicate that forces calculation</a:t>
            </a:r>
          </a:p>
          <a:p>
            <a:r>
              <a:rPr lang="en-CA" dirty="0"/>
              <a:t> X=3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It is an error if the right side contains uninstantiated variables</a:t>
            </a:r>
          </a:p>
          <a:p>
            <a:r>
              <a:rPr lang="en-US" i="1" dirty="0"/>
              <a:t>-Number </a:t>
            </a:r>
            <a:r>
              <a:rPr lang="en-US" b="1" dirty="0"/>
              <a:t>is</a:t>
            </a:r>
            <a:r>
              <a:rPr lang="en-US" dirty="0"/>
              <a:t> </a:t>
            </a:r>
            <a:r>
              <a:rPr lang="en-US" i="1" dirty="0"/>
              <a:t>+Expr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D7CA7-F303-2C49-AEEB-48FAC3CF8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24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5FBC-B335-A74E-B499-D4DC817C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422001"/>
            <a:ext cx="9868976" cy="741781"/>
          </a:xfrm>
        </p:spPr>
        <p:txBody>
          <a:bodyPr/>
          <a:lstStyle/>
          <a:p>
            <a:r>
              <a:rPr lang="en-US" dirty="0"/>
              <a:t>Arithmetic operations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98072-1D8F-2E4C-8FAB-BE277556C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316182"/>
            <a:ext cx="11615780" cy="6219152"/>
          </a:xfrm>
        </p:spPr>
        <p:txBody>
          <a:bodyPr/>
          <a:lstStyle/>
          <a:p>
            <a:r>
              <a:rPr lang="en-CA" dirty="0"/>
              <a:t>+, -, *, /, **         addition, subtraction, …</a:t>
            </a:r>
          </a:p>
          <a:p>
            <a:r>
              <a:rPr lang="en-CA" dirty="0"/>
              <a:t>//, mod               operations on integers </a:t>
            </a:r>
          </a:p>
          <a:p>
            <a:r>
              <a:rPr lang="en-CA" dirty="0"/>
              <a:t>sin, cos, log, ...  standard functions </a:t>
            </a:r>
          </a:p>
          <a:p>
            <a:r>
              <a:rPr lang="en-CA" dirty="0"/>
              <a:t>?- X is 2 + sin(3.14/2).</a:t>
            </a:r>
          </a:p>
          <a:p>
            <a:r>
              <a:rPr lang="en-CA" dirty="0"/>
              <a:t> X = 2.9999996829318345</a:t>
            </a:r>
          </a:p>
          <a:p>
            <a:r>
              <a:rPr lang="en-CA" dirty="0"/>
              <a:t> ?- A is 11/3.</a:t>
            </a:r>
            <a:br>
              <a:rPr lang="en-CA" dirty="0"/>
            </a:br>
            <a:r>
              <a:rPr lang="en-CA" dirty="0"/>
              <a:t>Y = 3.6666666666666665</a:t>
            </a:r>
          </a:p>
          <a:p>
            <a:r>
              <a:rPr lang="en-CA" dirty="0"/>
              <a:t> ?- B is 11//3.</a:t>
            </a:r>
            <a:br>
              <a:rPr lang="en-CA" dirty="0"/>
            </a:br>
            <a:r>
              <a:rPr lang="en-CA" dirty="0"/>
              <a:t>C=3</a:t>
            </a:r>
            <a:br>
              <a:rPr lang="en-CA" dirty="0"/>
            </a:br>
            <a:r>
              <a:rPr lang="en-CA" dirty="0"/>
              <a:t>?- C is 11 mod 3.</a:t>
            </a:r>
            <a:br>
              <a:rPr lang="en-CA" dirty="0"/>
            </a:br>
            <a:r>
              <a:rPr lang="en-CA" dirty="0"/>
              <a:t>C=2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33B8A-63B9-AB44-AAAC-5699B8ED33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47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6E6D-CA4B-4A41-9784-B3AF200A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255747"/>
            <a:ext cx="9475914" cy="672508"/>
          </a:xfrm>
        </p:spPr>
        <p:txBody>
          <a:bodyPr/>
          <a:lstStyle/>
          <a:p>
            <a:r>
              <a:rPr lang="en-US" dirty="0"/>
              <a:t>Comparison Predicates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5CA68-E7AB-704C-B0B9-D5D361ED1C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831273"/>
            <a:ext cx="11615780" cy="7439891"/>
          </a:xfrm>
        </p:spPr>
        <p:txBody>
          <a:bodyPr/>
          <a:lstStyle/>
          <a:p>
            <a:r>
              <a:rPr lang="en-CA" sz="2800" dirty="0"/>
              <a:t> X&gt;Y</a:t>
            </a:r>
          </a:p>
          <a:p>
            <a:r>
              <a:rPr lang="en-CA" sz="2800" dirty="0"/>
              <a:t> X&lt;Y</a:t>
            </a:r>
          </a:p>
          <a:p>
            <a:r>
              <a:rPr lang="en-CA" sz="2800" dirty="0"/>
              <a:t> X &gt;= Y</a:t>
            </a:r>
          </a:p>
          <a:p>
            <a:r>
              <a:rPr lang="en-CA" sz="2800" dirty="0"/>
              <a:t> X =&lt; Y</a:t>
            </a:r>
          </a:p>
          <a:p>
            <a:r>
              <a:rPr lang="en-CA" sz="2800" dirty="0"/>
              <a:t> X=:=Y      X and Y are numerically equal</a:t>
            </a:r>
          </a:p>
          <a:p>
            <a:r>
              <a:rPr lang="en-CA" sz="2800" dirty="0"/>
              <a:t> X=\=Y      X and Y are not numerically equal</a:t>
            </a:r>
          </a:p>
          <a:p>
            <a:r>
              <a:rPr lang="en-CA" sz="2800" dirty="0"/>
              <a:t> ?- 315 * 3 &gt;= 250*4.</a:t>
            </a:r>
          </a:p>
          <a:p>
            <a:r>
              <a:rPr lang="en-CA" sz="2800" dirty="0"/>
              <a:t> yes</a:t>
            </a:r>
            <a:br>
              <a:rPr lang="en-CA" sz="2800" dirty="0"/>
            </a:br>
            <a:r>
              <a:rPr lang="en-CA" sz="2800" dirty="0"/>
              <a:t>?- 2+5 = 5+2.</a:t>
            </a:r>
            <a:br>
              <a:rPr lang="en-CA" sz="2800" dirty="0"/>
            </a:br>
            <a:r>
              <a:rPr lang="en-CA" sz="2800" dirty="0"/>
              <a:t>no </a:t>
            </a:r>
          </a:p>
          <a:p>
            <a:r>
              <a:rPr lang="en-CA" sz="2800" dirty="0"/>
              <a:t>?- 2+5 =:= 5+2.</a:t>
            </a:r>
          </a:p>
          <a:p>
            <a:r>
              <a:rPr lang="en-CA" sz="2800" dirty="0"/>
              <a:t>yes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647FC-1FE2-2E4D-8F88-47FAA9A1661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06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EBD4C-707E-4046-AE68-D2B66F94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length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260C4-3F2A-C142-A665-07B28D0EAA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% length( L, N): N is the length of list L </a:t>
            </a:r>
          </a:p>
          <a:p>
            <a:r>
              <a:rPr lang="en-CA" dirty="0"/>
              <a:t>length( [ ], 0). </a:t>
            </a:r>
          </a:p>
          <a:p>
            <a:r>
              <a:rPr lang="en-CA" dirty="0"/>
              <a:t>length( [ _ | L], N) :-</a:t>
            </a:r>
          </a:p>
          <a:p>
            <a:r>
              <a:rPr lang="en-CA" dirty="0"/>
              <a:t>     length( L, N0),</a:t>
            </a:r>
            <a:br>
              <a:rPr lang="en-CA" dirty="0"/>
            </a:br>
            <a:r>
              <a:rPr lang="en-CA" dirty="0"/>
              <a:t>     N is N0 + 1. </a:t>
            </a:r>
          </a:p>
          <a:p>
            <a:r>
              <a:rPr lang="en-CA" dirty="0"/>
              <a:t>In the second clause, can the order of goals be reversed?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6F190-B4D8-494E-8116-DD4C0250529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21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Prolog Arithmetic you recall by answering the following questions!</a:t>
            </a:r>
          </a:p>
          <a:p>
            <a:r>
              <a:rPr lang="en-US" dirty="0"/>
              <a:t>What is the difference between the two following prolog statements:</a:t>
            </a:r>
          </a:p>
          <a:p>
            <a:r>
              <a:rPr lang="en-US" dirty="0"/>
              <a:t>   X is 3 + 4</a:t>
            </a:r>
          </a:p>
          <a:p>
            <a:r>
              <a:rPr lang="en-US"/>
              <a:t>   X = 3 + 4</a:t>
            </a:r>
          </a:p>
        </p:txBody>
      </p:sp>
    </p:spTree>
    <p:extLst>
      <p:ext uri="{BB962C8B-B14F-4D97-AF65-F5344CB8AC3E}">
        <p14:creationId xmlns:p14="http://schemas.microsoft.com/office/powerpoint/2010/main" val="3264627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35946</TotalTime>
  <Words>1948</Words>
  <Application>Microsoft Macintosh PowerPoint</Application>
  <PresentationFormat>Custom</PresentationFormat>
  <Paragraphs>214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Helvetica</vt:lpstr>
      <vt:lpstr>Source Sans Pro</vt:lpstr>
      <vt:lpstr>Wingdings</vt:lpstr>
      <vt:lpstr>Office Theme</vt:lpstr>
      <vt:lpstr>Prolog Lists, Operators and Arithmetic</vt:lpstr>
      <vt:lpstr>Outcomes</vt:lpstr>
      <vt:lpstr>Prolog</vt:lpstr>
      <vt:lpstr>Argument Mode Indicators</vt:lpstr>
      <vt:lpstr>Predicate Directives</vt:lpstr>
      <vt:lpstr>List Notation</vt:lpstr>
      <vt:lpstr>Head and Tail</vt:lpstr>
      <vt:lpstr>List notation is Syntactic Sugar</vt:lpstr>
      <vt:lpstr>List Membership</vt:lpstr>
      <vt:lpstr>Concatenation of Lists</vt:lpstr>
      <vt:lpstr>Many uses of conc</vt:lpstr>
      <vt:lpstr>Generating Lists</vt:lpstr>
      <vt:lpstr>Example of conc</vt:lpstr>
      <vt:lpstr>Another example of conc</vt:lpstr>
      <vt:lpstr>List membership with conc</vt:lpstr>
      <vt:lpstr>List Deletion</vt:lpstr>
      <vt:lpstr>List insertion</vt:lpstr>
      <vt:lpstr>Insert as opposite of delete</vt:lpstr>
      <vt:lpstr>Sublist of a List</vt:lpstr>
      <vt:lpstr>Time to check your learning!</vt:lpstr>
      <vt:lpstr>Operator Notation</vt:lpstr>
      <vt:lpstr>User-defined operators</vt:lpstr>
      <vt:lpstr>Operator types</vt:lpstr>
      <vt:lpstr>Arithmetic operations</vt:lpstr>
      <vt:lpstr>Arithmetic operations (cont'd)</vt:lpstr>
      <vt:lpstr>Comparison Predicates</vt:lpstr>
      <vt:lpstr>List length</vt:lpstr>
      <vt:lpstr>Time to check your learning!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234</cp:revision>
  <dcterms:created xsi:type="dcterms:W3CDTF">2016-12-21T16:02:28Z</dcterms:created>
  <dcterms:modified xsi:type="dcterms:W3CDTF">2025-01-29T17:42:58Z</dcterms:modified>
</cp:coreProperties>
</file>