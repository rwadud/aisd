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346" r:id="rId2"/>
    <p:sldId id="347" r:id="rId3"/>
    <p:sldId id="348" r:id="rId4"/>
    <p:sldId id="357" r:id="rId5"/>
    <p:sldId id="279" r:id="rId6"/>
    <p:sldId id="353" r:id="rId7"/>
    <p:sldId id="354" r:id="rId8"/>
    <p:sldId id="355" r:id="rId9"/>
    <p:sldId id="356" r:id="rId10"/>
    <p:sldId id="358" r:id="rId11"/>
    <p:sldId id="359" r:id="rId12"/>
    <p:sldId id="362" r:id="rId13"/>
    <p:sldId id="363" r:id="rId14"/>
    <p:sldId id="360" r:id="rId15"/>
    <p:sldId id="280" r:id="rId16"/>
    <p:sldId id="340" r:id="rId17"/>
    <p:sldId id="350" r:id="rId18"/>
    <p:sldId id="351" r:id="rId19"/>
    <p:sldId id="352" r:id="rId20"/>
    <p:sldId id="341" r:id="rId21"/>
    <p:sldId id="342" r:id="rId22"/>
    <p:sldId id="343" r:id="rId23"/>
    <p:sldId id="344" r:id="rId24"/>
  </p:sldIdLst>
  <p:sldSz cx="16257588" cy="9144000"/>
  <p:notesSz cx="6858000" cy="9144000"/>
  <p:defaultTextStyle>
    <a:defPPr>
      <a:defRPr lang="en-US"/>
    </a:defPPr>
    <a:lvl1pPr marL="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C143"/>
    <a:srgbClr val="267A52"/>
    <a:srgbClr val="43B02A"/>
    <a:srgbClr val="00673E"/>
    <a:srgbClr val="006643"/>
    <a:srgbClr val="5892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72" autoAdjust="0"/>
    <p:restoredTop sz="94674" autoAdjust="0"/>
  </p:normalViewPr>
  <p:slideViewPr>
    <p:cSldViewPr snapToGrid="0" snapToObjects="1">
      <p:cViewPr>
        <p:scale>
          <a:sx n="91" d="100"/>
          <a:sy n="91" d="100"/>
        </p:scale>
        <p:origin x="784" y="240"/>
      </p:cViewPr>
      <p:guideLst>
        <p:guide orient="horz" pos="2880"/>
        <p:guide pos="5121"/>
      </p:guideLst>
    </p:cSldViewPr>
  </p:slideViewPr>
  <p:outlineViewPr>
    <p:cViewPr>
      <p:scale>
        <a:sx n="33" d="100"/>
        <a:sy n="33" d="100"/>
      </p:scale>
      <p:origin x="0" y="538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78AF4-5E64-AC4C-BB17-179E924E563F}" type="datetimeFigureOut">
              <a:rPr lang="en-US" smtClean="0"/>
              <a:t>1/15/25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C6A53-3777-FA4B-999B-678D40C4B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137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A0A7F-40AB-B84E-BA8C-8861397EF456}" type="datetimeFigureOut">
              <a:rPr lang="en-US" smtClean="0"/>
              <a:t>1/15/25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51CE3-F1EC-6B4D-8B6D-86D363C89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7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12882" y="1716573"/>
            <a:ext cx="9668510" cy="218069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This is your 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2881" y="4032727"/>
            <a:ext cx="12157629" cy="23368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4800" baseline="0">
                <a:solidFill>
                  <a:schemeClr val="accent3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Presentation subtitle or brief one-sentence description.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29733" y="7346545"/>
            <a:ext cx="7145607" cy="993775"/>
          </a:xfrm>
          <a:prstGeom prst="rect">
            <a:avLst/>
          </a:prstGeom>
        </p:spPr>
        <p:txBody>
          <a:bodyPr anchor="b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Month 24th, 2017</a:t>
            </a:r>
            <a:endParaRPr lang="en-US" dirty="0"/>
          </a:p>
        </p:txBody>
      </p:sp>
      <p:pic>
        <p:nvPicPr>
          <p:cNvPr id="4" name="Picture 3" descr="ac-logo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7728" y="825406"/>
            <a:ext cx="33909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02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0" y="2059516"/>
            <a:ext cx="9668513" cy="18161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800" b="1" cap="none" baseline="0">
                <a:solidFill>
                  <a:srgbClr val="FFFFFF"/>
                </a:solidFill>
              </a:defRPr>
            </a:lvl1pPr>
          </a:lstStyle>
          <a:p>
            <a:r>
              <a:rPr lang="en-CA" dirty="0"/>
              <a:t>Chapter or Section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34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Brief description or intro to this section</a:t>
            </a:r>
          </a:p>
        </p:txBody>
      </p:sp>
      <p:pic>
        <p:nvPicPr>
          <p:cNvPr id="10" name="Picture 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8893" y="689942"/>
            <a:ext cx="965199" cy="711200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rgbClr val="96B7A6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8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Auth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3335758" y="2404534"/>
            <a:ext cx="4633424" cy="430358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8297063" y="3115733"/>
            <a:ext cx="4673448" cy="2881182"/>
          </a:xfrm>
          <a:prstGeom prst="rect">
            <a:avLst/>
          </a:prstGeom>
        </p:spPr>
        <p:txBody>
          <a:bodyPr anchor="ctr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About the Author (1 author)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296275" y="2405062"/>
            <a:ext cx="46736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8296275" y="5997575"/>
            <a:ext cx="4673600" cy="710539"/>
          </a:xfrm>
          <a:prstGeom prst="rect">
            <a:avLst/>
          </a:prstGeo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</p:spTree>
    <p:extLst>
      <p:ext uri="{BB962C8B-B14F-4D97-AF65-F5344CB8AC3E}">
        <p14:creationId xmlns:p14="http://schemas.microsoft.com/office/powerpoint/2010/main" val="1698127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Auth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829814" y="2405062"/>
            <a:ext cx="2167288" cy="201300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3318933" y="3115733"/>
            <a:ext cx="4673448" cy="2387600"/>
          </a:xfrm>
          <a:prstGeom prst="rect">
            <a:avLst/>
          </a:prstGeo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About the Author (2 authors)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18145" y="2405062"/>
            <a:ext cx="46736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1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3318145" y="5503333"/>
            <a:ext cx="4673600" cy="710539"/>
          </a:xfrm>
          <a:prstGeom prst="rect">
            <a:avLst/>
          </a:prstGeo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8297171" y="2405062"/>
            <a:ext cx="2167288" cy="201300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10786290" y="3115733"/>
            <a:ext cx="4673448" cy="2387600"/>
          </a:xfrm>
          <a:prstGeom prst="rect">
            <a:avLst/>
          </a:prstGeo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5502" y="2405062"/>
            <a:ext cx="46736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2 Name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10785502" y="5503333"/>
            <a:ext cx="4673600" cy="710539"/>
          </a:xfrm>
          <a:prstGeom prst="rect">
            <a:avLst/>
          </a:prstGeo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pic>
        <p:nvPicPr>
          <p:cNvPr id="15" name="Picture 14" descr="curtain-100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797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83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189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5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A basic 1-column key point slide with no title. 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364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162458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2404534"/>
            <a:ext cx="7147539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basic 2-column key point text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3115732"/>
            <a:ext cx="7147539" cy="4419602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716245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8297170" y="2405062"/>
            <a:ext cx="7147539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2" name="Picture 11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3" name="Picture 12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20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022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1" name="Picture 10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2" name="Picture 11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520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2"/>
            <a:ext cx="4644000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2"/>
            <a:ext cx="467344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2405062"/>
            <a:ext cx="46440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566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130801"/>
            <a:ext cx="4673339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130801"/>
            <a:ext cx="4644000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130801"/>
            <a:ext cx="4673448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4804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 w/ 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3"/>
            <a:ext cx="4673339" cy="16979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3"/>
            <a:ext cx="4644000" cy="16979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3"/>
            <a:ext cx="4673448" cy="16979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858406"/>
            <a:ext cx="4673339" cy="1681532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858406"/>
            <a:ext cx="4644000" cy="1681532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858406"/>
            <a:ext cx="4673448" cy="1681532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5807945" y="2405062"/>
            <a:ext cx="46440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812883" y="5147735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5" y="5147735"/>
            <a:ext cx="46440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10786183" y="5147735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23" name="Picture 2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4" name="Picture 2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5" name="Slide Number Placeholder 8"/>
          <p:cNvSpPr>
            <a:spLocks noGrp="1"/>
          </p:cNvSpPr>
          <p:nvPr>
            <p:ph type="sldNum" sz="quarter" idx="27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6385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516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6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This is a 1-column bulk content slide without a title. 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197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297169" y="3115732"/>
            <a:ext cx="7147539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2" y="2405062"/>
            <a:ext cx="7162457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8297168" y="2405062"/>
            <a:ext cx="7147539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741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1276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812882" y="5858405"/>
            <a:ext cx="4673339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10786183" y="5858405"/>
            <a:ext cx="4658525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32" hasCustomPrompt="1"/>
          </p:nvPr>
        </p:nvSpPr>
        <p:spPr>
          <a:xfrm>
            <a:off x="812883" y="5147735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10786182" y="5147735"/>
            <a:ext cx="4658525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5807947" y="5858405"/>
            <a:ext cx="4643998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35" hasCustomPrompt="1"/>
          </p:nvPr>
        </p:nvSpPr>
        <p:spPr>
          <a:xfrm>
            <a:off x="5807946" y="5147735"/>
            <a:ext cx="4643998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3717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860800"/>
            <a:ext cx="4673339" cy="36791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860800"/>
            <a:ext cx="4644000" cy="36791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860800"/>
            <a:ext cx="4673448" cy="3679138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75441"/>
            <a:ext cx="4673340" cy="1226329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short numbers.</a:t>
            </a:r>
            <a:endParaRPr lang="en-US" dirty="0"/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6428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Mediu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701769"/>
            <a:ext cx="4673339" cy="3838169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701769"/>
            <a:ext cx="4644000" cy="3838169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701769"/>
            <a:ext cx="4673448" cy="3838169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41575"/>
            <a:ext cx="4673340" cy="1260195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$##,###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#,###,####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long numbers.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6079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sp>
        <p:nvSpPr>
          <p:cNvPr id="12" name="Oval 11"/>
          <p:cNvSpPr/>
          <p:nvPr userDrawn="1"/>
        </p:nvSpPr>
        <p:spPr>
          <a:xfrm>
            <a:off x="728135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3"/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1173631" y="2900693"/>
            <a:ext cx="864783" cy="86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Oval 13"/>
          <p:cNvSpPr/>
          <p:nvPr userDrawn="1"/>
        </p:nvSpPr>
        <p:spPr>
          <a:xfrm>
            <a:off x="5723280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3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168776" y="2900693"/>
            <a:ext cx="864782" cy="86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Oval 15"/>
          <p:cNvSpPr/>
          <p:nvPr userDrawn="1"/>
        </p:nvSpPr>
        <p:spPr>
          <a:xfrm>
            <a:off x="10701518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"/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11147405" y="2900693"/>
            <a:ext cx="864000" cy="86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9" name="Picture 18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6315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3287077" y="829734"/>
            <a:ext cx="9683434" cy="750146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this icon to insert a video</a:t>
            </a:r>
          </a:p>
        </p:txBody>
      </p:sp>
    </p:spTree>
    <p:extLst>
      <p:ext uri="{BB962C8B-B14F-4D97-AF65-F5344CB8AC3E}">
        <p14:creationId xmlns:p14="http://schemas.microsoft.com/office/powerpoint/2010/main" val="18803090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805366" y="838200"/>
            <a:ext cx="14646856" cy="74676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  <a:prstGeom prst="rect">
            <a:avLst/>
          </a:prstGeom>
        </p:spPr>
        <p:txBody>
          <a:bodyPr anchor="ctr"/>
          <a:lstStyle>
            <a:lvl1pPr algn="ctr">
              <a:defRPr sz="1600"/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3703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  <a:prstGeom prst="rect">
            <a:avLst/>
          </a:prstGeo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0235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3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mpus-scape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white.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9924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mpus-scap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100% green.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6990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127735" cy="457140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baseline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this icon to insert a background photo, the resize this box so it covers the whole screen. Make sure it’s good quality.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980794" y="2552251"/>
            <a:ext cx="10296000" cy="4039500"/>
          </a:xfrm>
          <a:solidFill>
            <a:srgbClr val="FFFFFF"/>
          </a:solidFill>
          <a:ln>
            <a:noFill/>
          </a:ln>
          <a:effectLst>
            <a:outerShdw blurRad="381000" dir="2700000" sx="98000" sy="98000" algn="tl" rotWithShape="0">
              <a:srgbClr val="000000">
                <a:alpha val="85000"/>
              </a:srgbClr>
            </a:outerShdw>
          </a:effectLst>
        </p:spPr>
        <p:txBody>
          <a:bodyPr lIns="324000" tIns="1080000" rIns="324000" bIns="1080000"/>
          <a:lstStyle>
            <a:lvl1pPr algn="ctr">
              <a:lnSpc>
                <a:spcPct val="9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$#,###,###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01893" y="3012628"/>
            <a:ext cx="9653802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 baseline="0">
                <a:solidFill>
                  <a:srgbClr val="00673E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301893" y="5643918"/>
            <a:ext cx="9653802" cy="388804"/>
          </a:xfrm>
          <a:prstGeom prst="rect">
            <a:avLst/>
          </a:prstGeo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104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484181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right-aligned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18825" y="6267279"/>
            <a:ext cx="4978238" cy="1268053"/>
          </a:xfrm>
          <a:prstGeom prst="rect">
            <a:avLst/>
          </a:prstGeo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9346896" y="853030"/>
            <a:ext cx="6910691" cy="6682303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9346896" y="5489054"/>
            <a:ext cx="502903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347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7992382" y="2404534"/>
            <a:ext cx="7484181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923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left-aligned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7992381" y="6267279"/>
            <a:ext cx="4978238" cy="1268053"/>
          </a:xfrm>
          <a:prstGeom prst="rect">
            <a:avLst/>
          </a:prstGeo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853030"/>
            <a:ext cx="6910691" cy="6682303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489054"/>
            <a:ext cx="502903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5459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rame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86" y="0"/>
            <a:ext cx="16256402" cy="914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aseline="0"/>
            </a:lvl1pPr>
            <a:lvl2pPr marL="781583" indent="0">
              <a:buNone/>
              <a:defRPr sz="4800"/>
            </a:lvl2pPr>
            <a:lvl3pPr marL="1563167" indent="0">
              <a:buNone/>
              <a:defRPr sz="4100"/>
            </a:lvl3pPr>
            <a:lvl4pPr marL="2344750" indent="0">
              <a:buNone/>
              <a:defRPr sz="3400"/>
            </a:lvl4pPr>
            <a:lvl5pPr marL="3126334" indent="0">
              <a:buNone/>
              <a:defRPr sz="3400"/>
            </a:lvl5pPr>
            <a:lvl6pPr marL="3907917" indent="0">
              <a:buNone/>
              <a:defRPr sz="3400"/>
            </a:lvl6pPr>
            <a:lvl7pPr marL="4689500" indent="0">
              <a:buNone/>
              <a:defRPr sz="3400"/>
            </a:lvl7pPr>
            <a:lvl8pPr marL="5471084" indent="0">
              <a:buNone/>
              <a:defRPr sz="3400"/>
            </a:lvl8pPr>
            <a:lvl9pPr marL="6252667" indent="0">
              <a:buNone/>
              <a:defRPr sz="3400"/>
            </a:lvl9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6313857"/>
            <a:ext cx="7958408" cy="759384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180000" rIns="252000" bIns="252000" anchor="ctr">
            <a:spAutoFit/>
          </a:bodyPr>
          <a:lstStyle>
            <a:lvl1pPr>
              <a:lnSpc>
                <a:spcPct val="10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853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332918" y="829734"/>
            <a:ext cx="7111897" cy="6696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7145633" cy="6696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8332919" y="5498998"/>
            <a:ext cx="4654526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26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11598955" cy="6696000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220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+ Title and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3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8" y="2404534"/>
            <a:ext cx="9459088" cy="51212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on this icon to insert a graphic.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graphic slide with a title and optional annotation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24" name="Picture 23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5" name="Picture 24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13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r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8" name="Picture 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chart or table slide with optional annotation</a:t>
            </a:r>
            <a:endParaRPr lang="en-US" dirty="0"/>
          </a:p>
        </p:txBody>
      </p:sp>
      <p:sp>
        <p:nvSpPr>
          <p:cNvPr id="17" name="Table Placeholder 3"/>
          <p:cNvSpPr>
            <a:spLocks noGrp="1"/>
          </p:cNvSpPr>
          <p:nvPr>
            <p:ph type="tbl" sz="quarter" idx="20" hasCustomPrompt="1"/>
          </p:nvPr>
        </p:nvSpPr>
        <p:spPr>
          <a:xfrm>
            <a:off x="812800" y="2405063"/>
            <a:ext cx="9475788" cy="512127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the icon to insert a table or chart.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023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48421" y="3117806"/>
            <a:ext cx="10360746" cy="261217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800" baseline="0">
                <a:solidFill>
                  <a:schemeClr val="accent5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Questions? Put your contact prompt message and your email here.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20943" y="2082794"/>
            <a:ext cx="9615704" cy="1018079"/>
          </a:xfrm>
        </p:spPr>
        <p:txBody>
          <a:bodyPr anchor="b"/>
          <a:lstStyle>
            <a:lvl1pPr algn="ctr">
              <a:defRPr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Thank you message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320941" y="6017839"/>
            <a:ext cx="9615706" cy="462413"/>
          </a:xfrm>
          <a:prstGeom prst="rect">
            <a:avLst/>
          </a:prstGeom>
        </p:spPr>
        <p:txBody>
          <a:bodyPr anchor="t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 err="1"/>
              <a:t>www.algonquincollege.com</a:t>
            </a:r>
            <a:r>
              <a:rPr lang="en-CA" dirty="0"/>
              <a:t>/</a:t>
            </a:r>
            <a:r>
              <a:rPr lang="en-CA" dirty="0" err="1"/>
              <a:t>relevantURL</a:t>
            </a:r>
            <a:endParaRPr lang="en-US" dirty="0"/>
          </a:p>
        </p:txBody>
      </p:sp>
      <p:pic>
        <p:nvPicPr>
          <p:cNvPr id="13" name="Picture 12" descr="ac-icon-green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683" y="828547"/>
            <a:ext cx="635142" cy="467999"/>
          </a:xfrm>
          <a:prstGeom prst="rect">
            <a:avLst/>
          </a:prstGeom>
        </p:spPr>
      </p:pic>
      <p:pic>
        <p:nvPicPr>
          <p:cNvPr id="14" name="Picture 13" descr="curtain-100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5083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3604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1/15/25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236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80" y="666518"/>
            <a:ext cx="14631829" cy="146708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First level</a:t>
            </a:r>
          </a:p>
          <a:p>
            <a:pPr lvl="2"/>
            <a:r>
              <a:rPr lang="en-CA" dirty="0"/>
              <a:t>Second level</a:t>
            </a:r>
          </a:p>
          <a:p>
            <a:pPr lvl="0"/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80" y="8475135"/>
            <a:ext cx="1180185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21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78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9" r:id="rId3"/>
    <p:sldLayoutId id="2147483686" r:id="rId4"/>
    <p:sldLayoutId id="2147483650" r:id="rId5"/>
    <p:sldLayoutId id="2147483705" r:id="rId6"/>
    <p:sldLayoutId id="2147483693" r:id="rId7"/>
    <p:sldLayoutId id="2147483685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4" r:id="rId15"/>
    <p:sldLayoutId id="2147483695" r:id="rId16"/>
    <p:sldLayoutId id="2147483696" r:id="rId17"/>
    <p:sldLayoutId id="2147483697" r:id="rId18"/>
    <p:sldLayoutId id="2147483677" r:id="rId19"/>
    <p:sldLayoutId id="2147483698" r:id="rId20"/>
    <p:sldLayoutId id="2147483699" r:id="rId21"/>
    <p:sldLayoutId id="2147483682" r:id="rId22"/>
    <p:sldLayoutId id="2147483654" r:id="rId23"/>
    <p:sldLayoutId id="2147483662" r:id="rId24"/>
    <p:sldLayoutId id="2147483683" r:id="rId25"/>
    <p:sldLayoutId id="2147483684" r:id="rId26"/>
    <p:sldLayoutId id="2147483664" r:id="rId27"/>
    <p:sldLayoutId id="2147483700" r:id="rId28"/>
    <p:sldLayoutId id="2147483701" r:id="rId29"/>
    <p:sldLayoutId id="2147483657" r:id="rId30"/>
    <p:sldLayoutId id="2147483674" r:id="rId31"/>
    <p:sldLayoutId id="2147483675" r:id="rId32"/>
    <p:sldLayoutId id="2147483681" r:id="rId33"/>
    <p:sldLayoutId id="2147483667" r:id="rId34"/>
    <p:sldLayoutId id="2147483680" r:id="rId35"/>
    <p:sldLayoutId id="2147483702" r:id="rId36"/>
    <p:sldLayoutId id="2147483704" r:id="rId37"/>
  </p:sldLayoutIdLst>
  <p:hf hdr="0" ftr="0" dt="0"/>
  <p:txStyles>
    <p:titleStyle>
      <a:lvl1pPr algn="l" defTabSz="781583" rtl="0" eaLnBrk="1" latinLnBrk="0" hangingPunct="1">
        <a:lnSpc>
          <a:spcPct val="80000"/>
        </a:lnSpc>
        <a:spcBef>
          <a:spcPct val="0"/>
        </a:spcBef>
        <a:buNone/>
        <a:defRPr sz="720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FontTx/>
        <a:buNone/>
        <a:defRPr sz="32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1270073" indent="-48849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75000"/>
        <a:buFont typeface="Arial"/>
        <a:buChar char="•"/>
        <a:defRPr sz="32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2020367" indent="-45720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60000"/>
        <a:buFont typeface="Wingdings" charset="2"/>
        <a:buChar char="§"/>
        <a:defRPr sz="3200" kern="1200" baseline="0">
          <a:solidFill>
            <a:schemeClr val="accent5"/>
          </a:solidFill>
          <a:latin typeface="+mn-lt"/>
          <a:ea typeface="+mn-ea"/>
          <a:cs typeface="+mn-cs"/>
        </a:defRPr>
      </a:lvl3pPr>
      <a:lvl4pPr marL="2735542" indent="-390792" algn="l" defTabSz="781583" rtl="0" eaLnBrk="1" latinLnBrk="0" hangingPunct="1">
        <a:lnSpc>
          <a:spcPct val="120000"/>
        </a:lnSpc>
        <a:spcBef>
          <a:spcPct val="20000"/>
        </a:spcBef>
        <a:buClr>
          <a:schemeClr val="accent2"/>
        </a:buClr>
        <a:buSzPct val="90000"/>
        <a:buFont typeface="Arial"/>
        <a:buChar char="–"/>
        <a:defRPr sz="21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3517125" indent="-390792" algn="l" defTabSz="781583" rtl="0" eaLnBrk="1" latinLnBrk="0" hangingPunct="1">
        <a:spcBef>
          <a:spcPct val="20000"/>
        </a:spcBef>
        <a:buFont typeface="Arial"/>
        <a:buChar char="»"/>
        <a:defRPr sz="34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429870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6pPr>
      <a:lvl7pPr marL="5080292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7pPr>
      <a:lvl8pPr marL="5861876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8pPr>
      <a:lvl9pPr marL="664345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81583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5631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34475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12633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0791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8950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7108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2526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wi-prolog.org/gtrace.html" TargetMode="Externa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Prolog Debugging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99082" y="8572491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066FC2A-FD98-8441-A9FE-75E9C94961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Procedural Interpretation and Debugging Prolog Programs</a:t>
            </a:r>
          </a:p>
        </p:txBody>
      </p:sp>
    </p:spTree>
    <p:extLst>
      <p:ext uri="{BB962C8B-B14F-4D97-AF65-F5344CB8AC3E}">
        <p14:creationId xmlns:p14="http://schemas.microsoft.com/office/powerpoint/2010/main" val="156512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578521"/>
          </a:xfrm>
        </p:spPr>
        <p:txBody>
          <a:bodyPr/>
          <a:lstStyle/>
          <a:p>
            <a:r>
              <a:rPr lang="en-US" dirty="0"/>
              <a:t>Outcomes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812881" y="1902941"/>
            <a:ext cx="14904913" cy="6203091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How Prolog Programs are executed: the Procedural Interpretation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Tracing, Graphical Tracing, and Debugging Prolog Programs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504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578521"/>
          </a:xfrm>
        </p:spPr>
        <p:txBody>
          <a:bodyPr/>
          <a:lstStyle/>
          <a:p>
            <a:r>
              <a:rPr lang="en-US" dirty="0"/>
              <a:t>Lesson Overview (Agenda)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812881" y="1902941"/>
            <a:ext cx="14904913" cy="6203091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In the following lesson, we will explore:</a:t>
            </a:r>
          </a:p>
          <a:p>
            <a:pPr marL="385763" indent="-385763">
              <a:buFont typeface="+mj-lt"/>
              <a:buAutoNum type="arabicPeriod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Declarative Knowledge in Prolog Programs and procedural interpretation</a:t>
            </a:r>
          </a:p>
          <a:p>
            <a:pPr marL="385763" indent="-385763">
              <a:buFont typeface="+mj-lt"/>
              <a:buAutoNum type="arabicPeriod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List notation preview</a:t>
            </a:r>
          </a:p>
          <a:p>
            <a:pPr marL="385763" indent="-385763">
              <a:buFont typeface="+mj-lt"/>
              <a:buAutoNum type="arabicPeriod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Tracing Prolog's Search</a:t>
            </a:r>
          </a:p>
          <a:p>
            <a:pPr marL="385763" indent="-385763">
              <a:buFont typeface="+mj-lt"/>
              <a:buAutoNum type="arabicPeriod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Graphical Tracing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917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8408" y="101031"/>
            <a:ext cx="9475914" cy="1335973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27"/>
              </a:spcBef>
            </a:pPr>
            <a:r>
              <a:rPr spc="-7" dirty="0"/>
              <a:t>DECLARATIVE</a:t>
            </a:r>
            <a:r>
              <a:rPr spc="-33" dirty="0"/>
              <a:t> </a:t>
            </a:r>
            <a:r>
              <a:rPr spc="-7" dirty="0"/>
              <a:t>MEANING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FA665E-6B91-753E-8B2D-58DC8D4DC36F}"/>
              </a:ext>
            </a:extLst>
          </p:cNvPr>
          <p:cNvSpPr txBox="1"/>
          <p:nvPr/>
        </p:nvSpPr>
        <p:spPr>
          <a:xfrm>
            <a:off x="554183" y="1039091"/>
            <a:ext cx="14381018" cy="7386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In Context 1</a:t>
            </a:r>
            <a:r>
              <a:rPr lang="en-US" dirty="0"/>
              <a:t>, that is, writing a program in a file, OR at the </a:t>
            </a:r>
            <a:r>
              <a:rPr lang="en-US" b="1" dirty="0"/>
              <a:t>user</a:t>
            </a:r>
            <a:r>
              <a:rPr lang="en-US" dirty="0"/>
              <a:t> pseudofile prompt </a:t>
            </a:r>
            <a:r>
              <a:rPr lang="en-US" b="1" dirty="0"/>
              <a:t>|:</a:t>
            </a:r>
          </a:p>
          <a:p>
            <a:endParaRPr lang="en-US" b="1" dirty="0"/>
          </a:p>
          <a:p>
            <a:r>
              <a:rPr lang="en-US" b="1" dirty="0"/>
              <a:t>A clause ends with a period.</a:t>
            </a:r>
            <a:endParaRPr lang="en-US" dirty="0"/>
          </a:p>
          <a:p>
            <a:endParaRPr lang="en-US" b="1" dirty="0"/>
          </a:p>
          <a:p>
            <a:r>
              <a:rPr lang="en-US" dirty="0"/>
              <a:t>A clause in this context is a statement that is true because you are stating that it is true.</a:t>
            </a:r>
          </a:p>
          <a:p>
            <a:endParaRPr lang="en-US" dirty="0"/>
          </a:p>
          <a:p>
            <a:r>
              <a:rPr lang="en-US" dirty="0"/>
              <a:t>When writing a Prolog program, you are defining a new world by stating what is true.</a:t>
            </a:r>
          </a:p>
          <a:p>
            <a:endParaRPr lang="en-US" dirty="0"/>
          </a:p>
          <a:p>
            <a:r>
              <a:rPr lang="en-US" dirty="0"/>
              <a:t>You write down a set of clauses in a file, each ending with a period,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754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8408" y="101031"/>
            <a:ext cx="9475914" cy="1335973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27"/>
              </a:spcBef>
            </a:pPr>
            <a:r>
              <a:rPr spc="-7" dirty="0"/>
              <a:t>DECLARATIVE</a:t>
            </a:r>
            <a:r>
              <a:rPr spc="-33" dirty="0"/>
              <a:t> </a:t>
            </a:r>
            <a:r>
              <a:rPr spc="-7" dirty="0"/>
              <a:t>MEANING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FA665E-6B91-753E-8B2D-58DC8D4DC36F}"/>
              </a:ext>
            </a:extLst>
          </p:cNvPr>
          <p:cNvSpPr txBox="1"/>
          <p:nvPr/>
        </p:nvSpPr>
        <p:spPr>
          <a:xfrm>
            <a:off x="554183" y="1039091"/>
            <a:ext cx="14381018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Context 1, writing a program in a file OR at the </a:t>
            </a:r>
            <a:r>
              <a:rPr lang="en-US" b="1" dirty="0"/>
              <a:t>user</a:t>
            </a:r>
            <a:r>
              <a:rPr lang="en-US" dirty="0"/>
              <a:t> pseudofile prompt </a:t>
            </a:r>
            <a:r>
              <a:rPr lang="en-US" b="1" dirty="0"/>
              <a:t>|:</a:t>
            </a:r>
            <a:endParaRPr lang="en-US" dirty="0"/>
          </a:p>
          <a:p>
            <a:endParaRPr lang="en-US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thispred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/>
              <a:t>.</a:t>
            </a:r>
          </a:p>
          <a:p>
            <a:pPr marL="1238783" lvl="1" indent="-457200">
              <a:buFont typeface="Arial" panose="020B0604020202020204" pitchFamily="34" charset="0"/>
              <a:buChar char="•"/>
            </a:pPr>
            <a:r>
              <a:rPr lang="en-US" dirty="0"/>
              <a:t>Means in English that (any or all of these)</a:t>
            </a:r>
          </a:p>
          <a:p>
            <a:pPr marL="1238783" lvl="1" indent="-45720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thispred</a:t>
            </a:r>
            <a:r>
              <a:rPr lang="en-US" dirty="0"/>
              <a:t> is true of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020367" lvl="2" indent="-457200">
              <a:buFont typeface="Arial" panose="020B0604020202020204" pitchFamily="34" charset="0"/>
              <a:buChar char="•"/>
            </a:pPr>
            <a:r>
              <a:rPr lang="en-US" dirty="0">
                <a:cs typeface="Courier New" panose="02070309020205020404" pitchFamily="49" charset="0"/>
              </a:rPr>
              <a:t>Example: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dead(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einstein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</a:p>
          <a:p>
            <a:pPr marL="2020367" lvl="2" indent="-45720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dead</a:t>
            </a:r>
            <a:r>
              <a:rPr lang="en-US" dirty="0">
                <a:cs typeface="Courier New" panose="02070309020205020404" pitchFamily="49" charset="0"/>
              </a:rPr>
              <a:t> is true of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einstein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020367" lvl="2" indent="-45720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einstein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cs typeface="Courier New" panose="02070309020205020404" pitchFamily="49" charset="0"/>
              </a:rPr>
              <a:t>is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dead</a:t>
            </a:r>
            <a:endParaRPr lang="en-US" dirty="0">
              <a:cs typeface="Courier New" panose="02070309020205020404" pitchFamily="49" charset="0"/>
            </a:endParaRPr>
          </a:p>
          <a:p>
            <a:pPr marL="1238783" lvl="1" indent="-45720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lang="en-US" dirty="0">
                <a:cs typeface="Courier New" panose="02070309020205020404" pitchFamily="49" charset="0"/>
              </a:rPr>
              <a:t> is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thispred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020367" lvl="2" indent="-457200">
              <a:buFont typeface="Arial" panose="020B0604020202020204" pitchFamily="34" charset="0"/>
              <a:buChar char="•"/>
            </a:pPr>
            <a:r>
              <a:rPr lang="en-US" dirty="0">
                <a:cs typeface="Courier New" panose="02070309020205020404" pitchFamily="49" charset="0"/>
              </a:rPr>
              <a:t>Example: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blue(sky).</a:t>
            </a:r>
          </a:p>
          <a:p>
            <a:pPr marL="2020367" lvl="2" indent="-45720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sky</a:t>
            </a:r>
            <a:r>
              <a:rPr lang="en-US" dirty="0">
                <a:cs typeface="Courier New" panose="02070309020205020404" pitchFamily="49" charset="0"/>
              </a:rPr>
              <a:t> is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blue</a:t>
            </a:r>
          </a:p>
          <a:p>
            <a:pPr marL="1238783" lvl="1" indent="-45720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lang="en-US" dirty="0">
                <a:cs typeface="Courier New" panose="02070309020205020404" pitchFamily="49" charset="0"/>
              </a:rPr>
              <a:t> is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thispred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020367" lvl="2" indent="-457200">
              <a:buFont typeface="Arial" panose="020B0604020202020204" pitchFamily="34" charset="0"/>
              <a:buChar char="•"/>
            </a:pPr>
            <a:r>
              <a:rPr lang="en-US" dirty="0">
                <a:cs typeface="Courier New" panose="02070309020205020404" pitchFamily="49" charset="0"/>
              </a:rPr>
              <a:t>Example: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person(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todd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</a:p>
          <a:p>
            <a:pPr marL="2020367" lvl="2" indent="-45720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todd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cs typeface="Courier New" panose="02070309020205020404" pitchFamily="49" charset="0"/>
              </a:rPr>
              <a:t>is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person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8408" y="101031"/>
            <a:ext cx="9475914" cy="1335973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27"/>
              </a:spcBef>
            </a:pPr>
            <a:r>
              <a:rPr spc="-7" dirty="0"/>
              <a:t>DECLARATIVE</a:t>
            </a:r>
            <a:r>
              <a:rPr spc="-33" dirty="0"/>
              <a:t> </a:t>
            </a:r>
            <a:r>
              <a:rPr spc="-7" dirty="0"/>
              <a:t>MEANING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FA665E-6B91-753E-8B2D-58DC8D4DC36F}"/>
              </a:ext>
            </a:extLst>
          </p:cNvPr>
          <p:cNvSpPr txBox="1"/>
          <p:nvPr/>
        </p:nvSpPr>
        <p:spPr>
          <a:xfrm>
            <a:off x="568037" y="1717964"/>
            <a:ext cx="14381018" cy="8679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Context 1, writing a program in a file OR at the </a:t>
            </a:r>
            <a:r>
              <a:rPr lang="en-US" b="1" dirty="0"/>
              <a:t>user</a:t>
            </a:r>
            <a:r>
              <a:rPr lang="en-US" dirty="0"/>
              <a:t> pseudofile prompt </a:t>
            </a:r>
            <a:r>
              <a:rPr lang="en-US" b="1" dirty="0"/>
              <a:t>|:</a:t>
            </a:r>
            <a:endParaRPr lang="en-US" dirty="0"/>
          </a:p>
          <a:p>
            <a:endParaRPr lang="en-US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thispred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(X)</a:t>
            </a:r>
            <a:r>
              <a:rPr lang="en-US" dirty="0"/>
              <a:t>.</a:t>
            </a:r>
          </a:p>
          <a:p>
            <a:pPr marL="1238783" lvl="1" indent="-457200">
              <a:buFont typeface="Arial" panose="020B0604020202020204" pitchFamily="34" charset="0"/>
              <a:buChar char="•"/>
            </a:pPr>
            <a:r>
              <a:rPr lang="en-US" dirty="0"/>
              <a:t>Note that in this case, the uppercase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/>
              <a:t> is a variable.</a:t>
            </a:r>
          </a:p>
          <a:p>
            <a:pPr marL="1238783" lvl="1" indent="-457200">
              <a:buFont typeface="Arial" panose="020B0604020202020204" pitchFamily="34" charset="0"/>
              <a:buChar char="•"/>
            </a:pPr>
            <a:r>
              <a:rPr lang="en-US" dirty="0">
                <a:cs typeface="Courier New" panose="02070309020205020404" pitchFamily="49" charset="0"/>
              </a:rPr>
              <a:t>We would probably </a:t>
            </a:r>
            <a:r>
              <a:rPr lang="en-US" b="1" dirty="0">
                <a:cs typeface="Courier New" panose="02070309020205020404" pitchFamily="49" charset="0"/>
              </a:rPr>
              <a:t>not want</a:t>
            </a:r>
            <a:r>
              <a:rPr lang="en-US" dirty="0">
                <a:cs typeface="Courier New" panose="02070309020205020404" pitchFamily="49" charset="0"/>
              </a:rPr>
              <a:t> to say things like this</a:t>
            </a:r>
            <a:endParaRPr lang="en-US" dirty="0"/>
          </a:p>
          <a:p>
            <a:pPr marL="1238783" lvl="1" indent="-457200">
              <a:buFont typeface="Arial" panose="020B0604020202020204" pitchFamily="34" charset="0"/>
              <a:buChar char="•"/>
            </a:pPr>
            <a:r>
              <a:rPr lang="en-US" dirty="0"/>
              <a:t>English meaning </a:t>
            </a:r>
          </a:p>
          <a:p>
            <a:pPr marL="2020367" lvl="2" indent="-457200">
              <a:buFont typeface="Arial" panose="020B0604020202020204" pitchFamily="34" charset="0"/>
              <a:buChar char="•"/>
            </a:pPr>
            <a:r>
              <a:rPr lang="en-US" dirty="0">
                <a:cs typeface="Courier New" panose="02070309020205020404" pitchFamily="49" charset="0"/>
              </a:rPr>
              <a:t>for all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thispred</a:t>
            </a:r>
            <a:r>
              <a:rPr lang="en-US" dirty="0"/>
              <a:t> is true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cs typeface="Courier New" panose="02070309020205020404" pitchFamily="49" charset="0"/>
              </a:rPr>
              <a:t> no matter what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cs typeface="Courier New" panose="02070309020205020404" pitchFamily="49" charset="0"/>
              </a:rPr>
              <a:t> is</a:t>
            </a:r>
          </a:p>
          <a:p>
            <a:pPr marL="2020367" lvl="2" indent="-457200">
              <a:buFont typeface="Arial" panose="020B0604020202020204" pitchFamily="34" charset="0"/>
              <a:buChar char="•"/>
            </a:pPr>
            <a:r>
              <a:rPr lang="en-US" dirty="0">
                <a:cs typeface="Courier New" panose="02070309020205020404" pitchFamily="49" charset="0"/>
              </a:rPr>
              <a:t>for all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cs typeface="Courier New" panose="02070309020205020404" pitchFamily="49" charset="0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cs typeface="Courier New" panose="02070309020205020404" pitchFamily="49" charset="0"/>
              </a:rPr>
              <a:t> is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thispred</a:t>
            </a:r>
            <a:r>
              <a:rPr lang="en-US" dirty="0"/>
              <a:t> </a:t>
            </a:r>
            <a:r>
              <a:rPr lang="en-US" dirty="0">
                <a:cs typeface="Courier New" panose="02070309020205020404" pitchFamily="49" charset="0"/>
              </a:rPr>
              <a:t>no matter what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cs typeface="Courier New" panose="02070309020205020404" pitchFamily="49" charset="0"/>
              </a:rPr>
              <a:t> is</a:t>
            </a:r>
          </a:p>
          <a:p>
            <a:pPr marL="2020367" lvl="2" indent="-457200">
              <a:buFont typeface="Arial" panose="020B0604020202020204" pitchFamily="34" charset="0"/>
              <a:buChar char="•"/>
            </a:pPr>
            <a:r>
              <a:rPr lang="en-US" dirty="0">
                <a:cs typeface="Courier New" panose="02070309020205020404" pitchFamily="49" charset="0"/>
              </a:rPr>
              <a:t>for all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cs typeface="Courier New" panose="02070309020205020404" pitchFamily="49" charset="0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cs typeface="Courier New" panose="02070309020205020404" pitchFamily="49" charset="0"/>
              </a:rPr>
              <a:t> is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thispred</a:t>
            </a:r>
            <a:r>
              <a:rPr lang="en-US" dirty="0"/>
              <a:t> </a:t>
            </a:r>
            <a:r>
              <a:rPr lang="en-US" dirty="0">
                <a:cs typeface="Courier New" panose="02070309020205020404" pitchFamily="49" charset="0"/>
              </a:rPr>
              <a:t>no matter what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cs typeface="Courier New" panose="02070309020205020404" pitchFamily="49" charset="0"/>
              </a:rPr>
              <a:t> is</a:t>
            </a:r>
          </a:p>
          <a:p>
            <a:pPr lvl="2"/>
            <a:endParaRPr lang="en-US" dirty="0">
              <a:cs typeface="Courier New" panose="02070309020205020404" pitchFamily="49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cs typeface="Courier New" panose="02070309020205020404" pitchFamily="49" charset="0"/>
              </a:rPr>
              <a:t> is called a singleton variable, because there are no other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cs typeface="Courier New" panose="02070309020205020404" pitchFamily="49" charset="0"/>
              </a:rPr>
              <a:t>'s just one.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cs typeface="Courier New" panose="02070309020205020404" pitchFamily="49" charset="0"/>
              </a:rPr>
              <a:t>We can always use the anonymous variable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dirty="0">
                <a:cs typeface="Courier New" panose="02070309020205020404" pitchFamily="49" charset="0"/>
              </a:rPr>
              <a:t> to replace a singleton, which means this is equivalent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thispred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(_).</a:t>
            </a:r>
          </a:p>
          <a:p>
            <a:pPr marL="1238783" lvl="1" indent="-457200">
              <a:buFont typeface="Arial" panose="020B0604020202020204" pitchFamily="34" charset="0"/>
              <a:buChar char="•"/>
            </a:pPr>
            <a:endParaRPr lang="en-US" dirty="0">
              <a:cs typeface="Courier New" panose="02070309020205020404" pitchFamily="49" charset="0"/>
            </a:endParaRPr>
          </a:p>
          <a:p>
            <a:pPr lvl="1"/>
            <a:endParaRPr lang="en-US" dirty="0">
              <a:cs typeface="Courier New" panose="02070309020205020404" pitchFamily="49" charset="0"/>
            </a:endParaRPr>
          </a:p>
          <a:p>
            <a:pPr marL="1238783" lvl="1" indent="-457200">
              <a:buFont typeface="Arial" panose="020B0604020202020204" pitchFamily="34" charset="0"/>
              <a:buChar char="•"/>
            </a:pPr>
            <a:endParaRPr lang="en-US" dirty="0">
              <a:cs typeface="Courier New" panose="02070309020205020404" pitchFamily="49" charset="0"/>
            </a:endParaRPr>
          </a:p>
          <a:p>
            <a:pPr marL="1238783" lvl="1" indent="-457200">
              <a:buFont typeface="Arial" panose="020B0604020202020204" pitchFamily="34" charset="0"/>
              <a:buChar char="•"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238783" lvl="1" indent="-457200">
              <a:buFont typeface="Arial" panose="020B0604020202020204" pitchFamily="34" charset="0"/>
              <a:buChar char="•"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301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8408" y="101031"/>
            <a:ext cx="9475914" cy="1335973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27"/>
              </a:spcBef>
            </a:pPr>
            <a:r>
              <a:rPr spc="-7" dirty="0"/>
              <a:t>DECLARATIVE</a:t>
            </a:r>
            <a:r>
              <a:rPr spc="-33" dirty="0"/>
              <a:t> </a:t>
            </a:r>
            <a:r>
              <a:rPr spc="-7" dirty="0"/>
              <a:t>MEANING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FA665E-6B91-753E-8B2D-58DC8D4DC36F}"/>
              </a:ext>
            </a:extLst>
          </p:cNvPr>
          <p:cNvSpPr txBox="1"/>
          <p:nvPr/>
        </p:nvSpPr>
        <p:spPr>
          <a:xfrm>
            <a:off x="568037" y="1717964"/>
            <a:ext cx="14381018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Context 1, writing a program in a file OR at the </a:t>
            </a:r>
            <a:r>
              <a:rPr lang="en-US" b="1" dirty="0"/>
              <a:t>user</a:t>
            </a:r>
            <a:r>
              <a:rPr lang="en-US" dirty="0"/>
              <a:t> pseudofile prompt </a:t>
            </a:r>
            <a:r>
              <a:rPr lang="en-US" b="1" dirty="0"/>
              <a:t>|:</a:t>
            </a:r>
            <a:endParaRPr lang="en-US" dirty="0"/>
          </a:p>
          <a:p>
            <a:endParaRPr lang="en-US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thispred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(arg1, arg2)</a:t>
            </a:r>
            <a:r>
              <a:rPr lang="en-US" dirty="0"/>
              <a:t>.</a:t>
            </a:r>
          </a:p>
          <a:p>
            <a:pPr marL="1238783" lvl="1" indent="-457200">
              <a:buFont typeface="Arial" panose="020B0604020202020204" pitchFamily="34" charset="0"/>
              <a:buChar char="•"/>
            </a:pPr>
            <a:r>
              <a:rPr lang="en-US" dirty="0"/>
              <a:t>Means in English that (any or all of these)</a:t>
            </a:r>
          </a:p>
          <a:p>
            <a:pPr marL="1238783" lvl="1" indent="-45720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thispred</a:t>
            </a:r>
            <a:r>
              <a:rPr lang="en-US" dirty="0"/>
              <a:t> is true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arg1</a:t>
            </a:r>
            <a:r>
              <a:rPr lang="en-US" dirty="0">
                <a:cs typeface="Courier New" panose="02070309020205020404" pitchFamily="49" charset="0"/>
              </a:rPr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arg2</a:t>
            </a:r>
          </a:p>
          <a:p>
            <a:pPr marL="2020367" lvl="2" indent="-457200">
              <a:buFont typeface="Arial" panose="020B0604020202020204" pitchFamily="34" charset="0"/>
              <a:buChar char="•"/>
            </a:pPr>
            <a:r>
              <a:rPr lang="en-US" dirty="0">
                <a:cs typeface="Courier New" panose="02070309020205020404" pitchFamily="49" charset="0"/>
              </a:rPr>
              <a:t>Example: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parent(bill,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joan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</a:p>
          <a:p>
            <a:pPr marL="2801950" lvl="3" indent="-45720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bill</a:t>
            </a:r>
            <a:r>
              <a:rPr lang="en-US" dirty="0">
                <a:cs typeface="Courier New" panose="02070309020205020404" pitchFamily="49" charset="0"/>
              </a:rPr>
              <a:t> is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parent</a:t>
            </a:r>
            <a:r>
              <a:rPr lang="en-US" dirty="0">
                <a:cs typeface="Courier New" panose="02070309020205020404" pitchFamily="49" charset="0"/>
              </a:rPr>
              <a:t> of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joan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020367" lvl="2" indent="-457200">
              <a:buFont typeface="Arial" panose="020B0604020202020204" pitchFamily="34" charset="0"/>
              <a:buChar char="•"/>
            </a:pPr>
            <a:r>
              <a:rPr lang="en-US" dirty="0">
                <a:cs typeface="Courier New" panose="02070309020205020404" pitchFamily="49" charset="0"/>
              </a:rPr>
              <a:t>Example: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greaterthan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two,one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</a:p>
          <a:p>
            <a:pPr marL="2801950" lvl="3" indent="-45720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two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greaterthan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one</a:t>
            </a:r>
            <a:endParaRPr lang="en-US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960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8408" y="101031"/>
            <a:ext cx="9475914" cy="1335973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27"/>
              </a:spcBef>
            </a:pPr>
            <a:r>
              <a:rPr spc="-7" dirty="0"/>
              <a:t>DECLARATIVE</a:t>
            </a:r>
            <a:r>
              <a:rPr spc="-33" dirty="0"/>
              <a:t> </a:t>
            </a:r>
            <a:r>
              <a:rPr spc="-7" dirty="0"/>
              <a:t>MEANING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FA665E-6B91-753E-8B2D-58DC8D4DC36F}"/>
              </a:ext>
            </a:extLst>
          </p:cNvPr>
          <p:cNvSpPr txBox="1"/>
          <p:nvPr/>
        </p:nvSpPr>
        <p:spPr>
          <a:xfrm>
            <a:off x="568037" y="1437004"/>
            <a:ext cx="14381018" cy="7248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Context 1, writing a program in a file OR at the </a:t>
            </a:r>
            <a:r>
              <a:rPr lang="en-US" b="1" dirty="0"/>
              <a:t>user</a:t>
            </a:r>
            <a:r>
              <a:rPr lang="en-US" dirty="0"/>
              <a:t> pseudofile prompt </a:t>
            </a:r>
            <a:r>
              <a:rPr lang="en-US" b="1" dirty="0"/>
              <a:t>|:</a:t>
            </a:r>
            <a:endParaRPr lang="en-US" dirty="0"/>
          </a:p>
          <a:p>
            <a:endParaRPr lang="en-US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thispred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(arg1, X)</a:t>
            </a:r>
            <a:r>
              <a:rPr lang="en-US" dirty="0"/>
              <a:t>.</a:t>
            </a:r>
          </a:p>
          <a:p>
            <a:pPr marL="1238783" lvl="1" indent="-457200">
              <a:buFont typeface="Arial" panose="020B0604020202020204" pitchFamily="34" charset="0"/>
              <a:buChar char="•"/>
            </a:pPr>
            <a:r>
              <a:rPr lang="en-US" dirty="0"/>
              <a:t>Means in English that (any or all of these)</a:t>
            </a:r>
          </a:p>
          <a:p>
            <a:pPr marL="1238783" lvl="1" indent="-457200">
              <a:buFont typeface="Arial" panose="020B0604020202020204" pitchFamily="34" charset="0"/>
              <a:buChar char="•"/>
            </a:pPr>
            <a:r>
              <a:rPr lang="en-US" dirty="0">
                <a:cs typeface="Courier New" panose="02070309020205020404" pitchFamily="49" charset="0"/>
              </a:rPr>
              <a:t>For all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cs typeface="Courier New" panose="02070309020205020404" pitchFamily="49" charset="0"/>
              </a:rPr>
              <a:t>, </a:t>
            </a:r>
            <a:r>
              <a:rPr lang="en-US" dirty="0" err="1">
                <a:cs typeface="Courier New" panose="02070309020205020404" pitchFamily="49" charset="0"/>
              </a:rPr>
              <a:t>thispred</a:t>
            </a:r>
            <a:r>
              <a:rPr lang="en-US" dirty="0"/>
              <a:t> is true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arg1</a:t>
            </a:r>
            <a:r>
              <a:rPr lang="en-US" dirty="0">
                <a:cs typeface="Courier New" panose="02070309020205020404" pitchFamily="49" charset="0"/>
              </a:rPr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cs typeface="Courier New" panose="02070309020205020404" pitchFamily="49" charset="0"/>
              </a:rPr>
              <a:t> no matter what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cs typeface="Courier New" panose="02070309020205020404" pitchFamily="49" charset="0"/>
              </a:rPr>
              <a:t> is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020367" lvl="2" indent="-457200">
              <a:buFont typeface="Arial" panose="020B0604020202020204" pitchFamily="34" charset="0"/>
              <a:buChar char="•"/>
            </a:pPr>
            <a:r>
              <a:rPr lang="en-US" dirty="0">
                <a:cs typeface="Courier New" panose="02070309020205020404" pitchFamily="49" charset="0"/>
              </a:rPr>
              <a:t>Example: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parent(bill, X).</a:t>
            </a:r>
          </a:p>
          <a:p>
            <a:pPr marL="2801950" lvl="3" indent="-45720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bill</a:t>
            </a:r>
            <a:r>
              <a:rPr lang="en-US" dirty="0">
                <a:cs typeface="Courier New" panose="02070309020205020404" pitchFamily="49" charset="0"/>
              </a:rPr>
              <a:t> is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parent</a:t>
            </a:r>
            <a:r>
              <a:rPr lang="en-US" dirty="0">
                <a:cs typeface="Courier New" panose="02070309020205020404" pitchFamily="49" charset="0"/>
              </a:rPr>
              <a:t> of </a:t>
            </a:r>
            <a:r>
              <a:rPr lang="en-US" dirty="0" err="1">
                <a:cs typeface="Courier New" panose="02070309020205020404" pitchFamily="49" charset="0"/>
              </a:rPr>
              <a:t>everbody</a:t>
            </a:r>
            <a:endParaRPr lang="en-US" dirty="0">
              <a:cs typeface="Courier New" panose="02070309020205020404" pitchFamily="49" charset="0"/>
            </a:endParaRPr>
          </a:p>
          <a:p>
            <a:pPr marL="2801950" lvl="3" indent="-45720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bill</a:t>
            </a:r>
            <a:r>
              <a:rPr lang="en-US" dirty="0">
                <a:cs typeface="Courier New" panose="02070309020205020404" pitchFamily="49" charset="0"/>
              </a:rPr>
              <a:t> is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parent</a:t>
            </a:r>
            <a:r>
              <a:rPr lang="en-US" dirty="0">
                <a:cs typeface="Courier New" panose="02070309020205020404" pitchFamily="49" charset="0"/>
              </a:rPr>
              <a:t>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cs typeface="Courier New" panose="02070309020205020404" pitchFamily="49" charset="0"/>
              </a:rPr>
              <a:t> no matter what/who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cs typeface="Courier New" panose="02070309020205020404" pitchFamily="49" charset="0"/>
              </a:rPr>
              <a:t> 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thispred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(X, arg2)</a:t>
            </a:r>
            <a:r>
              <a:rPr lang="en-US" dirty="0"/>
              <a:t>.</a:t>
            </a:r>
          </a:p>
          <a:p>
            <a:pPr marL="1238783" lvl="1" indent="-457200">
              <a:buFont typeface="Arial" panose="020B0604020202020204" pitchFamily="34" charset="0"/>
              <a:buChar char="•"/>
            </a:pPr>
            <a:r>
              <a:rPr lang="en-US" dirty="0"/>
              <a:t>Means in English that (any or all of these)</a:t>
            </a:r>
          </a:p>
          <a:p>
            <a:pPr marL="1238783" lvl="1" indent="-457200">
              <a:buFont typeface="Arial" panose="020B0604020202020204" pitchFamily="34" charset="0"/>
              <a:buChar char="•"/>
            </a:pPr>
            <a:r>
              <a:rPr lang="en-US" dirty="0">
                <a:cs typeface="Courier New" panose="02070309020205020404" pitchFamily="49" charset="0"/>
              </a:rPr>
              <a:t>For all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cs typeface="Courier New" panose="02070309020205020404" pitchFamily="49" charset="0"/>
              </a:rPr>
              <a:t>, </a:t>
            </a:r>
            <a:r>
              <a:rPr lang="en-US" dirty="0" err="1">
                <a:cs typeface="Courier New" panose="02070309020205020404" pitchFamily="49" charset="0"/>
              </a:rPr>
              <a:t>thispred</a:t>
            </a:r>
            <a:r>
              <a:rPr lang="en-US" dirty="0"/>
              <a:t> is true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cs typeface="Courier New" panose="02070309020205020404" pitchFamily="49" charset="0"/>
              </a:rPr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arg2</a:t>
            </a:r>
            <a:r>
              <a:rPr lang="en-US" dirty="0">
                <a:cs typeface="Courier New" panose="02070309020205020404" pitchFamily="49" charset="0"/>
              </a:rPr>
              <a:t> no matter what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cs typeface="Courier New" panose="02070309020205020404" pitchFamily="49" charset="0"/>
              </a:rPr>
              <a:t> is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020367" lvl="2" indent="-457200">
              <a:buFont typeface="Arial" panose="020B0604020202020204" pitchFamily="34" charset="0"/>
              <a:buChar char="•"/>
            </a:pPr>
            <a:r>
              <a:rPr lang="en-US" dirty="0">
                <a:cs typeface="Courier New" panose="02070309020205020404" pitchFamily="49" charset="0"/>
              </a:rPr>
              <a:t>Example: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parent(X, bill).</a:t>
            </a:r>
          </a:p>
          <a:p>
            <a:pPr marL="2801950" lvl="3" indent="-45720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everybody</a:t>
            </a:r>
            <a:r>
              <a:rPr lang="en-US" dirty="0">
                <a:cs typeface="Courier New" panose="02070309020205020404" pitchFamily="49" charset="0"/>
              </a:rPr>
              <a:t> is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parent</a:t>
            </a:r>
            <a:r>
              <a:rPr lang="en-US" dirty="0">
                <a:cs typeface="Courier New" panose="02070309020205020404" pitchFamily="49" charset="0"/>
              </a:rPr>
              <a:t>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bill</a:t>
            </a:r>
          </a:p>
          <a:p>
            <a:pPr marL="2801950" lvl="3" indent="-45720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cs typeface="Courier New" panose="02070309020205020404" pitchFamily="49" charset="0"/>
              </a:rPr>
              <a:t> is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parent</a:t>
            </a:r>
            <a:r>
              <a:rPr lang="en-US" dirty="0">
                <a:cs typeface="Courier New" panose="02070309020205020404" pitchFamily="49" charset="0"/>
              </a:rPr>
              <a:t>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bill</a:t>
            </a:r>
            <a:r>
              <a:rPr lang="en-US" dirty="0">
                <a:cs typeface="Courier New" panose="02070309020205020404" pitchFamily="49" charset="0"/>
              </a:rPr>
              <a:t> no matter what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cs typeface="Courier New" panose="02070309020205020404" pitchFamily="49" charset="0"/>
              </a:rPr>
              <a:t> is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01950" lvl="3" indent="-457200">
              <a:buFont typeface="Arial" panose="020B0604020202020204" pitchFamily="34" charset="0"/>
              <a:buChar char="•"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34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8408" y="101031"/>
            <a:ext cx="9475914" cy="1335973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27"/>
              </a:spcBef>
            </a:pPr>
            <a:r>
              <a:rPr spc="-7" dirty="0"/>
              <a:t>DECLARATIVE</a:t>
            </a:r>
            <a:r>
              <a:rPr spc="-33" dirty="0"/>
              <a:t> </a:t>
            </a:r>
            <a:r>
              <a:rPr spc="-7" dirty="0"/>
              <a:t>MEANING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FA665E-6B91-753E-8B2D-58DC8D4DC36F}"/>
              </a:ext>
            </a:extLst>
          </p:cNvPr>
          <p:cNvSpPr txBox="1"/>
          <p:nvPr/>
        </p:nvSpPr>
        <p:spPr>
          <a:xfrm>
            <a:off x="568037" y="1437004"/>
            <a:ext cx="15572508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Context 1, writing a program in a file OR at the </a:t>
            </a:r>
            <a:r>
              <a:rPr lang="en-US" b="1" dirty="0"/>
              <a:t>user</a:t>
            </a:r>
            <a:r>
              <a:rPr lang="en-US" dirty="0"/>
              <a:t> pseudofile prompt </a:t>
            </a:r>
            <a:r>
              <a:rPr lang="en-US" b="1" dirty="0"/>
              <a:t>|:</a:t>
            </a:r>
            <a:endParaRPr lang="en-US" dirty="0"/>
          </a:p>
          <a:p>
            <a:endParaRPr lang="en-US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thispred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(X, Y)</a:t>
            </a:r>
            <a:r>
              <a:rPr lang="en-US" dirty="0"/>
              <a:t>.</a:t>
            </a:r>
          </a:p>
          <a:p>
            <a:pPr marL="1238783" lvl="1" indent="-457200">
              <a:buFont typeface="Arial" panose="020B0604020202020204" pitchFamily="34" charset="0"/>
              <a:buChar char="•"/>
            </a:pPr>
            <a:r>
              <a:rPr lang="en-US" dirty="0"/>
              <a:t>Means in English that (any or all of these)</a:t>
            </a:r>
          </a:p>
          <a:p>
            <a:pPr marL="1238783" lvl="1" indent="-457200">
              <a:buFont typeface="Arial" panose="020B0604020202020204" pitchFamily="34" charset="0"/>
              <a:buChar char="•"/>
            </a:pPr>
            <a:r>
              <a:rPr lang="en-US" dirty="0"/>
              <a:t>We would </a:t>
            </a:r>
            <a:r>
              <a:rPr lang="en-US" b="1" dirty="0"/>
              <a:t>not want </a:t>
            </a:r>
            <a:r>
              <a:rPr lang="en-US" dirty="0"/>
              <a:t>to say this.</a:t>
            </a:r>
          </a:p>
          <a:p>
            <a:pPr marL="1238783" lvl="1" indent="-457200">
              <a:buFont typeface="Arial" panose="020B0604020202020204" pitchFamily="34" charset="0"/>
              <a:buChar char="•"/>
            </a:pPr>
            <a:r>
              <a:rPr lang="en-US" dirty="0">
                <a:cs typeface="Courier New" panose="02070309020205020404" pitchFamily="49" charset="0"/>
              </a:rPr>
              <a:t>For all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cs typeface="Courier New" panose="02070309020205020404" pitchFamily="49" charset="0"/>
              </a:rPr>
              <a:t>, for all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dirty="0">
                <a:cs typeface="Courier New" panose="02070309020205020404" pitchFamily="49" charset="0"/>
              </a:rPr>
              <a:t> </a:t>
            </a:r>
            <a:r>
              <a:rPr lang="en-US" dirty="0" err="1">
                <a:cs typeface="Courier New" panose="02070309020205020404" pitchFamily="49" charset="0"/>
              </a:rPr>
              <a:t>thispred</a:t>
            </a:r>
            <a:r>
              <a:rPr lang="en-US" dirty="0"/>
              <a:t> is true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cs typeface="Courier New" panose="02070309020205020404" pitchFamily="49" charset="0"/>
              </a:rPr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dirty="0">
                <a:cs typeface="Courier New" panose="02070309020205020404" pitchFamily="49" charset="0"/>
              </a:rPr>
              <a:t> no matter what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cs typeface="Courier New" panose="02070309020205020404" pitchFamily="49" charset="0"/>
              </a:rPr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dirty="0">
                <a:cs typeface="Courier New" panose="02070309020205020404" pitchFamily="49" charset="0"/>
              </a:rPr>
              <a:t> are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020367" lvl="2" indent="-457200">
              <a:buFont typeface="Arial" panose="020B0604020202020204" pitchFamily="34" charset="0"/>
              <a:buChar char="•"/>
            </a:pPr>
            <a:r>
              <a:rPr lang="en-US" dirty="0">
                <a:cs typeface="Courier New" panose="02070309020205020404" pitchFamily="49" charset="0"/>
              </a:rPr>
              <a:t>Example: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parent(X, Y).</a:t>
            </a:r>
          </a:p>
          <a:p>
            <a:pPr marL="2801950" lvl="3" indent="-457200">
              <a:buFont typeface="Arial" panose="020B0604020202020204" pitchFamily="34" charset="0"/>
              <a:buChar char="•"/>
            </a:pPr>
            <a:r>
              <a:rPr lang="en-US" dirty="0">
                <a:cs typeface="Courier New" panose="02070309020205020404" pitchFamily="49" charset="0"/>
              </a:rPr>
              <a:t>everybody is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parent</a:t>
            </a:r>
            <a:r>
              <a:rPr lang="en-US" dirty="0">
                <a:cs typeface="Courier New" panose="02070309020205020404" pitchFamily="49" charset="0"/>
              </a:rPr>
              <a:t> of </a:t>
            </a:r>
            <a:r>
              <a:rPr lang="en-US" dirty="0" err="1">
                <a:cs typeface="Courier New" panose="02070309020205020404" pitchFamily="49" charset="0"/>
              </a:rPr>
              <a:t>everbody</a:t>
            </a:r>
            <a:endParaRPr lang="en-US" dirty="0">
              <a:cs typeface="Courier New" panose="02070309020205020404" pitchFamily="49" charset="0"/>
            </a:endParaRPr>
          </a:p>
          <a:p>
            <a:pPr marL="2801950" lvl="3" indent="-45720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cs typeface="Courier New" panose="02070309020205020404" pitchFamily="49" charset="0"/>
              </a:rPr>
              <a:t> is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parent</a:t>
            </a:r>
            <a:r>
              <a:rPr lang="en-US" dirty="0">
                <a:cs typeface="Courier New" panose="02070309020205020404" pitchFamily="49" charset="0"/>
              </a:rPr>
              <a:t>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dirty="0">
                <a:cs typeface="Courier New" panose="02070309020205020404" pitchFamily="49" charset="0"/>
              </a:rPr>
              <a:t> no matter what/who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cs typeface="Courier New" panose="02070309020205020404" pitchFamily="49" charset="0"/>
              </a:rPr>
              <a:t> is and no matter what/who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dirty="0">
                <a:cs typeface="Courier New" panose="02070309020205020404" pitchFamily="49" charset="0"/>
              </a:rPr>
              <a:t> 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cs typeface="Courier New" panose="02070309020205020404" pitchFamily="49" charset="0"/>
              </a:rPr>
              <a:t>Note that X and Y are both singleton variables in this case, so we could rewrite it as below and it means the same thing: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thispred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(_, _)</a:t>
            </a:r>
            <a:r>
              <a:rPr lang="en-US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>
              <a:cs typeface="Courier New" panose="02070309020205020404" pitchFamily="49" charset="0"/>
            </a:endParaRPr>
          </a:p>
          <a:p>
            <a:pPr lvl="3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370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8408" y="101031"/>
            <a:ext cx="9475914" cy="1335973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27"/>
              </a:spcBef>
            </a:pPr>
            <a:r>
              <a:rPr spc="-7" dirty="0"/>
              <a:t>DECLARATIVE</a:t>
            </a:r>
            <a:r>
              <a:rPr spc="-33" dirty="0"/>
              <a:t> </a:t>
            </a:r>
            <a:r>
              <a:rPr spc="-7" dirty="0"/>
              <a:t>MEANING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FA665E-6B91-753E-8B2D-58DC8D4DC36F}"/>
              </a:ext>
            </a:extLst>
          </p:cNvPr>
          <p:cNvSpPr txBox="1"/>
          <p:nvPr/>
        </p:nvSpPr>
        <p:spPr>
          <a:xfrm>
            <a:off x="568036" y="1437004"/>
            <a:ext cx="15475527" cy="6647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Context 1, writing a program in a file OR at the </a:t>
            </a:r>
            <a:r>
              <a:rPr lang="en-US" b="1" dirty="0"/>
              <a:t>user</a:t>
            </a:r>
            <a:r>
              <a:rPr lang="en-US" dirty="0"/>
              <a:t> pseudofile prompt </a:t>
            </a:r>
            <a:r>
              <a:rPr lang="en-US" b="1" dirty="0"/>
              <a:t>|:</a:t>
            </a:r>
            <a:endParaRPr lang="en-US" dirty="0"/>
          </a:p>
          <a:p>
            <a:endParaRPr lang="en-US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thispred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(X, Y)</a:t>
            </a:r>
            <a:r>
              <a:rPr lang="en-US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:-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this(X)</a:t>
            </a:r>
            <a:r>
              <a:rPr lang="en-US" b="1" dirty="0">
                <a:highlight>
                  <a:srgbClr val="7AC143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that(Y)</a:t>
            </a:r>
            <a:r>
              <a:rPr lang="en-US" b="1" dirty="0"/>
              <a:t>.</a:t>
            </a:r>
          </a:p>
          <a:p>
            <a:pPr marL="1238783" lvl="1" indent="-457200">
              <a:buFont typeface="Arial" panose="020B0604020202020204" pitchFamily="34" charset="0"/>
              <a:buChar char="•"/>
            </a:pPr>
            <a:r>
              <a:rPr lang="en-US" dirty="0"/>
              <a:t>Means in English that</a:t>
            </a:r>
          </a:p>
          <a:p>
            <a:pPr marL="1238783" lvl="1" indent="-457200">
              <a:buFont typeface="Arial" panose="020B0604020202020204" pitchFamily="34" charset="0"/>
              <a:buChar char="•"/>
            </a:pPr>
            <a:r>
              <a:rPr lang="en-US" dirty="0">
                <a:cs typeface="Courier New" panose="02070309020205020404" pitchFamily="49" charset="0"/>
              </a:rPr>
              <a:t>For all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cs typeface="Courier New" panose="02070309020205020404" pitchFamily="49" charset="0"/>
              </a:rPr>
              <a:t>, for all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dirty="0"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thispred</a:t>
            </a:r>
            <a:r>
              <a:rPr lang="en-US" dirty="0"/>
              <a:t> is true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cs typeface="Courier New" panose="02070309020205020404" pitchFamily="49" charset="0"/>
              </a:rPr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dirty="0">
                <a:cs typeface="Courier New" panose="02070309020205020404" pitchFamily="49" charset="0"/>
              </a:rPr>
              <a:t> no matter what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cs typeface="Courier New" panose="02070309020205020404" pitchFamily="49" charset="0"/>
              </a:rPr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dirty="0">
                <a:cs typeface="Courier New" panose="02070309020205020404" pitchFamily="49" charset="0"/>
              </a:rPr>
              <a:t> are </a:t>
            </a:r>
            <a:r>
              <a:rPr lang="en-US" sz="4000" dirty="0">
                <a:highlight>
                  <a:srgbClr val="FFFF00"/>
                </a:highlight>
                <a:cs typeface="Courier New" panose="02070309020205020404" pitchFamily="49" charset="0"/>
              </a:rPr>
              <a:t>if</a:t>
            </a:r>
            <a:r>
              <a:rPr lang="en-US" sz="3200" dirty="0">
                <a:highlight>
                  <a:srgbClr val="FFFF00"/>
                </a:highlight>
                <a:cs typeface="Courier New" panose="02070309020205020404" pitchFamily="49" charset="0"/>
              </a:rPr>
              <a:t> </a:t>
            </a:r>
            <a:r>
              <a:rPr lang="en-US" sz="3200" dirty="0">
                <a:cs typeface="Courier New" panose="02070309020205020404" pitchFamily="49" charset="0"/>
              </a:rPr>
              <a:t> </a:t>
            </a:r>
          </a:p>
          <a:p>
            <a:pPr lvl="1"/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    this(X)</a:t>
            </a:r>
            <a:r>
              <a:rPr lang="en-US" sz="3200" dirty="0">
                <a:cs typeface="Courier New" panose="02070309020205020404" pitchFamily="49" charset="0"/>
              </a:rPr>
              <a:t> is true </a:t>
            </a:r>
            <a:r>
              <a:rPr lang="en-US" sz="4400" dirty="0">
                <a:highlight>
                  <a:srgbClr val="7AC143"/>
                </a:highlight>
                <a:cs typeface="Courier New" panose="02070309020205020404" pitchFamily="49" charset="0"/>
              </a:rPr>
              <a:t>and</a:t>
            </a:r>
            <a:r>
              <a:rPr lang="en-US" sz="3200" dirty="0">
                <a:cs typeface="Courier New" panose="02070309020205020404" pitchFamily="49" charset="0"/>
              </a:rPr>
              <a:t> 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that(Y)</a:t>
            </a:r>
            <a:r>
              <a:rPr lang="en-US" sz="3200" dirty="0">
                <a:cs typeface="Courier New" panose="02070309020205020404" pitchFamily="49" charset="0"/>
              </a:rPr>
              <a:t> is true.</a:t>
            </a:r>
            <a:endParaRPr lang="en-US" sz="3200" dirty="0">
              <a:highlight>
                <a:srgbClr val="FFFF00"/>
              </a:highlight>
              <a:cs typeface="Courier New" panose="02070309020205020404" pitchFamily="49" charset="0"/>
            </a:endParaRPr>
          </a:p>
          <a:p>
            <a:pPr lvl="1"/>
            <a:r>
              <a:rPr lang="en-US" sz="3200" dirty="0">
                <a:highlight>
                  <a:srgbClr val="FFFF00"/>
                </a:highlight>
                <a:cs typeface="Courier New" panose="02070309020205020404" pitchFamily="49" charset="0"/>
              </a:rPr>
              <a:t>          </a:t>
            </a:r>
            <a:endParaRPr lang="en-US" sz="4000" dirty="0">
              <a:highlight>
                <a:srgbClr val="FFFF00"/>
              </a:highlight>
              <a:cs typeface="Courier New" panose="02070309020205020404" pitchFamily="49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cs typeface="Courier New" panose="02070309020205020404" pitchFamily="49" charset="0"/>
              </a:rPr>
              <a:t>Note that neither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cs typeface="Courier New" panose="02070309020205020404" pitchFamily="49" charset="0"/>
              </a:rPr>
              <a:t> nor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dirty="0">
                <a:cs typeface="Courier New" panose="02070309020205020404" pitchFamily="49" charset="0"/>
              </a:rPr>
              <a:t> are singleton variables in this case, because they each appear more than once in the clause.  The two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cs typeface="Courier New" panose="02070309020205020404" pitchFamily="49" charset="0"/>
              </a:rPr>
              <a:t>'s have to be the same thing, and the two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dirty="0">
                <a:cs typeface="Courier New" panose="02070309020205020404" pitchFamily="49" charset="0"/>
              </a:rPr>
              <a:t>'s have to be the same thing.</a:t>
            </a:r>
          </a:p>
          <a:p>
            <a:pPr lvl="3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6158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8408" y="101031"/>
            <a:ext cx="9475914" cy="1335973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27"/>
              </a:spcBef>
            </a:pPr>
            <a:r>
              <a:rPr spc="-7" dirty="0"/>
              <a:t>DECLARATIVE</a:t>
            </a:r>
            <a:r>
              <a:rPr spc="-33" dirty="0"/>
              <a:t> </a:t>
            </a:r>
            <a:r>
              <a:rPr spc="-7" dirty="0"/>
              <a:t>MEANING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FA665E-6B91-753E-8B2D-58DC8D4DC36F}"/>
              </a:ext>
            </a:extLst>
          </p:cNvPr>
          <p:cNvSpPr txBox="1"/>
          <p:nvPr/>
        </p:nvSpPr>
        <p:spPr>
          <a:xfrm>
            <a:off x="568036" y="909459"/>
            <a:ext cx="15475527" cy="7325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Context 1, writing a program in a file OR at the </a:t>
            </a:r>
            <a:r>
              <a:rPr lang="en-US" b="1" dirty="0"/>
              <a:t>user</a:t>
            </a:r>
            <a:r>
              <a:rPr lang="en-US" dirty="0"/>
              <a:t> pseudofile prompt </a:t>
            </a:r>
            <a:r>
              <a:rPr lang="en-US" b="1" dirty="0"/>
              <a:t>|:</a:t>
            </a:r>
            <a:endParaRPr lang="en-US" dirty="0"/>
          </a:p>
          <a:p>
            <a:endParaRPr lang="en-US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thispred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(X, Y)</a:t>
            </a:r>
            <a:r>
              <a:rPr lang="en-US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:-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this(X,Y)</a:t>
            </a:r>
            <a:r>
              <a:rPr lang="en-US" b="1" dirty="0">
                <a:highlight>
                  <a:srgbClr val="7AC143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that(X,Y)</a:t>
            </a:r>
            <a:r>
              <a:rPr lang="en-US" b="1" dirty="0"/>
              <a:t>.</a:t>
            </a:r>
          </a:p>
          <a:p>
            <a:pPr marL="1238783" lvl="1" indent="-457200">
              <a:buFont typeface="Arial" panose="020B0604020202020204" pitchFamily="34" charset="0"/>
              <a:buChar char="•"/>
            </a:pPr>
            <a:r>
              <a:rPr lang="en-US" dirty="0"/>
              <a:t>Means in English that</a:t>
            </a:r>
          </a:p>
          <a:p>
            <a:pPr marL="1238783" lvl="1" indent="-45720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thispred</a:t>
            </a:r>
            <a:r>
              <a:rPr lang="en-US" dirty="0"/>
              <a:t> is true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cs typeface="Courier New" panose="02070309020205020404" pitchFamily="49" charset="0"/>
              </a:rPr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dirty="0">
                <a:cs typeface="Courier New" panose="02070309020205020404" pitchFamily="49" charset="0"/>
              </a:rPr>
              <a:t> </a:t>
            </a:r>
            <a:r>
              <a:rPr lang="en-US" sz="4000" dirty="0">
                <a:highlight>
                  <a:srgbClr val="FFFF00"/>
                </a:highlight>
                <a:cs typeface="Courier New" panose="02070309020205020404" pitchFamily="49" charset="0"/>
              </a:rPr>
              <a:t>if</a:t>
            </a:r>
            <a:r>
              <a:rPr lang="en-US" sz="3200" dirty="0">
                <a:highlight>
                  <a:srgbClr val="FFFF00"/>
                </a:highlight>
                <a:cs typeface="Courier New" panose="02070309020205020404" pitchFamily="49" charset="0"/>
              </a:rPr>
              <a:t> </a:t>
            </a:r>
            <a:r>
              <a:rPr lang="en-US" sz="3200" dirty="0">
                <a:cs typeface="Courier New" panose="02070309020205020404" pitchFamily="49" charset="0"/>
              </a:rPr>
              <a:t> </a:t>
            </a:r>
          </a:p>
          <a:p>
            <a:pPr lvl="1"/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    this(X,Y)</a:t>
            </a:r>
            <a:r>
              <a:rPr lang="en-US" sz="3200" dirty="0">
                <a:cs typeface="Courier New" panose="02070309020205020404" pitchFamily="49" charset="0"/>
              </a:rPr>
              <a:t> is true </a:t>
            </a:r>
            <a:r>
              <a:rPr lang="en-US" sz="4400" dirty="0">
                <a:highlight>
                  <a:srgbClr val="7AC143"/>
                </a:highlight>
                <a:cs typeface="Courier New" panose="02070309020205020404" pitchFamily="49" charset="0"/>
              </a:rPr>
              <a:t>or</a:t>
            </a:r>
            <a:r>
              <a:rPr lang="en-US" sz="3200" dirty="0">
                <a:cs typeface="Courier New" panose="02070309020205020404" pitchFamily="49" charset="0"/>
              </a:rPr>
              <a:t> 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that(X,Y)</a:t>
            </a:r>
            <a:r>
              <a:rPr lang="en-US" sz="3200" dirty="0">
                <a:cs typeface="Courier New" panose="02070309020205020404" pitchFamily="49" charset="0"/>
              </a:rPr>
              <a:t> is true.</a:t>
            </a:r>
            <a:endParaRPr lang="en-US" sz="3200" dirty="0">
              <a:highlight>
                <a:srgbClr val="FFFF00"/>
              </a:highlight>
              <a:cs typeface="Courier New" panose="02070309020205020404" pitchFamily="49" charset="0"/>
            </a:endParaRPr>
          </a:p>
          <a:p>
            <a:pPr lvl="1"/>
            <a:r>
              <a:rPr lang="en-US" sz="3200" dirty="0">
                <a:highlight>
                  <a:srgbClr val="FFFF00"/>
                </a:highlight>
                <a:cs typeface="Courier New" panose="02070309020205020404" pitchFamily="49" charset="0"/>
              </a:rPr>
              <a:t>          </a:t>
            </a:r>
            <a:endParaRPr lang="en-US" sz="4000" dirty="0">
              <a:highlight>
                <a:srgbClr val="FFFF00"/>
              </a:highlight>
              <a:cs typeface="Courier New" panose="02070309020205020404" pitchFamily="49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cs typeface="Courier New" panose="02070309020205020404" pitchFamily="49" charset="0"/>
              </a:rPr>
              <a:t>The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423F3F"/>
                </a:solidFill>
                <a:effectLst/>
                <a:highlight>
                  <a:srgbClr val="7AC143"/>
                </a:highlight>
                <a:uLnTx/>
                <a:uFillTx/>
                <a:latin typeface="Arial"/>
                <a:ea typeface="+mn-ea"/>
                <a:cs typeface="Courier New" panose="02070309020205020404" pitchFamily="49" charset="0"/>
              </a:rPr>
              <a:t>or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423F3F"/>
                </a:solidFill>
                <a:effectLst/>
                <a:highlight>
                  <a:srgbClr val="7AC143"/>
                </a:highlight>
                <a:uLnTx/>
                <a:uFillTx/>
                <a:latin typeface="Arial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423F3F"/>
                </a:solidFill>
                <a:effectLst/>
                <a:uLnTx/>
                <a:uFillTx/>
                <a:latin typeface="Arial"/>
                <a:ea typeface="+mn-ea"/>
                <a:cs typeface="Courier New" panose="02070309020205020404" pitchFamily="49" charset="0"/>
              </a:rPr>
              <a:t>character is optional.  We could rewrite as two clauses without the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423F3F"/>
                </a:solidFill>
                <a:effectLst/>
                <a:highlight>
                  <a:srgbClr val="7AC143"/>
                </a:highlight>
                <a:uLnTx/>
                <a:uFillTx/>
                <a:latin typeface="Arial"/>
                <a:ea typeface="+mn-ea"/>
                <a:cs typeface="Courier New" panose="02070309020205020404" pitchFamily="49" charset="0"/>
              </a:rPr>
              <a:t>or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423F3F"/>
                </a:solidFill>
                <a:effectLst/>
                <a:uLnTx/>
                <a:uFillTx/>
                <a:latin typeface="Arial"/>
                <a:ea typeface="+mn-ea"/>
                <a:cs typeface="Courier New" panose="02070309020205020404" pitchFamily="49" charset="0"/>
              </a:rPr>
              <a:t> </a:t>
            </a:r>
            <a:endParaRPr lang="en-US" dirty="0"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thispred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(X, Y)</a:t>
            </a:r>
            <a:r>
              <a:rPr lang="en-US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:-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this(X,Y).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thispred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(X, Y)</a:t>
            </a:r>
            <a:r>
              <a:rPr lang="en-US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:-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that(X,Y).</a:t>
            </a:r>
          </a:p>
        </p:txBody>
      </p:sp>
    </p:spTree>
    <p:extLst>
      <p:ext uri="{BB962C8B-B14F-4D97-AF65-F5344CB8AC3E}">
        <p14:creationId xmlns:p14="http://schemas.microsoft.com/office/powerpoint/2010/main" val="653042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023A4-7D25-2849-81F2-33955D143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Prolog List Notation Preview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9A6410-2238-C840-AA84-079042513A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CA" dirty="0"/>
              <a:t>Examples of lists: </a:t>
            </a:r>
          </a:p>
          <a:p>
            <a:r>
              <a:rPr lang="en-CA" dirty="0"/>
              <a:t> [ a, b, c, d]</a:t>
            </a:r>
            <a:br>
              <a:rPr lang="en-CA" dirty="0"/>
            </a:br>
            <a:r>
              <a:rPr lang="en-CA" dirty="0"/>
              <a:t> []</a:t>
            </a:r>
            <a:br>
              <a:rPr lang="en-CA" dirty="0"/>
            </a:br>
            <a:r>
              <a:rPr lang="en-CA" dirty="0"/>
              <a:t> [ </a:t>
            </a:r>
            <a:r>
              <a:rPr lang="en-CA" dirty="0" err="1"/>
              <a:t>ann</a:t>
            </a:r>
            <a:r>
              <a:rPr lang="en-CA" dirty="0"/>
              <a:t>, tennis, tom, running]</a:t>
            </a:r>
            <a:br>
              <a:rPr lang="en-CA" dirty="0"/>
            </a:br>
            <a:r>
              <a:rPr lang="en-CA" dirty="0"/>
              <a:t> [ link(</a:t>
            </a:r>
            <a:r>
              <a:rPr lang="en-CA" dirty="0" err="1"/>
              <a:t>a,b</a:t>
            </a:r>
            <a:r>
              <a:rPr lang="en-CA" dirty="0"/>
              <a:t>), link(</a:t>
            </a:r>
            <a:r>
              <a:rPr lang="en-CA" dirty="0" err="1"/>
              <a:t>a,c</a:t>
            </a:r>
            <a:r>
              <a:rPr lang="en-CA" dirty="0"/>
              <a:t>), link(</a:t>
            </a:r>
            <a:r>
              <a:rPr lang="en-CA" dirty="0" err="1"/>
              <a:t>b,d</a:t>
            </a:r>
            <a:r>
              <a:rPr lang="en-CA" dirty="0"/>
              <a:t>)]</a:t>
            </a:r>
          </a:p>
          <a:p>
            <a:r>
              <a:rPr lang="en-CA" dirty="0"/>
              <a:t> [ a, [</a:t>
            </a:r>
            <a:r>
              <a:rPr lang="en-CA" dirty="0" err="1"/>
              <a:t>b,c</a:t>
            </a:r>
            <a:r>
              <a:rPr lang="en-CA" dirty="0"/>
              <a:t>], d, [ ], [</a:t>
            </a:r>
            <a:r>
              <a:rPr lang="en-CA" dirty="0" err="1"/>
              <a:t>a,a,a</a:t>
            </a:r>
            <a:r>
              <a:rPr lang="en-CA" dirty="0"/>
              <a:t>], f(X,Y) ] 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E93FEB-A175-4A44-96BA-9153C0B271F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997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44DCD-D871-D646-807C-9BA3998FB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 and Tail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EFB9C-0272-674E-B8EB-E701A49699E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939636"/>
            <a:ext cx="11615780" cy="55956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/>
              <a:t>L = [ a, b, c, d]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CA" dirty="0"/>
              <a:t> a is head of L 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CA" dirty="0"/>
              <a:t>[ b, c, d] is tail of 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/>
              <a:t>More notation, vertical bar: 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CA" dirty="0"/>
              <a:t>L = [ Head | Tail] 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CA" dirty="0"/>
              <a:t>L = [ a, b, c] = [ a | [ b, c]] = [ a, b | [ c]] = [ a, b, c | [ ] ] 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282C7B-8B58-4646-9795-C3528456564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806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577" y="285694"/>
            <a:ext cx="15444707" cy="1493572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086" marR="6773" algn="ctr">
              <a:lnSpc>
                <a:spcPct val="100000"/>
              </a:lnSpc>
              <a:spcBef>
                <a:spcPts val="127"/>
              </a:spcBef>
            </a:pPr>
            <a:r>
              <a:rPr spc="-7" dirty="0"/>
              <a:t>PROCEDURAL </a:t>
            </a:r>
            <a:r>
              <a:rPr spc="-1167" dirty="0"/>
              <a:t> </a:t>
            </a:r>
            <a:r>
              <a:rPr lang="en-US" dirty="0"/>
              <a:t>INTERPRETATION</a:t>
            </a:r>
            <a:r>
              <a:rPr spc="-7" dirty="0"/>
              <a:t> </a:t>
            </a:r>
            <a:r>
              <a:rPr dirty="0"/>
              <a:t>OF</a:t>
            </a:r>
          </a:p>
          <a:p>
            <a:pPr algn="ctr">
              <a:lnSpc>
                <a:spcPct val="100000"/>
              </a:lnSpc>
              <a:spcBef>
                <a:spcPts val="7"/>
              </a:spcBef>
            </a:pPr>
            <a:r>
              <a:rPr spc="-7" dirty="0"/>
              <a:t>PROLOG</a:t>
            </a:r>
            <a:r>
              <a:rPr spc="-33" dirty="0"/>
              <a:t> </a:t>
            </a:r>
            <a:r>
              <a:rPr spc="-7" dirty="0"/>
              <a:t>PROGRAMS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55205" y="1899366"/>
            <a:ext cx="11352107" cy="3531736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6932">
              <a:spcBef>
                <a:spcPts val="900"/>
              </a:spcBef>
              <a:buClr>
                <a:srgbClr val="FF3300"/>
              </a:buClr>
              <a:buSzPct val="129166"/>
              <a:tabLst>
                <a:tab pos="473275" algn="l"/>
                <a:tab pos="474121" algn="l"/>
              </a:tabLst>
            </a:pPr>
            <a:r>
              <a:rPr lang="en-US" sz="3200" dirty="0">
                <a:latin typeface="Arial"/>
                <a:cs typeface="Arial"/>
              </a:rPr>
              <a:t>The program we write in Prolog doesn't run until we </a:t>
            </a:r>
          </a:p>
          <a:p>
            <a:pPr marL="531282" indent="-514350">
              <a:spcBef>
                <a:spcPts val="900"/>
              </a:spcBef>
              <a:buClr>
                <a:srgbClr val="FF3300"/>
              </a:buClr>
              <a:buSzPct val="129166"/>
              <a:buFont typeface="+mj-lt"/>
              <a:buAutoNum type="arabicPeriod"/>
              <a:tabLst>
                <a:tab pos="473275" algn="l"/>
                <a:tab pos="474121" algn="l"/>
              </a:tabLst>
            </a:pPr>
            <a:r>
              <a:rPr lang="en-US" sz="3200" dirty="0">
                <a:latin typeface="Arial"/>
                <a:cs typeface="Arial"/>
              </a:rPr>
              <a:t>Launch the Prolog interpreter</a:t>
            </a:r>
          </a:p>
          <a:p>
            <a:pPr marL="531282" indent="-514350">
              <a:spcBef>
                <a:spcPts val="900"/>
              </a:spcBef>
              <a:buClr>
                <a:srgbClr val="FF3300"/>
              </a:buClr>
              <a:buSzPct val="129166"/>
              <a:buFont typeface="+mj-lt"/>
              <a:buAutoNum type="arabicPeriod"/>
              <a:tabLst>
                <a:tab pos="473275" algn="l"/>
                <a:tab pos="474121" algn="l"/>
              </a:tabLst>
            </a:pPr>
            <a:r>
              <a:rPr lang="en-US" sz="3200" dirty="0">
                <a:latin typeface="Arial"/>
                <a:cs typeface="Arial"/>
              </a:rPr>
              <a:t>Use 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consult</a:t>
            </a:r>
            <a:r>
              <a:rPr lang="en-US" sz="3200" dirty="0">
                <a:latin typeface="Arial"/>
                <a:cs typeface="Arial"/>
              </a:rPr>
              <a:t> to load our Prolog clauses into the interpreter's</a:t>
            </a:r>
          </a:p>
          <a:p>
            <a:pPr marL="531282" indent="-514350">
              <a:spcBef>
                <a:spcPts val="900"/>
              </a:spcBef>
              <a:buClr>
                <a:srgbClr val="FF3300"/>
              </a:buClr>
              <a:buSzPct val="129166"/>
              <a:buFont typeface="+mj-lt"/>
              <a:buAutoNum type="arabicPeriod"/>
              <a:tabLst>
                <a:tab pos="473275" algn="l"/>
                <a:tab pos="474121" algn="l"/>
              </a:tabLst>
            </a:pPr>
            <a:r>
              <a:rPr lang="en-US" sz="3200" dirty="0">
                <a:latin typeface="Arial"/>
                <a:cs typeface="Arial"/>
              </a:rPr>
              <a:t> issue a query at the </a:t>
            </a:r>
            <a:r>
              <a:rPr lang="en-US" sz="3200" b="1" dirty="0">
                <a:latin typeface="Arial"/>
                <a:cs typeface="Arial"/>
              </a:rPr>
              <a:t>?-</a:t>
            </a:r>
            <a:r>
              <a:rPr lang="en-US" sz="3200" dirty="0">
                <a:latin typeface="Arial"/>
                <a:cs typeface="Arial"/>
              </a:rPr>
              <a:t> prompt, example ?- </a:t>
            </a:r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a,b,c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531282" indent="-514350">
              <a:spcBef>
                <a:spcPts val="900"/>
              </a:spcBef>
              <a:buClr>
                <a:srgbClr val="FF3300"/>
              </a:buClr>
              <a:buSzPct val="129166"/>
              <a:buFont typeface="+mj-lt"/>
              <a:buAutoNum type="arabicPeriod"/>
              <a:tabLst>
                <a:tab pos="473275" algn="l"/>
                <a:tab pos="474121" algn="l"/>
              </a:tabLst>
            </a:pPr>
            <a:r>
              <a:rPr lang="en-US" sz="3200" b="1" dirty="0">
                <a:latin typeface="Arial"/>
                <a:cs typeface="Arial"/>
              </a:rPr>
              <a:t>The interpreter applies the procedural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1442603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577" y="655026"/>
            <a:ext cx="15444707" cy="754908"/>
          </a:xfrm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086" marR="6773" algn="ctr">
              <a:lnSpc>
                <a:spcPct val="100000"/>
              </a:lnSpc>
              <a:spcBef>
                <a:spcPts val="127"/>
              </a:spcBef>
            </a:pPr>
            <a:r>
              <a:rPr spc="-7" dirty="0"/>
              <a:t>PROCEDURAL </a:t>
            </a:r>
            <a:r>
              <a:rPr spc="-1167" dirty="0"/>
              <a:t> </a:t>
            </a:r>
            <a:r>
              <a:rPr lang="en-US" dirty="0"/>
              <a:t>INTERPRETATION</a:t>
            </a:r>
            <a:endParaRPr spc="-7" dirty="0"/>
          </a:p>
        </p:txBody>
      </p:sp>
      <p:sp>
        <p:nvSpPr>
          <p:cNvPr id="3" name="object 3"/>
          <p:cNvSpPr txBox="1"/>
          <p:nvPr/>
        </p:nvSpPr>
        <p:spPr>
          <a:xfrm>
            <a:off x="429491" y="1899366"/>
            <a:ext cx="15444707" cy="8394606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798515" lvl="1">
              <a:spcBef>
                <a:spcPts val="900"/>
              </a:spcBef>
              <a:buClr>
                <a:srgbClr val="FF3300"/>
              </a:buClr>
              <a:buSzPct val="129166"/>
              <a:tabLst>
                <a:tab pos="473275" algn="l"/>
                <a:tab pos="474121" algn="l"/>
              </a:tabLst>
            </a:pPr>
            <a:r>
              <a:rPr lang="en-US" sz="3200" dirty="0">
                <a:latin typeface="Arial"/>
                <a:cs typeface="Arial"/>
              </a:rPr>
              <a:t>Example query are a and b and c true: ?- </a:t>
            </a:r>
            <a:r>
              <a:rPr lang="en-US" sz="3200" dirty="0" err="1">
                <a:latin typeface="Arial"/>
                <a:cs typeface="Arial"/>
              </a:rPr>
              <a:t>a,b,c</a:t>
            </a:r>
            <a:r>
              <a:rPr lang="en-US" sz="3200" dirty="0">
                <a:latin typeface="Arial"/>
                <a:cs typeface="Arial"/>
              </a:rPr>
              <a:t>.</a:t>
            </a:r>
          </a:p>
          <a:p>
            <a:pPr marL="1312865" lvl="1" indent="-514350">
              <a:spcBef>
                <a:spcPts val="900"/>
              </a:spcBef>
              <a:buClr>
                <a:srgbClr val="FF3300"/>
              </a:buClr>
              <a:buSzPct val="129166"/>
              <a:buFont typeface="+mj-lt"/>
              <a:buAutoNum type="arabicPeriod"/>
              <a:tabLst>
                <a:tab pos="473275" algn="l"/>
                <a:tab pos="474121" algn="l"/>
              </a:tabLst>
            </a:pPr>
            <a:endParaRPr lang="en-US" sz="3200" dirty="0">
              <a:latin typeface="Arial"/>
              <a:cs typeface="Arial"/>
            </a:endParaRPr>
          </a:p>
          <a:p>
            <a:pPr marL="1312865" lvl="1" indent="-514350">
              <a:spcBef>
                <a:spcPts val="900"/>
              </a:spcBef>
              <a:buClr>
                <a:srgbClr val="FF3300"/>
              </a:buClr>
              <a:buSzPct val="129166"/>
              <a:buFont typeface="+mj-lt"/>
              <a:buAutoNum type="arabicPeriod"/>
              <a:tabLst>
                <a:tab pos="473275" algn="l"/>
                <a:tab pos="474121" algn="l"/>
              </a:tabLst>
            </a:pPr>
            <a:r>
              <a:rPr lang="en-US" sz="3200" dirty="0">
                <a:latin typeface="Arial"/>
                <a:cs typeface="Arial"/>
              </a:rPr>
              <a:t>If no parts of query remain, return variable binding</a:t>
            </a:r>
          </a:p>
          <a:p>
            <a:pPr marL="1312865" lvl="1" indent="-514350">
              <a:spcBef>
                <a:spcPts val="900"/>
              </a:spcBef>
              <a:buClr>
                <a:srgbClr val="FF3300"/>
              </a:buClr>
              <a:buSzPct val="129166"/>
              <a:buFont typeface="+mj-lt"/>
              <a:buAutoNum type="arabicPeriod"/>
              <a:tabLst>
                <a:tab pos="473275" algn="l"/>
                <a:tab pos="474121" algn="l"/>
              </a:tabLst>
            </a:pPr>
            <a:r>
              <a:rPr lang="en-US" sz="3200" dirty="0">
                <a:latin typeface="Arial"/>
                <a:cs typeface="Arial"/>
              </a:rPr>
              <a:t>Take the next part of the query off the front for scanning</a:t>
            </a:r>
          </a:p>
          <a:p>
            <a:pPr marL="1312865" lvl="1" indent="-514350">
              <a:spcBef>
                <a:spcPts val="900"/>
              </a:spcBef>
              <a:buClr>
                <a:srgbClr val="FF3300"/>
              </a:buClr>
              <a:buSzPct val="129166"/>
              <a:buFont typeface="+mj-lt"/>
              <a:buAutoNum type="arabicPeriod"/>
              <a:tabLst>
                <a:tab pos="473275" algn="l"/>
                <a:tab pos="474121" algn="l"/>
              </a:tabLst>
            </a:pPr>
            <a:r>
              <a:rPr lang="en-US" sz="3200" dirty="0">
                <a:latin typeface="Arial"/>
                <a:cs typeface="Arial"/>
              </a:rPr>
              <a:t>Scan the facts and the left side of rules for a match</a:t>
            </a:r>
          </a:p>
          <a:p>
            <a:pPr marL="1312865" lvl="1" indent="-514350">
              <a:spcBef>
                <a:spcPts val="900"/>
              </a:spcBef>
              <a:buClr>
                <a:srgbClr val="FF3300"/>
              </a:buClr>
              <a:buSzPct val="129166"/>
              <a:buFont typeface="+mj-lt"/>
              <a:buAutoNum type="arabicPeriod"/>
              <a:tabLst>
                <a:tab pos="473275" algn="l"/>
                <a:tab pos="474121" algn="l"/>
              </a:tabLst>
            </a:pPr>
            <a:r>
              <a:rPr lang="en-US" sz="3200" dirty="0">
                <a:latin typeface="Arial"/>
                <a:cs typeface="Arial"/>
              </a:rPr>
              <a:t>If a fact matches, apply the variable binding from the match, </a:t>
            </a:r>
            <a:r>
              <a:rPr lang="en-US" sz="3200" dirty="0" err="1">
                <a:latin typeface="Arial"/>
                <a:cs typeface="Arial"/>
              </a:rPr>
              <a:t>goto</a:t>
            </a:r>
            <a:r>
              <a:rPr lang="en-US" sz="3200" dirty="0">
                <a:latin typeface="Arial"/>
                <a:cs typeface="Arial"/>
              </a:rPr>
              <a:t> 1.</a:t>
            </a:r>
          </a:p>
          <a:p>
            <a:pPr marL="1312865" lvl="1" indent="-514350">
              <a:spcBef>
                <a:spcPts val="900"/>
              </a:spcBef>
              <a:buClr>
                <a:srgbClr val="FF3300"/>
              </a:buClr>
              <a:buSzPct val="129166"/>
              <a:buFont typeface="+mj-lt"/>
              <a:buAutoNum type="arabicPeriod"/>
              <a:tabLst>
                <a:tab pos="473275" algn="l"/>
                <a:tab pos="474121" algn="l"/>
              </a:tabLst>
            </a:pPr>
            <a:r>
              <a:rPr lang="en-US" sz="3200" dirty="0">
                <a:latin typeface="Arial"/>
                <a:cs typeface="Arial"/>
              </a:rPr>
              <a:t>If the left side of a rule matches, apply the variable binding, add the right side of the rule to the front of the query, </a:t>
            </a:r>
            <a:r>
              <a:rPr lang="en-US" sz="3200" dirty="0" err="1">
                <a:latin typeface="Arial"/>
                <a:cs typeface="Arial"/>
              </a:rPr>
              <a:t>goto</a:t>
            </a:r>
            <a:r>
              <a:rPr lang="en-US" sz="3200" dirty="0">
                <a:latin typeface="Arial"/>
                <a:cs typeface="Arial"/>
              </a:rPr>
              <a:t> 1.</a:t>
            </a:r>
          </a:p>
          <a:p>
            <a:pPr marL="1312865" lvl="1" indent="-514350">
              <a:spcBef>
                <a:spcPts val="900"/>
              </a:spcBef>
              <a:buClr>
                <a:srgbClr val="FF3300"/>
              </a:buClr>
              <a:buSzPct val="129166"/>
              <a:buFont typeface="+mj-lt"/>
              <a:buAutoNum type="arabicPeriod"/>
              <a:tabLst>
                <a:tab pos="473275" algn="l"/>
                <a:tab pos="474121" algn="l"/>
              </a:tabLst>
            </a:pPr>
            <a:r>
              <a:rPr lang="en-US" sz="3200" dirty="0">
                <a:latin typeface="Arial"/>
                <a:cs typeface="Arial"/>
              </a:rPr>
              <a:t>If nothing matches and there is a choice point, backtrack to 3</a:t>
            </a:r>
          </a:p>
          <a:p>
            <a:pPr marL="1312865" lvl="1" indent="-514350">
              <a:spcBef>
                <a:spcPts val="900"/>
              </a:spcBef>
              <a:buClr>
                <a:srgbClr val="FF3300"/>
              </a:buClr>
              <a:buSzPct val="129166"/>
              <a:buFont typeface="+mj-lt"/>
              <a:buAutoNum type="arabicPeriod"/>
              <a:tabLst>
                <a:tab pos="473275" algn="l"/>
                <a:tab pos="474121" algn="l"/>
              </a:tabLst>
            </a:pPr>
            <a:r>
              <a:rPr lang="en-US" sz="3200" dirty="0">
                <a:latin typeface="Arial"/>
                <a:cs typeface="Arial"/>
              </a:rPr>
              <a:t>Otherwise, fail</a:t>
            </a:r>
          </a:p>
          <a:p>
            <a:pPr marL="1312865" lvl="1" indent="-514350">
              <a:spcBef>
                <a:spcPts val="900"/>
              </a:spcBef>
              <a:buClr>
                <a:srgbClr val="FF3300"/>
              </a:buClr>
              <a:buSzPct val="129166"/>
              <a:buFont typeface="+mj-lt"/>
              <a:buAutoNum type="arabicPeriod"/>
              <a:tabLst>
                <a:tab pos="473275" algn="l"/>
                <a:tab pos="474121" algn="l"/>
              </a:tabLst>
            </a:pPr>
            <a:endParaRPr lang="en-US" sz="3200" dirty="0">
              <a:latin typeface="Arial"/>
              <a:cs typeface="Arial"/>
            </a:endParaRPr>
          </a:p>
          <a:p>
            <a:pPr marL="798515" lvl="1">
              <a:spcBef>
                <a:spcPts val="900"/>
              </a:spcBef>
              <a:buClr>
                <a:srgbClr val="FF3300"/>
              </a:buClr>
              <a:buSzPct val="129166"/>
              <a:tabLst>
                <a:tab pos="473275" algn="l"/>
                <a:tab pos="474121" algn="l"/>
              </a:tabLst>
            </a:pPr>
            <a:endParaRPr lang="en-US" sz="3200" dirty="0">
              <a:latin typeface="Arial"/>
              <a:cs typeface="Arial"/>
            </a:endParaRPr>
          </a:p>
          <a:p>
            <a:pPr marL="798515" lvl="1">
              <a:spcBef>
                <a:spcPts val="900"/>
              </a:spcBef>
              <a:buClr>
                <a:srgbClr val="FF3300"/>
              </a:buClr>
              <a:buSzPct val="129166"/>
              <a:tabLst>
                <a:tab pos="473275" algn="l"/>
                <a:tab pos="474121" algn="l"/>
              </a:tabLst>
            </a:pPr>
            <a:endParaRPr lang="en-US" sz="3200" dirty="0">
              <a:latin typeface="Arial"/>
              <a:cs typeface="Arial"/>
            </a:endParaRPr>
          </a:p>
          <a:p>
            <a:pPr marL="1312865" lvl="1" indent="-514350">
              <a:spcBef>
                <a:spcPts val="900"/>
              </a:spcBef>
              <a:buClr>
                <a:srgbClr val="FF3300"/>
              </a:buClr>
              <a:buSzPct val="129166"/>
              <a:buFont typeface="+mj-lt"/>
              <a:buAutoNum type="arabicPeriod"/>
              <a:tabLst>
                <a:tab pos="473275" algn="l"/>
                <a:tab pos="474121" algn="l"/>
              </a:tabLst>
            </a:pPr>
            <a:endParaRPr lang="en-US" sz="3200" b="1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578521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</a:rPr>
              <a:t>Tracing Prolog's Execution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812881" y="1902941"/>
            <a:ext cx="14904913" cy="6203091"/>
          </a:xfrm>
        </p:spPr>
        <p:txBody>
          <a:bodyPr/>
          <a:lstStyle/>
          <a:p>
            <a:r>
              <a:rPr lang="en-US" dirty="0"/>
              <a:t>When we debug a Prolog program, we watch the interpreter apply the procedural interpretation</a:t>
            </a:r>
          </a:p>
          <a:p>
            <a:r>
              <a:rPr lang="en-US" dirty="0"/>
              <a:t>Debugging Prolog: https://</a:t>
            </a:r>
            <a:r>
              <a:rPr lang="en-US" dirty="0" err="1"/>
              <a:t>www.swi-prolog.org</a:t>
            </a:r>
            <a:r>
              <a:rPr lang="en-US" dirty="0"/>
              <a:t>/</a:t>
            </a:r>
            <a:r>
              <a:rPr lang="en-US" dirty="0" err="1"/>
              <a:t>pldoc</a:t>
            </a:r>
            <a:r>
              <a:rPr lang="en-US" dirty="0"/>
              <a:t>/</a:t>
            </a:r>
            <a:r>
              <a:rPr lang="en-US" dirty="0" err="1"/>
              <a:t>man?section</a:t>
            </a:r>
            <a:r>
              <a:rPr lang="en-US" dirty="0"/>
              <a:t>=</a:t>
            </a:r>
            <a:r>
              <a:rPr lang="en-US" dirty="0" err="1"/>
              <a:t>debugoverview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following special predicates are available for tracing Prolog's execution</a:t>
            </a:r>
          </a:p>
          <a:p>
            <a:r>
              <a:rPr lang="en-US" dirty="0"/>
              <a:t>	trace/0 : for goals that follow, go step by step, displaying information</a:t>
            </a:r>
          </a:p>
          <a:p>
            <a:r>
              <a:rPr lang="en-US" dirty="0"/>
              <a:t>	</a:t>
            </a:r>
            <a:r>
              <a:rPr lang="en-US" dirty="0" err="1"/>
              <a:t>notrace</a:t>
            </a:r>
            <a:r>
              <a:rPr lang="en-US" dirty="0"/>
              <a:t>/0 : stop further tracing</a:t>
            </a:r>
          </a:p>
          <a:p>
            <a:r>
              <a:rPr lang="en-US" dirty="0"/>
              <a:t>	spy(P) : specifies that predicate P (example, </a:t>
            </a:r>
            <a:r>
              <a:rPr lang="en-US" i="1" dirty="0"/>
              <a:t>parent</a:t>
            </a:r>
            <a:r>
              <a:rPr lang="en-US" dirty="0"/>
              <a:t>) be traced</a:t>
            </a:r>
          </a:p>
          <a:p>
            <a:r>
              <a:rPr lang="en-US" dirty="0"/>
              <a:t>	</a:t>
            </a:r>
            <a:r>
              <a:rPr lang="en-US" dirty="0" err="1"/>
              <a:t>nospy</a:t>
            </a:r>
            <a:r>
              <a:rPr lang="en-US" dirty="0"/>
              <a:t>(P) : stops tracing of predicate P</a:t>
            </a:r>
          </a:p>
        </p:txBody>
      </p:sp>
    </p:spTree>
    <p:extLst>
      <p:ext uri="{BB962C8B-B14F-4D97-AF65-F5344CB8AC3E}">
        <p14:creationId xmlns:p14="http://schemas.microsoft.com/office/powerpoint/2010/main" val="40472592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173DB-7B8C-4545-94B3-EAEDDEAA2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Tracing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95A484-7110-3A48-B9FC-4C758DA34E9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357745"/>
            <a:ext cx="11615780" cy="6800322"/>
          </a:xfrm>
        </p:spPr>
        <p:txBody>
          <a:bodyPr/>
          <a:lstStyle/>
          <a:p>
            <a:r>
              <a:rPr lang="en-US" dirty="0"/>
              <a:t>Let's try tracing our family and ancestor predicates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?- trace.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true.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[trace]  ?- parent(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X,bob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Call: (8) parent(_5980, bob) ? creep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Exit: (8) parent(bill, bob) ? creep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 = bill ;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Redo: (8) parent(_5980, bob) ? creep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Exit: (8) parent(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joan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bob) ? creep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joan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[trace]  ?- 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891826-74B6-764C-9A21-915AAA5228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3A1E7-22BE-1D42-BD95-458739108F6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458090-BF6C-4B45-8029-9CC80ED04EF5}"/>
              </a:ext>
            </a:extLst>
          </p:cNvPr>
          <p:cNvSpPr txBox="1"/>
          <p:nvPr/>
        </p:nvSpPr>
        <p:spPr>
          <a:xfrm>
            <a:off x="8714509" y="2216727"/>
            <a:ext cx="4156364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Enter/return to creep one step at a time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482C658-6E0E-0F46-91E3-9ECE68ADD119}"/>
              </a:ext>
            </a:extLst>
          </p:cNvPr>
          <p:cNvCxnSpPr>
            <a:cxnSpLocks/>
          </p:cNvCxnSpPr>
          <p:nvPr/>
        </p:nvCxnSpPr>
        <p:spPr>
          <a:xfrm flipH="1">
            <a:off x="6968836" y="2743200"/>
            <a:ext cx="1731819" cy="1219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D91692B-FF2C-6244-B8A7-6E983F7DE055}"/>
              </a:ext>
            </a:extLst>
          </p:cNvPr>
          <p:cNvSpPr txBox="1"/>
          <p:nvPr/>
        </p:nvSpPr>
        <p:spPr>
          <a:xfrm>
            <a:off x="8493404" y="4718035"/>
            <a:ext cx="4156364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Semicolon to find other solutions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912596-33F5-894E-AA38-F761776F8F4D}"/>
              </a:ext>
            </a:extLst>
          </p:cNvPr>
          <p:cNvCxnSpPr>
            <a:cxnSpLocks/>
          </p:cNvCxnSpPr>
          <p:nvPr/>
        </p:nvCxnSpPr>
        <p:spPr>
          <a:xfrm flipH="1">
            <a:off x="2604654" y="5070764"/>
            <a:ext cx="5777346" cy="2967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25500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EE0BF-9649-D144-85CF-1A7197B65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840301"/>
          </a:xfrm>
        </p:spPr>
        <p:txBody>
          <a:bodyPr/>
          <a:lstStyle/>
          <a:p>
            <a:r>
              <a:rPr lang="en-US" dirty="0"/>
              <a:t>Examples of Tracing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25E2CD-28F6-9947-A676-3E2099DADBD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608666"/>
            <a:ext cx="11615780" cy="608061"/>
          </a:xfrm>
        </p:spPr>
        <p:txBody>
          <a:bodyPr/>
          <a:lstStyle/>
          <a:p>
            <a:r>
              <a:rPr lang="en-US" dirty="0"/>
              <a:t>Question mark ? for help: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D844DB-98B4-7749-B81F-7CEE26A7DF8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AF7D72-046E-454C-AAAD-72612C70E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801" y="2448967"/>
            <a:ext cx="10905471" cy="5352602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78D2A87-81B4-B54E-BE2E-3DE0C3DCBC31}"/>
              </a:ext>
            </a:extLst>
          </p:cNvPr>
          <p:cNvCxnSpPr>
            <a:cxnSpLocks/>
          </p:cNvCxnSpPr>
          <p:nvPr/>
        </p:nvCxnSpPr>
        <p:spPr>
          <a:xfrm>
            <a:off x="5444836" y="1951951"/>
            <a:ext cx="1122218" cy="76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85251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4A8C6-E983-C04A-98D1-36EB361AD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452894"/>
            <a:ext cx="10437010" cy="630944"/>
          </a:xfrm>
        </p:spPr>
        <p:txBody>
          <a:bodyPr/>
          <a:lstStyle/>
          <a:p>
            <a:r>
              <a:rPr lang="en-US" dirty="0"/>
              <a:t>Tracing command examples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1E1E83-0FDE-0B4E-8677-C4AFB390E32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19</a:t>
            </a:fld>
            <a:endParaRPr lang="en-US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0CBD0570-6279-6646-B35C-FC2F6EFB5A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690090"/>
              </p:ext>
            </p:extLst>
          </p:nvPr>
        </p:nvGraphicFramePr>
        <p:xfrm>
          <a:off x="812881" y="1399309"/>
          <a:ext cx="13459115" cy="6976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7631">
                  <a:extLst>
                    <a:ext uri="{9D8B030D-6E8A-4147-A177-3AD203B41FA5}">
                      <a16:colId xmlns:a16="http://schemas.microsoft.com/office/drawing/2014/main" val="709809548"/>
                    </a:ext>
                  </a:extLst>
                </a:gridCol>
                <a:gridCol w="2059779">
                  <a:extLst>
                    <a:ext uri="{9D8B030D-6E8A-4147-A177-3AD203B41FA5}">
                      <a16:colId xmlns:a16="http://schemas.microsoft.com/office/drawing/2014/main" val="3604548430"/>
                    </a:ext>
                  </a:extLst>
                </a:gridCol>
                <a:gridCol w="7441705">
                  <a:extLst>
                    <a:ext uri="{9D8B030D-6E8A-4147-A177-3AD203B41FA5}">
                      <a16:colId xmlns:a16="http://schemas.microsoft.com/office/drawing/2014/main" val="410614974"/>
                    </a:ext>
                  </a:extLst>
                </a:gridCol>
              </a:tblGrid>
              <a:tr h="1093317">
                <a:tc>
                  <a:txBody>
                    <a:bodyPr/>
                    <a:lstStyle/>
                    <a:p>
                      <a:r>
                        <a:rPr lang="en-US" dirty="0"/>
                        <a:t>Command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614287"/>
                  </a:ext>
                </a:extLst>
              </a:tr>
              <a:tr h="2220835">
                <a:tc>
                  <a:txBody>
                    <a:bodyPr/>
                    <a:lstStyle/>
                    <a:p>
                      <a:r>
                        <a:rPr lang="en-US" dirty="0"/>
                        <a:t>creep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 or space or carriage return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proceed to the next step in the trace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146657"/>
                  </a:ext>
                </a:extLst>
              </a:tr>
              <a:tr h="1161667">
                <a:tc>
                  <a:txBody>
                    <a:bodyPr/>
                    <a:lstStyle/>
                    <a:p>
                      <a:r>
                        <a:rPr lang="en-US" dirty="0"/>
                        <a:t>leap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continue execution, stop at next spy point, if any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8173495"/>
                  </a:ext>
                </a:extLst>
              </a:tr>
              <a:tr h="632084">
                <a:tc>
                  <a:txBody>
                    <a:bodyPr/>
                    <a:lstStyle/>
                    <a:p>
                      <a:r>
                        <a:rPr lang="en-US" dirty="0"/>
                        <a:t>abort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abort prolog execution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5337099"/>
                  </a:ext>
                </a:extLst>
              </a:tr>
              <a:tr h="669373">
                <a:tc>
                  <a:txBody>
                    <a:bodyPr/>
                    <a:lstStyle/>
                    <a:p>
                      <a:r>
                        <a:rPr lang="en-US" dirty="0"/>
                        <a:t>no debug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continue execution in "no debug" mode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067418"/>
                  </a:ext>
                </a:extLst>
              </a:tr>
              <a:tr h="1199049">
                <a:tc>
                  <a:txBody>
                    <a:bodyPr/>
                    <a:lstStyle/>
                    <a:p>
                      <a:r>
                        <a:rPr lang="en-US" dirty="0"/>
                        <a:t>skip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skip tracing of calls to children of this goal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52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18311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578521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Time to check your learning!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812881" y="1902941"/>
            <a:ext cx="14904913" cy="6203091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Let’s see how many key concepts from tracing you recall by answering the following questions!</a:t>
            </a:r>
          </a:p>
          <a:p>
            <a:r>
              <a:rPr lang="en-US" dirty="0"/>
              <a:t>How does the user turn on goal tracing?</a:t>
            </a:r>
          </a:p>
          <a:p>
            <a:r>
              <a:rPr lang="en-US" dirty="0"/>
              <a:t>How does the user turn off goal tracing?</a:t>
            </a:r>
          </a:p>
          <a:p>
            <a:r>
              <a:rPr lang="en-US" dirty="0"/>
              <a:t>What command would abort the goal and return to the prolog prompt?</a:t>
            </a:r>
          </a:p>
        </p:txBody>
      </p:sp>
    </p:spTree>
    <p:extLst>
      <p:ext uri="{BB962C8B-B14F-4D97-AF65-F5344CB8AC3E}">
        <p14:creationId xmlns:p14="http://schemas.microsoft.com/office/powerpoint/2010/main" val="32646270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578521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Graphical Tracing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812881" y="1902941"/>
            <a:ext cx="14904913" cy="6203091"/>
          </a:xfrm>
        </p:spPr>
        <p:txBody>
          <a:bodyPr/>
          <a:lstStyle/>
          <a:p>
            <a:r>
              <a:rPr lang="en-US" dirty="0"/>
              <a:t>Resource: </a:t>
            </a:r>
            <a:r>
              <a:rPr lang="en-US" dirty="0">
                <a:hlinkClick r:id="rId2"/>
              </a:rPr>
              <a:t>https://www.swi-prolog.org/gtrace.html</a:t>
            </a:r>
            <a:endParaRPr lang="en-US" dirty="0"/>
          </a:p>
          <a:p>
            <a:r>
              <a:rPr lang="en-US" dirty="0"/>
              <a:t>The graphical tracing facility helps the programmer view the tracing process by showing source code, variable bindings, and the call stack</a:t>
            </a:r>
          </a:p>
          <a:p>
            <a:r>
              <a:rPr lang="en-US" dirty="0"/>
              <a:t>Graphical tracing is turned on with the built-in predicate, </a:t>
            </a:r>
            <a:r>
              <a:rPr lang="en-US" dirty="0" err="1"/>
              <a:t>guitracer</a:t>
            </a:r>
            <a:r>
              <a:rPr lang="en-US" dirty="0"/>
              <a:t>/0</a:t>
            </a:r>
          </a:p>
          <a:p>
            <a:r>
              <a:rPr lang="en-US" dirty="0"/>
              <a:t>Thereafter, tracing, when turned on, will be done in a graphical window.</a:t>
            </a:r>
          </a:p>
          <a:p>
            <a:r>
              <a:rPr lang="en-US" dirty="0"/>
              <a:t>We can turn on graphical mode and tracing mode at the same time: </a:t>
            </a:r>
            <a:r>
              <a:rPr lang="en-US" dirty="0" err="1"/>
              <a:t>gtrace</a:t>
            </a:r>
            <a:r>
              <a:rPr lang="en-US" dirty="0"/>
              <a:t>/0</a:t>
            </a:r>
          </a:p>
          <a:p>
            <a:r>
              <a:rPr lang="en-US" dirty="0"/>
              <a:t>We can turn off graphical mode with </a:t>
            </a:r>
            <a:r>
              <a:rPr lang="en-US" dirty="0" err="1"/>
              <a:t>noguitracer</a:t>
            </a:r>
            <a:r>
              <a:rPr lang="en-US" dirty="0"/>
              <a:t>/0</a:t>
            </a:r>
          </a:p>
        </p:txBody>
      </p:sp>
    </p:spTree>
    <p:extLst>
      <p:ext uri="{BB962C8B-B14F-4D97-AF65-F5344CB8AC3E}">
        <p14:creationId xmlns:p14="http://schemas.microsoft.com/office/powerpoint/2010/main" val="22574952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578521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Time to check your learning!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812881" y="1902941"/>
            <a:ext cx="14904913" cy="6203091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Let’s see how many key concepts from topic graphical tracing you recall by answering the following questions!</a:t>
            </a:r>
          </a:p>
          <a:p>
            <a:r>
              <a:rPr lang="en-US" dirty="0"/>
              <a:t>How can the programmer turn on graphical tracing?</a:t>
            </a:r>
          </a:p>
          <a:p>
            <a:r>
              <a:rPr lang="en-US" dirty="0"/>
              <a:t>What is the difference between </a:t>
            </a:r>
            <a:r>
              <a:rPr lang="en-US" dirty="0" err="1"/>
              <a:t>guitracer</a:t>
            </a:r>
            <a:r>
              <a:rPr lang="en-US" dirty="0"/>
              <a:t>(0) and </a:t>
            </a:r>
            <a:r>
              <a:rPr lang="en-US" dirty="0" err="1"/>
              <a:t>gtrace</a:t>
            </a:r>
            <a:r>
              <a:rPr lang="en-US" dirty="0"/>
              <a:t>(0)?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6070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578521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Conclusion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812881" y="1902941"/>
            <a:ext cx="14904913" cy="6203091"/>
          </a:xfrm>
        </p:spPr>
        <p:txBody>
          <a:bodyPr/>
          <a:lstStyle/>
          <a:p>
            <a:r>
              <a:rPr lang="en-US" dirty="0"/>
              <a:t>In this lesson, you learned how to step through prolog's execution for the purposes of debugging.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the next lesson, you will learn to use prolog structures </a:t>
            </a:r>
            <a:r>
              <a:rPr lang="en-US"/>
              <a:t>and matching.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203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gonquin College Colours">
      <a:dk1>
        <a:srgbClr val="423F3F"/>
      </a:dk1>
      <a:lt1>
        <a:sysClr val="window" lastClr="FFFFFF"/>
      </a:lt1>
      <a:dk2>
        <a:srgbClr val="00673E"/>
      </a:dk2>
      <a:lt2>
        <a:srgbClr val="FFFFFF"/>
      </a:lt2>
      <a:accent1>
        <a:srgbClr val="00673E"/>
      </a:accent1>
      <a:accent2>
        <a:srgbClr val="599A83"/>
      </a:accent2>
      <a:accent3>
        <a:srgbClr val="A6C8BC"/>
      </a:accent3>
      <a:accent4>
        <a:srgbClr val="408A70"/>
      </a:accent4>
      <a:accent5>
        <a:srgbClr val="423F3F"/>
      </a:accent5>
      <a:accent6>
        <a:srgbClr val="B4B2B5"/>
      </a:accent6>
      <a:hlink>
        <a:srgbClr val="43B02A"/>
      </a:hlink>
      <a:folHlink>
        <a:srgbClr val="7AC14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6695</TotalTime>
  <Words>1756</Words>
  <Application>Microsoft Macintosh PowerPoint</Application>
  <PresentationFormat>Custom</PresentationFormat>
  <Paragraphs>224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Courier New</vt:lpstr>
      <vt:lpstr>Helvetica</vt:lpstr>
      <vt:lpstr>Wingdings</vt:lpstr>
      <vt:lpstr>Office Theme</vt:lpstr>
      <vt:lpstr>Prolog Debugging</vt:lpstr>
      <vt:lpstr>Outcomes</vt:lpstr>
      <vt:lpstr>Lesson Overview (Agenda)</vt:lpstr>
      <vt:lpstr>DECLARATIVE MEANING</vt:lpstr>
      <vt:lpstr>DECLARATIVE MEANING</vt:lpstr>
      <vt:lpstr>DECLARATIVE MEANING</vt:lpstr>
      <vt:lpstr>DECLARATIVE MEANING</vt:lpstr>
      <vt:lpstr>DECLARATIVE MEANING</vt:lpstr>
      <vt:lpstr>DECLARATIVE MEANING</vt:lpstr>
      <vt:lpstr>DECLARATIVE MEANING</vt:lpstr>
      <vt:lpstr>DECLARATIVE MEANING</vt:lpstr>
      <vt:lpstr>Prolog List Notation Preview</vt:lpstr>
      <vt:lpstr>Head and Tail</vt:lpstr>
      <vt:lpstr>PROCEDURAL  INTERPRETATION OF PROLOG PROGRAMS</vt:lpstr>
      <vt:lpstr>PROCEDURAL  INTERPRETATION</vt:lpstr>
      <vt:lpstr>Tracing Prolog's Execution</vt:lpstr>
      <vt:lpstr>Examples of Tracing</vt:lpstr>
      <vt:lpstr>Examples of Tracing</vt:lpstr>
      <vt:lpstr>Tracing command examples</vt:lpstr>
      <vt:lpstr>Time to check your learning!</vt:lpstr>
      <vt:lpstr>Graphical Tracing</vt:lpstr>
      <vt:lpstr>Time to check your learning!</vt:lpstr>
      <vt:lpstr>Conclusion</vt:lpstr>
    </vt:vector>
  </TitlesOfParts>
  <Company>Salt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Daniela Chavez Ackermann</dc:creator>
  <cp:lastModifiedBy>Todd Kelley</cp:lastModifiedBy>
  <cp:revision>212</cp:revision>
  <dcterms:created xsi:type="dcterms:W3CDTF">2016-12-21T16:02:28Z</dcterms:created>
  <dcterms:modified xsi:type="dcterms:W3CDTF">2025-01-16T19:14:51Z</dcterms:modified>
</cp:coreProperties>
</file>