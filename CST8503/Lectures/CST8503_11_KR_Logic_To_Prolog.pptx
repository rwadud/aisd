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368" r:id="rId3"/>
    <p:sldId id="369" r:id="rId4"/>
    <p:sldId id="370" r:id="rId5"/>
    <p:sldId id="371" r:id="rId6"/>
    <p:sldId id="372" r:id="rId7"/>
    <p:sldId id="373" r:id="rId8"/>
    <p:sldId id="374" r:id="rId9"/>
    <p:sldId id="375" r:id="rId10"/>
    <p:sldId id="404" r:id="rId11"/>
    <p:sldId id="376" r:id="rId12"/>
    <p:sldId id="377" r:id="rId13"/>
    <p:sldId id="405" r:id="rId14"/>
    <p:sldId id="378" r:id="rId15"/>
    <p:sldId id="379" r:id="rId16"/>
    <p:sldId id="380" r:id="rId17"/>
    <p:sldId id="381" r:id="rId18"/>
    <p:sldId id="412" r:id="rId19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06" autoAdjust="0"/>
    <p:restoredTop sz="94694" autoAdjust="0"/>
  </p:normalViewPr>
  <p:slideViewPr>
    <p:cSldViewPr snapToGrid="0" snapToObjects="1">
      <p:cViewPr varScale="1">
        <p:scale>
          <a:sx n="91" d="100"/>
          <a:sy n="91" d="100"/>
        </p:scale>
        <p:origin x="616" y="184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4324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595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3" r:id="rId37"/>
    <p:sldLayoutId id="2147483704" r:id="rId38"/>
    <p:sldLayoutId id="2147483706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Representation: Logic To CNF </a:t>
            </a:r>
            <a:r>
              <a:rPr lang="en-US"/>
              <a:t>To Prolog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4E04-7BB7-984F-ABDF-EAA1B746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148" y="735011"/>
            <a:ext cx="9475914" cy="1335973"/>
          </a:xfrm>
        </p:spPr>
        <p:txBody>
          <a:bodyPr/>
          <a:lstStyle/>
          <a:p>
            <a:r>
              <a:rPr lang="en-US" dirty="0"/>
              <a:t>Clausal Normal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85C4B7A-FAE7-C140-8057-1E6C816D3E4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845733"/>
                <a:ext cx="11615780" cy="6316134"/>
              </a:xfrm>
            </p:spPr>
            <p:txBody>
              <a:bodyPr/>
              <a:lstStyle/>
              <a:p>
                <a:r>
                  <a:rPr lang="en-US" dirty="0"/>
                  <a:t>Any FOL (Situation Calculus) formulae can be converted to clausal form: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Eliminate implications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Move negation inwards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Standardize variables apart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 err="1"/>
                  <a:t>Skolemize</a:t>
                </a:r>
                <a:r>
                  <a:rPr lang="en-US" dirty="0"/>
                  <a:t> </a:t>
                </a:r>
                <a:r>
                  <a:rPr lang="en-US" dirty="0" err="1"/>
                  <a:t>existentials</a:t>
                </a: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Move universal quantifiers outwards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Distribute "and"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over "or"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85C4B7A-FAE7-C140-8057-1E6C816D3E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845733"/>
                <a:ext cx="11615780" cy="6316134"/>
              </a:xfrm>
              <a:blipFill>
                <a:blip r:embed="rId2"/>
                <a:stretch>
                  <a:fillRect l="-2074" t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FC0A9-BA5D-E24A-AAB5-7ED37198619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991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A1D5-3156-C04D-B1A4-6BA13102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CNF Step 1: remove implication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BA9856-EBB7-EC4F-8FBB-24D5210F1C6D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693333"/>
                <a:ext cx="11615780" cy="5842001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becomes the logically equivalent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b="0" dirty="0"/>
                  <a:t>Example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h𝑢𝑚𝑎𝑛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b="0" dirty="0"/>
                  <a:t>Becomes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h𝑢𝑚𝑎𝑛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BA9856-EBB7-EC4F-8FBB-24D5210F1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693333"/>
                <a:ext cx="11615780" cy="5842001"/>
              </a:xfrm>
              <a:blipFill>
                <a:blip r:embed="rId2"/>
                <a:stretch>
                  <a:fillRect l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C5890-5298-084D-A9DB-B2C4735544C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21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BA63-DA5C-7E4A-B3D7-748A6170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566319" cy="1335973"/>
          </a:xfrm>
        </p:spPr>
        <p:txBody>
          <a:bodyPr/>
          <a:lstStyle/>
          <a:p>
            <a:r>
              <a:rPr lang="en-US" dirty="0"/>
              <a:t>CNF Step 2: move negation inwards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83AA6-90BA-8C40-B688-3FF1C2A61E6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FB1F8F47-57C5-BE40-B6D5-A2590C9798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6162313"/>
                  </p:ext>
                </p:extLst>
              </p:nvPr>
            </p:nvGraphicFramePr>
            <p:xfrm>
              <a:off x="1541198" y="2104337"/>
              <a:ext cx="10838392" cy="4465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9196">
                      <a:extLst>
                        <a:ext uri="{9D8B030D-6E8A-4147-A177-3AD203B41FA5}">
                          <a16:colId xmlns:a16="http://schemas.microsoft.com/office/drawing/2014/main" val="3622104343"/>
                        </a:ext>
                      </a:extLst>
                    </a:gridCol>
                    <a:gridCol w="5419196">
                      <a:extLst>
                        <a:ext uri="{9D8B030D-6E8A-4147-A177-3AD203B41FA5}">
                          <a16:colId xmlns:a16="http://schemas.microsoft.com/office/drawing/2014/main" val="3184095316"/>
                        </a:ext>
                      </a:extLst>
                    </a:gridCol>
                  </a:tblGrid>
                  <a:tr h="74429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Replace this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With this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825328"/>
                      </a:ext>
                    </a:extLst>
                  </a:tr>
                  <a:tr h="74429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3417672"/>
                      </a:ext>
                    </a:extLst>
                  </a:tr>
                  <a:tr h="744299"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2038399"/>
                      </a:ext>
                    </a:extLst>
                  </a:tr>
                  <a:tr h="74429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0267924"/>
                      </a:ext>
                    </a:extLst>
                  </a:tr>
                  <a:tr h="744299"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6559064"/>
                      </a:ext>
                    </a:extLst>
                  </a:tr>
                  <a:tr h="744299"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3436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FB1F8F47-57C5-BE40-B6D5-A2590C9798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6162313"/>
                  </p:ext>
                </p:extLst>
              </p:nvPr>
            </p:nvGraphicFramePr>
            <p:xfrm>
              <a:off x="1541198" y="2104337"/>
              <a:ext cx="10838392" cy="44657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9196">
                      <a:extLst>
                        <a:ext uri="{9D8B030D-6E8A-4147-A177-3AD203B41FA5}">
                          <a16:colId xmlns:a16="http://schemas.microsoft.com/office/drawing/2014/main" val="3622104343"/>
                        </a:ext>
                      </a:extLst>
                    </a:gridCol>
                    <a:gridCol w="5419196">
                      <a:extLst>
                        <a:ext uri="{9D8B030D-6E8A-4147-A177-3AD203B41FA5}">
                          <a16:colId xmlns:a16="http://schemas.microsoft.com/office/drawing/2014/main" val="3184095316"/>
                        </a:ext>
                      </a:extLst>
                    </a:gridCol>
                  </a:tblGrid>
                  <a:tr h="74429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Replace this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With this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825328"/>
                      </a:ext>
                    </a:extLst>
                  </a:tr>
                  <a:tr h="7442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" t="-110169" r="-100468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34" t="-110169" r="-46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3417672"/>
                      </a:ext>
                    </a:extLst>
                  </a:tr>
                  <a:tr h="7442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" t="-210169" r="-10046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34" t="-210169" r="-46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2038399"/>
                      </a:ext>
                    </a:extLst>
                  </a:tr>
                  <a:tr h="7442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" t="-315517" r="-100468" b="-2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34" t="-315517" r="-468" b="-20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0267924"/>
                      </a:ext>
                    </a:extLst>
                  </a:tr>
                  <a:tr h="7442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" t="-408475" r="-100468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34" t="-408475" r="-468" b="-10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6559064"/>
                      </a:ext>
                    </a:extLst>
                  </a:tr>
                  <a:tr h="7442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" t="-508475" r="-100468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34" t="-508475" r="-46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34367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9501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89DE-4024-394A-866E-DDEB3113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1802452" cy="1335973"/>
          </a:xfrm>
        </p:spPr>
        <p:txBody>
          <a:bodyPr/>
          <a:lstStyle/>
          <a:p>
            <a:r>
              <a:rPr lang="en-US" dirty="0"/>
              <a:t>CNF Step 3: Standardize Variables Apart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B3919C-8E55-274B-A345-8F4A50833CF7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0" y="1436350"/>
                <a:ext cx="13762101" cy="6585431"/>
              </a:xfrm>
            </p:spPr>
            <p:txBody>
              <a:bodyPr/>
              <a:lstStyle/>
              <a:p>
                <a:r>
                  <a:rPr lang="en-US" dirty="0"/>
                  <a:t>Rename variables such that each quantifier uses a different variable name:</a:t>
                </a:r>
              </a:p>
              <a:p>
                <a:r>
                  <a:rPr lang="en-US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∨∃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𝑥𝑄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Becomes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∨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is analogous to Java code (change red x to z):</a:t>
                </a:r>
              </a:p>
              <a:p>
                <a:pPr>
                  <a:spcBef>
                    <a:spcPts val="0"/>
                  </a:spcBef>
                </a:pPr>
                <a:r>
                  <a:rPr lang="en-US" dirty="0"/>
                  <a:t>{  int x = 4; int y = 9;</a:t>
                </a:r>
              </a:p>
              <a:p>
                <a:pPr>
                  <a:spcBef>
                    <a:spcPts val="0"/>
                  </a:spcBef>
                </a:pPr>
                <a:r>
                  <a:rPr lang="en-US" dirty="0"/>
                  <a:t>    {  int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= 2;</a:t>
                </a:r>
              </a:p>
              <a:p>
                <a:pPr>
                  <a:spcBef>
                    <a:spcPts val="0"/>
                  </a:spcBef>
                </a:pPr>
                <a:r>
                  <a:rPr lang="en-US" dirty="0"/>
                  <a:t>      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= y +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</a:p>
              <a:p>
                <a:pPr>
                  <a:spcBef>
                    <a:spcPts val="0"/>
                  </a:spcBef>
                </a:pPr>
                <a:r>
                  <a:rPr lang="en-US" dirty="0"/>
                  <a:t>     }</a:t>
                </a:r>
              </a:p>
              <a:p>
                <a:pPr>
                  <a:spcBef>
                    <a:spcPts val="0"/>
                  </a:spcBef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B3919C-8E55-274B-A345-8F4A50833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0" y="1436350"/>
                <a:ext cx="13762101" cy="6585431"/>
              </a:xfrm>
              <a:blipFill>
                <a:blip r:embed="rId2"/>
                <a:stretch>
                  <a:fillRect l="-1751" t="-1734" b="-4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02816-4CF6-2349-91BE-DC14EA75202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1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5D3A-F4E1-2640-8FC7-AE588441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CNF Step 4: </a:t>
            </a:r>
            <a:r>
              <a:rPr lang="en-US" dirty="0" err="1"/>
              <a:t>Skolemize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B668D1-9881-AD4E-A65E-29E9DBDDA9B2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405467"/>
                <a:ext cx="11615780" cy="6800322"/>
              </a:xfrm>
            </p:spPr>
            <p:txBody>
              <a:bodyPr/>
              <a:lstStyle/>
              <a:p>
                <a:r>
                  <a:rPr lang="en-US" dirty="0"/>
                  <a:t>Replace existentially quantified variables with </a:t>
                </a:r>
                <a:r>
                  <a:rPr lang="en-US" dirty="0" err="1"/>
                  <a:t>skolem</a:t>
                </a:r>
                <a:r>
                  <a:rPr lang="en-US" dirty="0"/>
                  <a:t> functions</a:t>
                </a:r>
              </a:p>
              <a:p>
                <a:r>
                  <a:rPr lang="en-US" dirty="0"/>
                  <a:t>Each universally quantified variable whose scope includes the existential becomes a parameter of the </a:t>
                </a:r>
                <a:r>
                  <a:rPr lang="en-US" dirty="0" err="1"/>
                  <a:t>skolem</a:t>
                </a:r>
                <a:r>
                  <a:rPr lang="en-US" dirty="0"/>
                  <a:t> function</a:t>
                </a:r>
              </a:p>
              <a:p>
                <a:r>
                  <a:rPr lang="en-US" dirty="0"/>
                  <a:t>The idea is that if we know something exists, we can give it a name (any name that works for us is fine)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becomes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  where a depends on x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becomes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       a doesn't depend on x</a:t>
                </a:r>
              </a:p>
              <a:p>
                <a:r>
                  <a:rPr lang="en-US" dirty="0"/>
                  <a:t>Examples: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𝑚𝑜𝑡h𝑒𝑟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becomes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𝑚𝑜𝑡h𝑒𝑟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𝑚𝑜𝑜𝑛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becomes moon(</a:t>
                </a:r>
                <a:r>
                  <a:rPr lang="en-US" dirty="0" err="1"/>
                  <a:t>the_moon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B668D1-9881-AD4E-A65E-29E9DBDDA9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405467"/>
                <a:ext cx="11615780" cy="6800322"/>
              </a:xfrm>
              <a:blipFill>
                <a:blip r:embed="rId2"/>
                <a:stretch>
                  <a:fillRect l="-2074" t="-1676" b="-2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D8226-01AD-0940-8008-192EDD9CD5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43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DDFC5-F9EC-DA4D-8404-52992E8E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1480719" cy="1335973"/>
          </a:xfrm>
        </p:spPr>
        <p:txBody>
          <a:bodyPr/>
          <a:lstStyle/>
          <a:p>
            <a:r>
              <a:rPr lang="en-US" dirty="0"/>
              <a:t>CNF Step 5: move universal quantifiers outwards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B0FA6-CCEA-8C41-AE86-6206765753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After </a:t>
            </a:r>
            <a:r>
              <a:rPr lang="en-US" dirty="0" err="1"/>
              <a:t>skolemizing</a:t>
            </a:r>
            <a:r>
              <a:rPr lang="en-US" dirty="0"/>
              <a:t>, we have only universal quantifiers</a:t>
            </a:r>
          </a:p>
          <a:p>
            <a:r>
              <a:rPr lang="en-US" dirty="0"/>
              <a:t>Because we've standardized variables apart, we can move them all to the outer left</a:t>
            </a:r>
          </a:p>
          <a:p>
            <a:r>
              <a:rPr lang="en-US" dirty="0"/>
              <a:t>In fact, we can now assume all variables are universally quantified, and just drop the universal quantifiers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F9013-2B65-3C44-9577-FC568829E3C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911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6E64A32-67D3-5A43-9BA3-F5180E3809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12881" y="768365"/>
                <a:ext cx="12291960" cy="1335973"/>
              </a:xfrm>
            </p:spPr>
            <p:txBody>
              <a:bodyPr/>
              <a:lstStyle/>
              <a:p>
                <a:r>
                  <a:rPr lang="en-US" dirty="0"/>
                  <a:t>CNF Step 6: Distribute "and"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over "or"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6E64A32-67D3-5A43-9BA3-F5180E380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2881" y="768365"/>
                <a:ext cx="12291960" cy="1335973"/>
              </a:xfrm>
              <a:blipFill>
                <a:blip r:embed="rId2"/>
                <a:stretch>
                  <a:fillRect l="-2993" t="-25472" r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F0CE5-78B4-2B4F-9655-27D7F26C651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0E6BDAEB-C3E7-CA42-813A-554FD28531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3451658"/>
                  </p:ext>
                </p:extLst>
              </p:nvPr>
            </p:nvGraphicFramePr>
            <p:xfrm>
              <a:off x="1539665" y="3142827"/>
              <a:ext cx="10838392" cy="1691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9196">
                      <a:extLst>
                        <a:ext uri="{9D8B030D-6E8A-4147-A177-3AD203B41FA5}">
                          <a16:colId xmlns:a16="http://schemas.microsoft.com/office/drawing/2014/main" val="396806038"/>
                        </a:ext>
                      </a:extLst>
                    </a:gridCol>
                    <a:gridCol w="5419196">
                      <a:extLst>
                        <a:ext uri="{9D8B030D-6E8A-4147-A177-3AD203B41FA5}">
                          <a16:colId xmlns:a16="http://schemas.microsoft.com/office/drawing/2014/main" val="33283260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Replace this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With this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85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)∨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)∧(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6077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7815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)∧(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45241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0E6BDAEB-C3E7-CA42-813A-554FD28531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3451658"/>
                  </p:ext>
                </p:extLst>
              </p:nvPr>
            </p:nvGraphicFramePr>
            <p:xfrm>
              <a:off x="1539665" y="3142827"/>
              <a:ext cx="10838392" cy="1691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9196">
                      <a:extLst>
                        <a:ext uri="{9D8B030D-6E8A-4147-A177-3AD203B41FA5}">
                          <a16:colId xmlns:a16="http://schemas.microsoft.com/office/drawing/2014/main" val="396806038"/>
                        </a:ext>
                      </a:extLst>
                    </a:gridCol>
                    <a:gridCol w="5419196">
                      <a:extLst>
                        <a:ext uri="{9D8B030D-6E8A-4147-A177-3AD203B41FA5}">
                          <a16:colId xmlns:a16="http://schemas.microsoft.com/office/drawing/2014/main" val="3328326094"/>
                        </a:ext>
                      </a:extLst>
                    </a:gridCol>
                  </a:tblGrid>
                  <a:tr h="5638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Replace this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With this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85313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4" t="-115909" r="-100468" b="-1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34" t="-115909" r="-468" b="-1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6077817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4" t="-211111" r="-100468" b="-2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34" t="-211111" r="-468" b="-2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5241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0721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EC9C-0DF7-214B-8046-105411939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down the CNF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88F55F-C3D0-F44D-885F-3D69DAC7A7CB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2404534"/>
                <a:ext cx="11560701" cy="5130800"/>
              </a:xfrm>
            </p:spPr>
            <p:txBody>
              <a:bodyPr/>
              <a:lstStyle/>
              <a:p>
                <a:r>
                  <a:rPr lang="en-US" dirty="0"/>
                  <a:t>Now we have a formula of the form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might include one or more disjunctions</a:t>
                </a:r>
              </a:p>
              <a:p>
                <a:r>
                  <a:rPr lang="en-US" dirty="0"/>
                  <a:t>We write this as a set of clauses: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88F55F-C3D0-F44D-885F-3D69DAC7A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2404534"/>
                <a:ext cx="11560701" cy="5130800"/>
              </a:xfrm>
              <a:blipFill>
                <a:blip r:embed="rId2"/>
                <a:stretch>
                  <a:fillRect l="-2083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7B8A93F-2275-004D-B5FF-956D394F817E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9786026" y="5155659"/>
                <a:ext cx="6206246" cy="2413027"/>
              </a:xfrm>
            </p:spPr>
            <p:txBody>
              <a:bodyPr/>
              <a:lstStyle/>
              <a:p>
                <a:r>
                  <a:rPr lang="en-US" sz="2800" dirty="0"/>
                  <a:t>These P</a:t>
                </a:r>
                <a:r>
                  <a:rPr lang="en-US" sz="2800" baseline="-25000" dirty="0"/>
                  <a:t>i </a:t>
                </a:r>
                <a:r>
                  <a:rPr lang="en-US" sz="2800" dirty="0"/>
                  <a:t>in general each have this form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…∨¬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∨…</m:t>
                      </m:r>
                    </m:oMath>
                  </m:oMathPara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7B8A93F-2275-004D-B5FF-956D394F81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9786026" y="5155659"/>
                <a:ext cx="6206246" cy="2413027"/>
              </a:xfrm>
              <a:blipFill>
                <a:blip r:embed="rId3"/>
                <a:stretch>
                  <a:fillRect l="-3469" t="-4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33011-C901-3F4A-8328-94D0B407D41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641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EC9C-0DF7-214B-8046-10541193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272693"/>
            <a:ext cx="9475914" cy="1335973"/>
          </a:xfrm>
        </p:spPr>
        <p:txBody>
          <a:bodyPr/>
          <a:lstStyle/>
          <a:p>
            <a:r>
              <a:rPr lang="en-US" dirty="0"/>
              <a:t>A Prolog program is a set of Horn clauses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88F55F-C3D0-F44D-885F-3D69DAC7A7CB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608665"/>
                <a:ext cx="14631824" cy="6426381"/>
              </a:xfrm>
            </p:spPr>
            <p:txBody>
              <a:bodyPr/>
              <a:lstStyle/>
              <a:p>
                <a:r>
                  <a:rPr lang="en-US" dirty="0"/>
                  <a:t>A Horn clause is any clause that has at most one positive literal (0 or 1 positive literals).  The positive literals are the </a:t>
                </a:r>
                <a:r>
                  <a:rPr lang="en-US" sz="3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US" sz="32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endParaRPr lang="en-US" dirty="0"/>
              </a:p>
              <a:p>
                <a:r>
                  <a:rPr lang="en-US" dirty="0"/>
                  <a:t>When we write a Prolog program, we are writing down a set of Horn clauses with 0 or 1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 </a:t>
                </a:r>
                <a:r>
                  <a:rPr lang="en-US" dirty="0"/>
                  <a:t>: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One positive, several Negative</a:t>
                </a:r>
              </a:p>
              <a:p>
                <a:r>
                  <a:rPr lang="en-US" dirty="0"/>
                  <a:t>One positive, zero Negative</a:t>
                </a:r>
              </a:p>
              <a:p>
                <a:r>
                  <a:rPr lang="en-US" dirty="0"/>
                  <a:t>Zero positive, several Negative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88F55F-C3D0-F44D-885F-3D69DAC7A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608665"/>
                <a:ext cx="14631824" cy="6426381"/>
              </a:xfrm>
              <a:blipFill>
                <a:blip r:embed="rId2"/>
                <a:stretch>
                  <a:fillRect l="-1646" t="-1578" r="-1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7B8A93F-2275-004D-B5FF-956D394F817E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6860669" y="3763419"/>
                <a:ext cx="8081015" cy="4485635"/>
              </a:xfrm>
            </p:spPr>
            <p:txBody>
              <a:bodyPr/>
              <a:lstStyle/>
              <a:p>
                <a:r>
                  <a:rPr lang="en-US" sz="2800" dirty="0"/>
                  <a:t>When restricted to be Horn clauses, these P</a:t>
                </a:r>
                <a:r>
                  <a:rPr lang="en-US" sz="2800" baseline="-25000" dirty="0"/>
                  <a:t>i </a:t>
                </a:r>
                <a:r>
                  <a:rPr lang="en-US" sz="2800" dirty="0"/>
                  <a:t>in a Prolog program each have this form</a:t>
                </a:r>
              </a:p>
              <a:p>
                <a:pPr algn="ctr"/>
                <a:r>
                  <a:rPr lang="en-US" sz="2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L</a:t>
                </a:r>
                <a:r>
                  <a:rPr lang="en-US" sz="2800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∨…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                    or</a:t>
                </a:r>
              </a:p>
              <a:p>
                <a:pPr algn="ctr"/>
                <a:r>
                  <a:rPr lang="en-US" sz="2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L</a:t>
                </a:r>
                <a:endParaRPr lang="en-US" sz="2800" dirty="0"/>
              </a:p>
              <a:p>
                <a:r>
                  <a:rPr lang="en-US" sz="2800" dirty="0"/>
                  <a:t>                    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∨…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7B8A93F-2275-004D-B5FF-956D394F81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6860669" y="3763419"/>
                <a:ext cx="8081015" cy="4485635"/>
              </a:xfrm>
              <a:blipFill>
                <a:blip r:embed="rId3"/>
                <a:stretch>
                  <a:fillRect l="-2669" t="-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33011-C901-3F4A-8328-94D0B407D41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CF087A-C7CA-69DF-4B27-25855E0A06D8}"/>
              </a:ext>
            </a:extLst>
          </p:cNvPr>
          <p:cNvCxnSpPr/>
          <p:nvPr/>
        </p:nvCxnSpPr>
        <p:spPr>
          <a:xfrm flipV="1">
            <a:off x="6575898" y="5214026"/>
            <a:ext cx="2509736" cy="64202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F1ECC7-85CF-CCC9-7839-DB68E461886B}"/>
              </a:ext>
            </a:extLst>
          </p:cNvPr>
          <p:cNvCxnSpPr>
            <a:cxnSpLocks/>
          </p:cNvCxnSpPr>
          <p:nvPr/>
        </p:nvCxnSpPr>
        <p:spPr>
          <a:xfrm>
            <a:off x="6022904" y="6586397"/>
            <a:ext cx="4035496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3C362E-B1AB-1416-C869-CA702BAA1D62}"/>
              </a:ext>
            </a:extLst>
          </p:cNvPr>
          <p:cNvCxnSpPr>
            <a:cxnSpLocks/>
          </p:cNvCxnSpPr>
          <p:nvPr/>
        </p:nvCxnSpPr>
        <p:spPr>
          <a:xfrm>
            <a:off x="6575898" y="7342761"/>
            <a:ext cx="2662136" cy="26869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129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9E40-8919-FA46-A00F-CE37E991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CNF to Prolog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BCCCF4-683E-1343-9A76-DD6B8AC8EEAC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593669"/>
                <a:ext cx="11615780" cy="5941665"/>
              </a:xfrm>
            </p:spPr>
            <p:txBody>
              <a:bodyPr/>
              <a:lstStyle/>
              <a:p>
                <a:r>
                  <a:rPr lang="en-US" dirty="0"/>
                  <a:t>Each of the clauses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has this general form: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…∨¬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∨…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we have gathered all of the negative literals on the right side (since the order doesn't matter)</a:t>
                </a:r>
              </a:p>
              <a:p>
                <a:r>
                  <a:rPr lang="en-US" dirty="0"/>
                  <a:t>We can put parenthesis in without changing meaning: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Now put in an implication (note reverse direction):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∨…)←(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Prolog is limited to clauses with 0 or 1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US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ea typeface="Cambria Math" panose="02040503050406030204" pitchFamily="18" charset="0"/>
                  </a:rPr>
                  <a:t> on the left side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BCCCF4-683E-1343-9A76-DD6B8AC8E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593669"/>
                <a:ext cx="11615780" cy="5941665"/>
              </a:xfrm>
              <a:blipFill>
                <a:blip r:embed="rId2"/>
                <a:stretch>
                  <a:fillRect l="-2074" t="-1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79F5F-89E6-D640-B8C2-CE8478F025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647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2BB05-488E-A442-97A0-A27D3DD1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Horn Clauses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5CF7334-EB98-2343-A084-6F4C0FB244D5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320799"/>
                <a:ext cx="11615780" cy="6800321"/>
              </a:xfrm>
            </p:spPr>
            <p:txBody>
              <a:bodyPr/>
              <a:lstStyle/>
              <a:p>
                <a:r>
                  <a:rPr lang="en-US" dirty="0"/>
                  <a:t>A horn clause with one L would look like this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)←(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∧…)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our familiar prolog syntax this would would be a rule:</a:t>
                </a:r>
              </a:p>
              <a:p>
                <a:r>
                  <a:rPr lang="en-US" dirty="0"/>
                  <a:t>L :- N1,N2,…</a:t>
                </a:r>
              </a:p>
              <a:p>
                <a:r>
                  <a:rPr lang="en-US" dirty="0"/>
                  <a:t>A horn clause with just one positive literal is a fact;</a:t>
                </a:r>
              </a:p>
              <a:p>
                <a:r>
                  <a:rPr lang="en-US" dirty="0"/>
                  <a:t>L.</a:t>
                </a:r>
              </a:p>
              <a:p>
                <a:r>
                  <a:rPr lang="en-US" dirty="0"/>
                  <a:t>A horn clause with no L is a query!</a:t>
                </a:r>
              </a:p>
              <a:p>
                <a:r>
                  <a:rPr lang="en-US" dirty="0"/>
                  <a:t> ?- N1,N2…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5CF7334-EB98-2343-A084-6F4C0FB24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320799"/>
                <a:ext cx="11615780" cy="6800321"/>
              </a:xfrm>
              <a:blipFill>
                <a:blip r:embed="rId2"/>
                <a:stretch>
                  <a:fillRect l="-2074" t="-1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E1B77-F234-F440-956C-E9B2490A4AA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976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DC03-482A-2F4D-3DBE-DD750C330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1544582" cy="1335973"/>
          </a:xfrm>
        </p:spPr>
        <p:txBody>
          <a:bodyPr/>
          <a:lstStyle/>
          <a:p>
            <a:r>
              <a:rPr lang="en-US" dirty="0"/>
              <a:t>Prolog is limited to Horn Clauses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07739A-B17E-1B99-6E3C-999F2992A18F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204767" y="1613871"/>
                <a:ext cx="12354478" cy="6563477"/>
              </a:xfrm>
            </p:spPr>
            <p:txBody>
              <a:bodyPr/>
              <a:lstStyle/>
              <a:p>
                <a:r>
                  <a:rPr lang="en-US" dirty="0"/>
                  <a:t>A clause of this form, not allowed in Prolog: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)←(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would be read "If N1 is true and N2 is true, then L1 is true or L2 is true."</a:t>
                </a:r>
              </a:p>
              <a:p>
                <a:r>
                  <a:rPr lang="en-US" dirty="0"/>
                  <a:t>A clause of this form, not allowed in Prolog: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would be read "L1 is true or L2 is true."</a:t>
                </a:r>
              </a:p>
              <a:p>
                <a:r>
                  <a:rPr lang="en-US" dirty="0"/>
                  <a:t>So in a Prolog program we cannot say "the sky is blue or the sea is green":</a:t>
                </a:r>
              </a:p>
              <a:p>
                <a:r>
                  <a:rPr lang="en-US" dirty="0"/>
                  <a:t>color(</a:t>
                </a:r>
                <a:r>
                  <a:rPr lang="en-US" dirty="0" err="1"/>
                  <a:t>sky,blue</a:t>
                </a:r>
                <a:r>
                  <a:rPr lang="en-US" dirty="0"/>
                  <a:t>);color(</a:t>
                </a:r>
                <a:r>
                  <a:rPr lang="en-US" dirty="0" err="1"/>
                  <a:t>sea,green</a:t>
                </a:r>
                <a:r>
                  <a:rPr lang="en-US" dirty="0"/>
                  <a:t>).   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07739A-B17E-1B99-6E3C-999F2992A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204767" y="1613871"/>
                <a:ext cx="12354478" cy="6563477"/>
              </a:xfrm>
              <a:blipFill>
                <a:blip r:embed="rId2"/>
                <a:stretch>
                  <a:fillRect l="-2055" t="-1741" r="-308" b="-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0298C-60A3-8232-B937-FDFE7578DC7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594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0895-2BED-4B4B-AAF3-C956B3772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512333"/>
            <a:ext cx="9475914" cy="1335973"/>
          </a:xfrm>
        </p:spPr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Sitcalc</a:t>
            </a:r>
            <a:r>
              <a:rPr lang="en-US" dirty="0"/>
              <a:t> to Prolog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B92E857-AAB9-EA46-A6AE-4D4E65DDF3BC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298448"/>
                <a:ext cx="11615780" cy="6986016"/>
              </a:xfrm>
            </p:spPr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Recall we have two types of axiom: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Action precondition Axioms (what can happen)</a:t>
                </a:r>
              </a:p>
              <a:p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𝑃𝑜𝑠𝑠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≡ 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Successor State Axioms (if it happens, then what's true afterwards?)</a:t>
                </a:r>
              </a:p>
              <a:p>
                <a:pPr lvl="0">
                  <a:buClr>
                    <a:srgbClr val="599A83"/>
                  </a:buClr>
                </a:pPr>
                <a:r>
                  <a:rPr lang="en-US" dirty="0">
                    <a:solidFill>
                      <a:srgbClr val="423F3F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𝑃𝑜𝑠𝑠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423F3F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)⊃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)≡ </m:t>
                    </m:r>
                  </m:oMath>
                </a14:m>
                <a:endParaRPr lang="en-US" i="1" dirty="0">
                  <a:solidFill>
                    <a:srgbClr val="423F3F"/>
                  </a:solidFill>
                  <a:latin typeface="Cambria Math" panose="02040503050406030204" pitchFamily="18" charset="0"/>
                </a:endParaRPr>
              </a:p>
              <a:p>
                <a:pPr lvl="0">
                  <a:buClr>
                    <a:srgbClr val="599A83"/>
                  </a:buClr>
                </a:pPr>
                <a:r>
                  <a:rPr lang="en-US" dirty="0">
                    <a:solidFill>
                      <a:srgbClr val="423F3F"/>
                    </a:solidFill>
                    <a:ea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</m:t>
                        </m:r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endParaRPr lang="en-US" i="1" dirty="0">
                  <a:solidFill>
                    <a:srgbClr val="423F3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buClr>
                    <a:srgbClr val="599A83"/>
                  </a:buClr>
                </a:pPr>
                <a:r>
                  <a:rPr lang="en-US" dirty="0">
                    <a:solidFill>
                      <a:srgbClr val="423F3F"/>
                    </a:solidFill>
                    <a:ea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sSubSup>
                      <m:sSubSupPr>
                        <m:ctrlP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B92E857-AAB9-EA46-A6AE-4D4E65DDF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298448"/>
                <a:ext cx="11615780" cy="6986016"/>
              </a:xfrm>
              <a:blipFill>
                <a:blip r:embed="rId2"/>
                <a:stretch>
                  <a:fillRect l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5BB46-10F1-5A46-8EE0-C5510383DCD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934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0526-C34E-C545-86AC-7079952C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Precondition Axioms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13D403E-DE1D-CF4F-B894-6043C5E90036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938528"/>
                <a:ext cx="13378606" cy="6291072"/>
              </a:xfrm>
            </p:spPr>
            <p:txBody>
              <a:bodyPr/>
              <a:lstStyle/>
              <a:p>
                <a:r>
                  <a:rPr lang="en-US" dirty="0"/>
                  <a:t>Long story short, when translating equivalence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, because of Clark's Completion Semantics, CWA, Negation as Failure, we can simply make the implication go one way only: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𝑃𝑜𝑠𝑠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← 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actual prolog, we might have this:</a:t>
                </a:r>
              </a:p>
              <a:p>
                <a:r>
                  <a:rPr lang="en-US" dirty="0" err="1"/>
                  <a:t>poss</a:t>
                </a:r>
                <a:r>
                  <a:rPr lang="en-US" dirty="0"/>
                  <a:t>(</a:t>
                </a:r>
                <a:r>
                  <a:rPr lang="en-US" dirty="0" err="1"/>
                  <a:t>open_door,S</a:t>
                </a:r>
                <a:r>
                  <a:rPr lang="en-US" dirty="0"/>
                  <a:t>) :- </a:t>
                </a:r>
              </a:p>
              <a:p>
                <a:r>
                  <a:rPr lang="en-US" dirty="0"/>
                  <a:t>	</a:t>
                </a:r>
                <a:r>
                  <a:rPr lang="en-US" dirty="0" err="1"/>
                  <a:t>near_door</a:t>
                </a:r>
                <a:r>
                  <a:rPr lang="en-US" dirty="0"/>
                  <a:t>(S), </a:t>
                </a:r>
              </a:p>
              <a:p>
                <a:r>
                  <a:rPr lang="en-US" dirty="0"/>
                  <a:t>	</a:t>
                </a:r>
                <a:r>
                  <a:rPr lang="en-US" dirty="0" err="1"/>
                  <a:t>door_closed</a:t>
                </a:r>
                <a:r>
                  <a:rPr lang="en-US" dirty="0"/>
                  <a:t>(S).</a:t>
                </a:r>
              </a:p>
              <a:p>
                <a:r>
                  <a:rPr lang="en-US" dirty="0"/>
                  <a:t>No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 in this case,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𝑛𝑒𝑎𝑟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𝑑𝑜𝑜𝑟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𝑐𝑙𝑜𝑠𝑒𝑑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13D403E-DE1D-CF4F-B894-6043C5E90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938528"/>
                <a:ext cx="13378606" cy="6291072"/>
              </a:xfrm>
              <a:blipFill>
                <a:blip r:embed="rId2"/>
                <a:stretch>
                  <a:fillRect l="-1801" t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87A48-1338-3242-9032-A7DC368C71B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277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B0A3-95F2-6F4D-906D-97F56565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Successor State Axioms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005CEA8-53DE-6247-BB81-656DCDDA8D9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959186" y="2104338"/>
                <a:ext cx="11615780" cy="535838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𝑃𝑜𝑠𝑠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423F3F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)⊃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)≡ </m:t>
                    </m:r>
                  </m:oMath>
                </a14:m>
                <a:endParaRPr lang="en-US" i="1" dirty="0">
                  <a:solidFill>
                    <a:srgbClr val="423F3F"/>
                  </a:solidFill>
                  <a:latin typeface="Cambria Math" panose="02040503050406030204" pitchFamily="18" charset="0"/>
                </a:endParaRPr>
              </a:p>
              <a:p>
                <a:pPr lvl="0">
                  <a:buClr>
                    <a:srgbClr val="599A83"/>
                  </a:buClr>
                </a:pPr>
                <a:r>
                  <a:rPr lang="en-US" dirty="0">
                    <a:solidFill>
                      <a:srgbClr val="423F3F"/>
                    </a:solidFill>
                    <a:ea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</m:t>
                        </m:r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endParaRPr lang="en-US" i="1" dirty="0">
                  <a:solidFill>
                    <a:srgbClr val="423F3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buClr>
                    <a:srgbClr val="599A83"/>
                  </a:buClr>
                </a:pPr>
                <a:r>
                  <a:rPr lang="en-US" dirty="0">
                    <a:solidFill>
                      <a:srgbClr val="423F3F"/>
                    </a:solidFill>
                    <a:ea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sSubSup>
                      <m:sSubSupPr>
                        <m:ctrlP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  <a:p>
                <a:pPr lvl="0">
                  <a:buClr>
                    <a:srgbClr val="599A83"/>
                  </a:buClr>
                </a:pPr>
                <a:r>
                  <a:rPr lang="en-US" dirty="0"/>
                  <a:t>Becomes </a:t>
                </a:r>
              </a:p>
              <a:p>
                <a:pPr lvl="0">
                  <a:buClr>
                    <a:srgbClr val="599A83"/>
                  </a:buClr>
                </a:pPr>
                <a:r>
                  <a:rPr lang="en-US" dirty="0">
                    <a:solidFill>
                      <a:srgbClr val="423F3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𝑃𝑜𝑠𝑠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423F3F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)∧</m:t>
                    </m:r>
                  </m:oMath>
                </a14:m>
                <a:r>
                  <a:rPr lang="en-US" i="1" dirty="0">
                    <a:solidFill>
                      <a:srgbClr val="423F3F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lvl="0">
                  <a:buClr>
                    <a:srgbClr val="599A83"/>
                  </a:buClr>
                </a:pPr>
                <a:r>
                  <a:rPr lang="en-US" dirty="0">
                    <a:solidFill>
                      <a:srgbClr val="423F3F"/>
                    </a:solidFill>
                    <a:ea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</m:t>
                        </m:r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endParaRPr lang="en-US" i="1" dirty="0">
                  <a:solidFill>
                    <a:srgbClr val="423F3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buClr>
                    <a:srgbClr val="599A83"/>
                  </a:buClr>
                </a:pPr>
                <a:r>
                  <a:rPr lang="en-US" dirty="0">
                    <a:solidFill>
                      <a:srgbClr val="423F3F"/>
                    </a:solidFill>
                    <a:ea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sSubSup>
                      <m:sSubSupPr>
                        <m:ctrlP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005CEA8-53DE-6247-BB81-656DCDDA8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959186" y="2104338"/>
                <a:ext cx="11615780" cy="5358384"/>
              </a:xfrm>
              <a:blipFill>
                <a:blip r:embed="rId2"/>
                <a:stretch>
                  <a:fillRect l="-2074" t="-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D0FC6-4B6F-4144-8239-1B9466E501F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920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D548-0B7F-7A42-A8C4-28FDED7C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329454"/>
            <a:ext cx="9475914" cy="804402"/>
          </a:xfrm>
        </p:spPr>
        <p:txBody>
          <a:bodyPr/>
          <a:lstStyle/>
          <a:p>
            <a:r>
              <a:rPr lang="en-US" dirty="0"/>
              <a:t>Not so fast?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A84EF-745B-224F-93E3-160823F613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4" y="1901952"/>
            <a:ext cx="11615780" cy="6327647"/>
          </a:xfrm>
        </p:spPr>
        <p:txBody>
          <a:bodyPr/>
          <a:lstStyle/>
          <a:p>
            <a:r>
              <a:rPr lang="en-US" dirty="0"/>
              <a:t>Let's replace the three parts of that first big formula on the previous slide with A, B, C:</a:t>
            </a:r>
          </a:p>
          <a:p>
            <a:r>
              <a:rPr lang="en-US" dirty="0"/>
              <a:t>A -&gt; B &lt;-&gt; C</a:t>
            </a:r>
          </a:p>
          <a:p>
            <a:r>
              <a:rPr lang="en-US" dirty="0"/>
              <a:t>(-A or B) &lt;-&gt; C</a:t>
            </a:r>
          </a:p>
          <a:p>
            <a:r>
              <a:rPr lang="en-US" dirty="0"/>
              <a:t>(-A or B) &lt;- C (make implication go one way)</a:t>
            </a:r>
          </a:p>
          <a:p>
            <a:r>
              <a:rPr lang="en-US" dirty="0"/>
              <a:t>-C or –A or B</a:t>
            </a:r>
          </a:p>
          <a:p>
            <a:r>
              <a:rPr lang="en-US" dirty="0"/>
              <a:t>A,C-&gt;B</a:t>
            </a:r>
          </a:p>
          <a:p>
            <a:r>
              <a:rPr lang="en-US" dirty="0"/>
              <a:t>B&lt;-A,C</a:t>
            </a:r>
          </a:p>
          <a:p>
            <a:r>
              <a:rPr lang="en-US" dirty="0"/>
              <a:t>When you look carefully, this is the second formula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46BE7-9910-A94B-8FC2-A150D8A80D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133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0EE8-DD19-82A4-6374-7A084A5B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3166355" cy="714071"/>
          </a:xfrm>
        </p:spPr>
        <p:txBody>
          <a:bodyPr/>
          <a:lstStyle/>
          <a:p>
            <a:r>
              <a:rPr lang="en-US" dirty="0"/>
              <a:t>(reminder) Steps to Axiomatize a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58094-21E8-F9BB-C311-115B58CE57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76400"/>
            <a:ext cx="14953591" cy="5858934"/>
          </a:xfrm>
        </p:spPr>
        <p:txBody>
          <a:bodyPr/>
          <a:lstStyle/>
          <a:p>
            <a:r>
              <a:rPr lang="en-US" dirty="0"/>
              <a:t>In the following steps, the word "determine" implies "write down"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Understand the domain by reading about it, studying it, and thinking about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set of </a:t>
            </a:r>
            <a:r>
              <a:rPr lang="en-US" dirty="0" err="1"/>
              <a:t>fluents</a:t>
            </a:r>
            <a:r>
              <a:rPr lang="en-US" dirty="0"/>
              <a:t> that are sufficient to represent a state in the domain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set of actions that effect (bring about) change in the state (fluent truth values)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precondition axioms for actions in terms of </a:t>
            </a:r>
            <a:r>
              <a:rPr lang="en-US" dirty="0" err="1"/>
              <a:t>fluents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successor state axiom for each fluent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fluent values in the initial situation s0 (we use [] for s0).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E03F-091F-DF03-7BFA-329CF322F2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9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46063</TotalTime>
  <Words>1350</Words>
  <Application>Microsoft Macintosh PowerPoint</Application>
  <PresentationFormat>Custom</PresentationFormat>
  <Paragraphs>171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Wingdings</vt:lpstr>
      <vt:lpstr>Office Theme</vt:lpstr>
      <vt:lpstr>Knowledge Representation: Logic To CNF To Prolog</vt:lpstr>
      <vt:lpstr>Clausal Normal Form</vt:lpstr>
      <vt:lpstr>CNF Step 1: remove implication</vt:lpstr>
      <vt:lpstr>CNF Step 2: move negation inwards</vt:lpstr>
      <vt:lpstr>CNF Step 3: Standardize Variables Apart</vt:lpstr>
      <vt:lpstr>CNF Step 4: Skolemize</vt:lpstr>
      <vt:lpstr>CNF Step 5: move universal quantifiers outwards </vt:lpstr>
      <vt:lpstr>CNF Step 6: Distribute "and" ∧ over "or" ∨ </vt:lpstr>
      <vt:lpstr>Write down the CNF</vt:lpstr>
      <vt:lpstr>A Prolog program is a set of Horn clauses</vt:lpstr>
      <vt:lpstr>Converting CNF to Prolog</vt:lpstr>
      <vt:lpstr>Horn Clauses</vt:lpstr>
      <vt:lpstr>Prolog is limited to Horn Clauses</vt:lpstr>
      <vt:lpstr>Example: Sitcalc to Prolog</vt:lpstr>
      <vt:lpstr>Precondition Axioms</vt:lpstr>
      <vt:lpstr>Successor State Axioms</vt:lpstr>
      <vt:lpstr>Not so fast?</vt:lpstr>
      <vt:lpstr>(reminder) Steps to Axiomatize a Domain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237</cp:revision>
  <dcterms:created xsi:type="dcterms:W3CDTF">2016-12-21T16:02:28Z</dcterms:created>
  <dcterms:modified xsi:type="dcterms:W3CDTF">2025-11-13T15:44:26Z</dcterms:modified>
</cp:coreProperties>
</file>