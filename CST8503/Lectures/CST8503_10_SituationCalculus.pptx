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358" r:id="rId3"/>
    <p:sldId id="413" r:id="rId4"/>
    <p:sldId id="414" r:id="rId5"/>
    <p:sldId id="365" r:id="rId6"/>
    <p:sldId id="360" r:id="rId7"/>
    <p:sldId id="415" r:id="rId8"/>
    <p:sldId id="361" r:id="rId9"/>
    <p:sldId id="362" r:id="rId10"/>
    <p:sldId id="363" r:id="rId11"/>
    <p:sldId id="407" r:id="rId12"/>
    <p:sldId id="364" r:id="rId13"/>
    <p:sldId id="406" r:id="rId14"/>
    <p:sldId id="349" r:id="rId15"/>
    <p:sldId id="410" r:id="rId16"/>
    <p:sldId id="366" r:id="rId17"/>
    <p:sldId id="367" r:id="rId18"/>
    <p:sldId id="408" r:id="rId19"/>
    <p:sldId id="350" r:id="rId20"/>
    <p:sldId id="411" r:id="rId21"/>
    <p:sldId id="412" r:id="rId22"/>
    <p:sldId id="395" r:id="rId23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20" autoAdjust="0"/>
    <p:restoredTop sz="94717" autoAdjust="0"/>
  </p:normalViewPr>
  <p:slideViewPr>
    <p:cSldViewPr snapToGrid="0" snapToObjects="1">
      <p:cViewPr varScale="1">
        <p:scale>
          <a:sx n="64" d="100"/>
          <a:sy n="64" d="100"/>
        </p:scale>
        <p:origin x="400" y="168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5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Representation: Situation Calculus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A481-346D-B945-9B55-5DE8E644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118" y="301122"/>
            <a:ext cx="9475914" cy="1335973"/>
          </a:xfrm>
        </p:spPr>
        <p:txBody>
          <a:bodyPr/>
          <a:lstStyle/>
          <a:p>
            <a:r>
              <a:rPr lang="en-US" dirty="0"/>
              <a:t>Situation Calculus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284BA-5E3E-F044-84BF-7EA9F24E1E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066800"/>
            <a:ext cx="11615780" cy="6468534"/>
          </a:xfrm>
        </p:spPr>
        <p:txBody>
          <a:bodyPr/>
          <a:lstStyle/>
          <a:p>
            <a:r>
              <a:rPr lang="en-US" dirty="0"/>
              <a:t>The Situation Calculus is a first-order predicate language designed for representing and reasoning about dynamical worlds</a:t>
            </a:r>
          </a:p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Situation_calculus</a:t>
            </a:r>
            <a:endParaRPr lang="en-US" dirty="0"/>
          </a:p>
          <a:p>
            <a:r>
              <a:rPr lang="en-US" dirty="0"/>
              <a:t>Note: first-order predicate calculus is actually an infinite family of languages.  The version of the situation calculus we will use in this course is a member of that family.</a:t>
            </a:r>
          </a:p>
          <a:p>
            <a:r>
              <a:rPr lang="en-US" dirty="0"/>
              <a:t>First introduced by John McCarthy in 1963</a:t>
            </a:r>
          </a:p>
          <a:p>
            <a:r>
              <a:rPr lang="en-US" dirty="0"/>
              <a:t>Developed further by the KR group at the University of Toronto: see papers/books by Ray Reiter, Hector Levesque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498A5-1A09-C94D-B5C1-7C52FC3A54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4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A89B-5975-22FC-6648-A60B66FD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0324-DFDF-EABA-FDBF-9BBEAB4F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Situation Calculus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8279-B6ED-8603-702B-82BFE038A7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8666"/>
            <a:ext cx="14830392" cy="6565516"/>
          </a:xfrm>
        </p:spPr>
        <p:txBody>
          <a:bodyPr/>
          <a:lstStyle/>
          <a:p>
            <a:r>
              <a:rPr lang="en-CA" dirty="0"/>
              <a:t>The basic elements of the calculus 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i="1" dirty="0"/>
              <a:t>actions</a:t>
            </a:r>
            <a:r>
              <a:rPr lang="en-CA" dirty="0"/>
              <a:t> that can be performed in the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The </a:t>
            </a:r>
            <a:r>
              <a:rPr lang="en-CA" b="1" i="1" dirty="0" err="1"/>
              <a:t>fluents</a:t>
            </a:r>
            <a:r>
              <a:rPr lang="en-CA" dirty="0"/>
              <a:t> that describe the state of the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i="1" dirty="0"/>
              <a:t>situations</a:t>
            </a:r>
            <a:r>
              <a:rPr lang="en-CA" dirty="0"/>
              <a:t> that represent courses of action</a:t>
            </a:r>
            <a:endParaRPr lang="en-CA" b="1" i="1" dirty="0"/>
          </a:p>
          <a:p>
            <a:r>
              <a:rPr lang="en-CA" dirty="0"/>
              <a:t>A domain is formalized by a number of axioms, namely: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Action precondition axioms</a:t>
            </a:r>
            <a:r>
              <a:rPr lang="en-CA" dirty="0"/>
              <a:t>, one for each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Successor state axioms</a:t>
            </a:r>
            <a:r>
              <a:rPr lang="en-CA" dirty="0"/>
              <a:t>, one for each fluent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Axioms describing the </a:t>
            </a:r>
            <a:r>
              <a:rPr lang="en-CA" b="1" i="1" dirty="0"/>
              <a:t>initial state</a:t>
            </a:r>
            <a:r>
              <a:rPr lang="en-CA" dirty="0"/>
              <a:t> of the world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i="1" dirty="0"/>
              <a:t>foundational axioms</a:t>
            </a:r>
            <a:r>
              <a:rPr lang="en-CA" dirty="0"/>
              <a:t> of the situation calculus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D928B-D097-81E3-6719-320F62CC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1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0F0-DBCF-B4F6-124C-4E911F4F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E70D-38FF-E74A-4449-E64C79FE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Situation Calculus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B2905-D950-8774-C4D0-65DD5FA903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8666"/>
            <a:ext cx="14830392" cy="6565516"/>
          </a:xfrm>
        </p:spPr>
        <p:txBody>
          <a:bodyPr/>
          <a:lstStyle/>
          <a:p>
            <a:r>
              <a:rPr lang="en-CA" dirty="0"/>
              <a:t>The basic elements of the calculus: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actions</a:t>
            </a:r>
            <a:r>
              <a:rPr lang="en-CA" dirty="0"/>
              <a:t> are things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 err="1"/>
              <a:t>fluents</a:t>
            </a:r>
            <a:r>
              <a:rPr lang="en-CA" dirty="0"/>
              <a:t> are predicates that give state of the world which depends on situation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situations</a:t>
            </a:r>
            <a:r>
              <a:rPr lang="en-CA" dirty="0"/>
              <a:t> are effectively lists of actions (read right to left)</a:t>
            </a:r>
            <a:endParaRPr lang="en-CA" b="1" i="1" dirty="0"/>
          </a:p>
          <a:p>
            <a:r>
              <a:rPr lang="en-CA" dirty="0"/>
              <a:t>A domain is formalized by a number of axioms, namely: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Action precondition axioms: </a:t>
            </a:r>
            <a:r>
              <a:rPr lang="en-CA" dirty="0"/>
              <a:t>under what conditions is each action possible?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Successor state axioms:</a:t>
            </a:r>
            <a:r>
              <a:rPr lang="en-CA" dirty="0"/>
              <a:t> what is true after an action occurrence?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Initial State axioms:</a:t>
            </a:r>
            <a:r>
              <a:rPr lang="en-CA" dirty="0"/>
              <a:t> what is true before any action happens?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1" i="1" dirty="0"/>
              <a:t>Foundational Axioms: </a:t>
            </a:r>
            <a:r>
              <a:rPr lang="en-CA" dirty="0"/>
              <a:t>implicit for us -- we concentrate on the above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71BB7-A59F-8786-1CEB-7964AC6673D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EDBC-5982-084A-A47C-2CEB7E8E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408147"/>
            <a:ext cx="9475914" cy="811053"/>
          </a:xfrm>
        </p:spPr>
        <p:txBody>
          <a:bodyPr/>
          <a:lstStyle/>
          <a:p>
            <a:r>
              <a:rPr lang="en-US" dirty="0"/>
              <a:t>Axioms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2D889-2C29-BB4A-861A-53BF4D8C70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080655"/>
            <a:ext cx="11615780" cy="7204363"/>
          </a:xfrm>
        </p:spPr>
        <p:txBody>
          <a:bodyPr/>
          <a:lstStyle/>
          <a:p>
            <a:r>
              <a:rPr lang="en-US" dirty="0"/>
              <a:t>What are axioms?</a:t>
            </a:r>
          </a:p>
          <a:p>
            <a:r>
              <a:rPr lang="en-US" dirty="0"/>
              <a:t>Axioms are the initial statements (logical formulae) that we make when we are representing a domain</a:t>
            </a:r>
          </a:p>
          <a:p>
            <a:r>
              <a:rPr lang="en-US" dirty="0"/>
              <a:t>What do I mean by a domain?</a:t>
            </a:r>
          </a:p>
          <a:p>
            <a:r>
              <a:rPr lang="en-US" dirty="0"/>
              <a:t>A domain is a part of the world that's relevant to the reasoning we want to do, for example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a block-stacking domain, we would write down everything we can about blocks, stacking, moving, putting down, and 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we want to represent a bigger subset of the world, there is more we need to write down to represent that world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5BC59-FE77-D74C-BD40-E315561C64F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3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D7F4-8E1D-D042-9BF5-AEFB3B9F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FB21F-83FB-0947-B559-A632CC845A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4217"/>
            <a:ext cx="11615780" cy="6165273"/>
          </a:xfrm>
        </p:spPr>
        <p:txBody>
          <a:bodyPr/>
          <a:lstStyle/>
          <a:p>
            <a:r>
              <a:rPr lang="en-US" dirty="0"/>
              <a:t>We will concentrate on simple actions whose effects don't depend on time</a:t>
            </a:r>
          </a:p>
          <a:p>
            <a:r>
              <a:rPr lang="en-US" dirty="0"/>
              <a:t>The formalism works with complex/concurrent actions, and actions that depend on time, but we will keep things simple</a:t>
            </a:r>
          </a:p>
          <a:p>
            <a:r>
              <a:rPr lang="en-US" dirty="0"/>
              <a:t>Actions are the mechanism for aspects of our domain to change</a:t>
            </a:r>
          </a:p>
          <a:p>
            <a:r>
              <a:rPr lang="en-US" dirty="0"/>
              <a:t>Example actions:</a:t>
            </a:r>
          </a:p>
          <a:p>
            <a:r>
              <a:rPr lang="en-US" dirty="0"/>
              <a:t>	</a:t>
            </a:r>
            <a:r>
              <a:rPr lang="en-US" dirty="0" err="1"/>
              <a:t>pick_up</a:t>
            </a:r>
            <a:r>
              <a:rPr lang="en-US" dirty="0"/>
              <a:t>(block(block1))</a:t>
            </a:r>
          </a:p>
          <a:p>
            <a:r>
              <a:rPr lang="en-US" dirty="0"/>
              <a:t>	</a:t>
            </a:r>
            <a:r>
              <a:rPr lang="en-US" dirty="0" err="1"/>
              <a:t>move_to</a:t>
            </a:r>
            <a:r>
              <a:rPr lang="en-US" dirty="0"/>
              <a:t>(location(x),location(y))</a:t>
            </a:r>
          </a:p>
          <a:p>
            <a:r>
              <a:rPr lang="en-US" dirty="0"/>
              <a:t>	</a:t>
            </a:r>
            <a:r>
              <a:rPr lang="en-US" dirty="0" err="1"/>
              <a:t>put_down</a:t>
            </a:r>
            <a:r>
              <a:rPr lang="en-US" dirty="0"/>
              <a:t>(block(block1))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D1BDB-4112-C546-AA84-50FE528CA0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91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F9BF-3928-B88E-2A01-893192D7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FDA1-508E-AAEA-AE01-1AEE3ED16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430741"/>
            <a:ext cx="9475914" cy="1335973"/>
          </a:xfrm>
        </p:spPr>
        <p:txBody>
          <a:bodyPr/>
          <a:lstStyle/>
          <a:p>
            <a:r>
              <a:rPr lang="en-US" dirty="0"/>
              <a:t>Action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1487-210B-85A9-3FAF-10C903E8EB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012874"/>
            <a:ext cx="11819907" cy="7188591"/>
          </a:xfrm>
        </p:spPr>
        <p:txBody>
          <a:bodyPr/>
          <a:lstStyle/>
          <a:p>
            <a:r>
              <a:rPr lang="en-US" dirty="0"/>
              <a:t>Sometimes we represent a number of actions with a single expression called an </a:t>
            </a:r>
            <a:r>
              <a:rPr lang="en-US" i="1" dirty="0"/>
              <a:t>Action</a:t>
            </a:r>
            <a:r>
              <a:rPr lang="en-US" dirty="0"/>
              <a:t> </a:t>
            </a:r>
            <a:r>
              <a:rPr lang="en-US" i="1" dirty="0"/>
              <a:t>Schema.</a:t>
            </a:r>
          </a:p>
          <a:p>
            <a:r>
              <a:rPr lang="en-US" dirty="0"/>
              <a:t>Blocks World Action Schema:   move(</a:t>
            </a:r>
            <a:r>
              <a:rPr lang="en-US" dirty="0" err="1"/>
              <a:t>Block,Src,Dst</a:t>
            </a:r>
            <a:r>
              <a:rPr lang="en-US" dirty="0"/>
              <a:t>)</a:t>
            </a:r>
          </a:p>
          <a:p>
            <a:r>
              <a:rPr lang="en-US" dirty="0"/>
              <a:t>3 blocks, 4 positions in the blocks world of this course</a:t>
            </a:r>
          </a:p>
          <a:p>
            <a:r>
              <a:rPr lang="en-US" dirty="0"/>
              <a:t>Single expression representing all the individual actions -- all combinations of (</a:t>
            </a:r>
            <a:r>
              <a:rPr lang="en-US" dirty="0" err="1"/>
              <a:t>Block,Src,Dst</a:t>
            </a:r>
            <a:r>
              <a:rPr lang="en-US" dirty="0"/>
              <a:t>), of which there are 3x7x7:</a:t>
            </a:r>
          </a:p>
          <a:p>
            <a:r>
              <a:rPr lang="en-US" dirty="0"/>
              <a:t>move(block(b1),block(b1),block(b1))</a:t>
            </a:r>
          </a:p>
          <a:p>
            <a:r>
              <a:rPr lang="en-US" dirty="0"/>
              <a:t>move(block(b1),block(b1),block(b2))</a:t>
            </a:r>
          </a:p>
          <a:p>
            <a:r>
              <a:rPr lang="en-US" dirty="0"/>
              <a:t>move(block(b1),block(b1),block(b3))</a:t>
            </a:r>
          </a:p>
          <a:p>
            <a:r>
              <a:rPr lang="en-US" dirty="0"/>
              <a:t>move(block(b1),block(b1),position(p1)) …. </a:t>
            </a:r>
            <a:r>
              <a:rPr lang="en-US" dirty="0" err="1"/>
              <a:t>etc</a:t>
            </a:r>
            <a:r>
              <a:rPr lang="en-US" dirty="0"/>
              <a:t> …. </a:t>
            </a:r>
            <a:r>
              <a:rPr lang="en-US" dirty="0" err="1"/>
              <a:t>etc</a:t>
            </a:r>
            <a:r>
              <a:rPr lang="en-US" dirty="0"/>
              <a:t> 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3DF7A-B76D-ADE4-F8A5-C898CD80B3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32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EBFE-F344-6646-9F7F-60A846CA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 err="1"/>
              <a:t>Fluents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2B248-70BD-3A4F-9BC8-5CDEB4B353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371600"/>
            <a:ext cx="15444707" cy="7004035"/>
          </a:xfrm>
        </p:spPr>
        <p:txBody>
          <a:bodyPr/>
          <a:lstStyle/>
          <a:p>
            <a:r>
              <a:rPr lang="en-US" dirty="0" err="1"/>
              <a:t>Fluents</a:t>
            </a:r>
            <a:r>
              <a:rPr lang="en-US" dirty="0"/>
              <a:t> are predicates that take a situation argument</a:t>
            </a:r>
          </a:p>
          <a:p>
            <a:r>
              <a:rPr lang="en-US" dirty="0"/>
              <a:t>They are called </a:t>
            </a:r>
            <a:r>
              <a:rPr lang="en-US" dirty="0" err="1"/>
              <a:t>fluents</a:t>
            </a:r>
            <a:r>
              <a:rPr lang="en-US" dirty="0"/>
              <a:t> because they represent statements whose truth value changes (due to actions)</a:t>
            </a:r>
          </a:p>
          <a:p>
            <a:r>
              <a:rPr lang="en-US" dirty="0"/>
              <a:t>They take a situation (action history) as the last argument</a:t>
            </a:r>
          </a:p>
          <a:p>
            <a:r>
              <a:rPr lang="en-US" dirty="0" err="1"/>
              <a:t>Fluents</a:t>
            </a:r>
            <a:r>
              <a:rPr lang="en-US" dirty="0"/>
              <a:t> are used to represent the situation-dependent state of the world (hence their last argument is a situation)</a:t>
            </a:r>
          </a:p>
          <a:p>
            <a:r>
              <a:rPr lang="en-US" dirty="0"/>
              <a:t>Examples of </a:t>
            </a:r>
            <a:r>
              <a:rPr lang="en-US" dirty="0" err="1"/>
              <a:t>Fluents</a:t>
            </a:r>
            <a:r>
              <a:rPr lang="en-US" dirty="0"/>
              <a:t> being used to make statements:</a:t>
            </a:r>
          </a:p>
          <a:p>
            <a:r>
              <a:rPr lang="en-US" dirty="0"/>
              <a:t>	on(block(block1),block(block2),s)</a:t>
            </a:r>
          </a:p>
          <a:p>
            <a:r>
              <a:rPr lang="en-US" dirty="0"/>
              <a:t>	holding(block(block3),s)</a:t>
            </a:r>
          </a:p>
          <a:p>
            <a:r>
              <a:rPr lang="en-US" dirty="0"/>
              <a:t>	position(location(x),location(y),s)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595FE-AFED-A744-BA26-CD134CC6BDF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38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E009-41DE-8D47-86E7-7D4F1F7E8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352730"/>
            <a:ext cx="9475914" cy="700216"/>
          </a:xfrm>
        </p:spPr>
        <p:txBody>
          <a:bodyPr/>
          <a:lstStyle/>
          <a:p>
            <a:r>
              <a:rPr lang="en-US" dirty="0"/>
              <a:t>Situations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1F4A7-B931-8A4E-A7D8-8483647456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79" y="1083837"/>
            <a:ext cx="14309890" cy="7270454"/>
          </a:xfrm>
        </p:spPr>
        <p:txBody>
          <a:bodyPr/>
          <a:lstStyle/>
          <a:p>
            <a:r>
              <a:rPr lang="en-US" dirty="0"/>
              <a:t>It's tempting to think of a situation as a state, but in the modern versions of the situation calculus, a situation 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	an action history, or in other words, a course of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There is a distinguished function symbol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dirty="0"/>
              <a:t> representing the action history of no 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There is a distinguished function symbol </a:t>
            </a:r>
            <a:r>
              <a:rPr lang="en-US" b="1" dirty="0"/>
              <a:t>do(</a:t>
            </a:r>
            <a:r>
              <a:rPr lang="en-US" b="1" dirty="0" err="1"/>
              <a:t>a,s</a:t>
            </a:r>
            <a:r>
              <a:rPr lang="en-US" b="1" dirty="0"/>
              <a:t>)</a:t>
            </a:r>
            <a:r>
              <a:rPr lang="en-US" dirty="0"/>
              <a:t> representing the situation (action history) resulting from doing a "in" or equivalently "after" 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Example situations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do(</a:t>
            </a:r>
            <a:r>
              <a:rPr lang="en-US" dirty="0" err="1"/>
              <a:t>pick_up</a:t>
            </a:r>
            <a:r>
              <a:rPr lang="en-US" dirty="0"/>
              <a:t>(block(block1)),S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do(</a:t>
            </a:r>
            <a:r>
              <a:rPr lang="en-US" sz="2400" dirty="0" err="1"/>
              <a:t>put_down</a:t>
            </a:r>
            <a:r>
              <a:rPr lang="en-US" sz="2400" dirty="0"/>
              <a:t>(block(block1)),do(move(location(x),location(y)),do(</a:t>
            </a:r>
            <a:r>
              <a:rPr lang="en-US" sz="2400" dirty="0" err="1"/>
              <a:t>pick_up</a:t>
            </a:r>
            <a:r>
              <a:rPr lang="en-US" sz="2400" dirty="0"/>
              <a:t>(block(block1)),S</a:t>
            </a:r>
            <a:r>
              <a:rPr lang="en-US" sz="2400" baseline="-25000" dirty="0"/>
              <a:t>0</a:t>
            </a:r>
            <a:r>
              <a:rPr lang="en-US" sz="2400" dirty="0"/>
              <a:t>)))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B6752-DD5C-B841-A4BD-4A4018DB8B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44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E395-5600-F248-8F72-39FA5697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426466"/>
            <a:ext cx="9475914" cy="617090"/>
          </a:xfrm>
        </p:spPr>
        <p:txBody>
          <a:bodyPr/>
          <a:lstStyle/>
          <a:p>
            <a:r>
              <a:rPr lang="en-US" dirty="0"/>
              <a:t>Situation 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9CE60-E4F8-4B42-A5C3-1844FD0C22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385455"/>
            <a:ext cx="13972524" cy="6677890"/>
          </a:xfrm>
        </p:spPr>
        <p:txBody>
          <a:bodyPr/>
          <a:lstStyle/>
          <a:p>
            <a:r>
              <a:rPr lang="en-US" sz="2400" b="1" dirty="0"/>
              <a:t>do(</a:t>
            </a:r>
            <a:r>
              <a:rPr lang="en-US" sz="2400" b="1" dirty="0" err="1"/>
              <a:t>put_down</a:t>
            </a:r>
            <a:r>
              <a:rPr lang="en-US" sz="2400" b="1" dirty="0"/>
              <a:t>(block(block1)),do(move(location(x),location(y)),do(</a:t>
            </a:r>
            <a:r>
              <a:rPr lang="en-US" sz="2400" b="1" dirty="0" err="1"/>
              <a:t>pick_up</a:t>
            </a:r>
            <a:r>
              <a:rPr lang="en-US" sz="2400" b="1" dirty="0"/>
              <a:t>(block(block1)),S</a:t>
            </a:r>
            <a:r>
              <a:rPr lang="en-US" sz="2400" b="1" baseline="-25000" dirty="0"/>
              <a:t>0</a:t>
            </a:r>
            <a:r>
              <a:rPr lang="en-US" sz="2400" b="1" dirty="0"/>
              <a:t>)))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This represents a course of action consisting of three actions, in order: </a:t>
            </a:r>
            <a:r>
              <a:rPr lang="en-US" sz="2400" b="1" dirty="0" err="1"/>
              <a:t>pick_up</a:t>
            </a:r>
            <a:r>
              <a:rPr lang="en-US" sz="2400" b="1" dirty="0"/>
              <a:t>(block(block1)), move(location(x),location(y)), </a:t>
            </a:r>
            <a:r>
              <a:rPr lang="en-US" sz="2400" b="1" dirty="0" err="1"/>
              <a:t>put_down</a:t>
            </a:r>
            <a:r>
              <a:rPr lang="en-US" sz="2400" b="1" dirty="0"/>
              <a:t>(block(block1))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Similarity to </a:t>
            </a:r>
            <a:r>
              <a:rPr lang="en-US" sz="2400" dirty="0" err="1"/>
              <a:t>peano</a:t>
            </a:r>
            <a:r>
              <a:rPr lang="en-US" sz="2400" dirty="0"/>
              <a:t> number theory:</a:t>
            </a:r>
          </a:p>
          <a:p>
            <a:r>
              <a:rPr lang="en-US" sz="2400" b="1" dirty="0" err="1"/>
              <a:t>succ</a:t>
            </a:r>
            <a:r>
              <a:rPr lang="en-US" sz="2400" b="1" dirty="0"/>
              <a:t>(</a:t>
            </a:r>
            <a:r>
              <a:rPr lang="en-US" sz="2400" b="1" dirty="0" err="1"/>
              <a:t>succ</a:t>
            </a:r>
            <a:r>
              <a:rPr lang="en-US" sz="2400" b="1" dirty="0"/>
              <a:t>(</a:t>
            </a:r>
            <a:r>
              <a:rPr lang="en-US" sz="2400" b="1" dirty="0" err="1"/>
              <a:t>succ</a:t>
            </a:r>
            <a:r>
              <a:rPr lang="en-US" sz="2400" b="1" dirty="0"/>
              <a:t>(0))) </a:t>
            </a:r>
            <a:r>
              <a:rPr lang="en-US" sz="2400" dirty="0"/>
              <a:t>is the formal representation of 3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2400" dirty="0"/>
              <a:t>Similarity to prolog lists, using the dot (</a:t>
            </a:r>
            <a:r>
              <a:rPr lang="en-US" sz="2400" b="1" dirty="0"/>
              <a:t>.</a:t>
            </a:r>
            <a:r>
              <a:rPr lang="en-US" sz="2400" dirty="0"/>
              <a:t>) functor notation</a:t>
            </a:r>
          </a:p>
          <a:p>
            <a:r>
              <a:rPr lang="en-US" sz="2400" b="1" dirty="0"/>
              <a:t>. (</a:t>
            </a:r>
            <a:r>
              <a:rPr lang="en-US" sz="2400" b="1" dirty="0" err="1"/>
              <a:t>put_down</a:t>
            </a:r>
            <a:r>
              <a:rPr lang="en-US" sz="2400" b="1" dirty="0"/>
              <a:t>(block(block1)),.(move(location(x),location(y)),.(</a:t>
            </a:r>
            <a:r>
              <a:rPr lang="en-US" sz="2400" b="1" dirty="0" err="1"/>
              <a:t>pick_up</a:t>
            </a:r>
            <a:r>
              <a:rPr lang="en-US" sz="2400" b="1" dirty="0"/>
              <a:t>(block(block1)),[ ])))</a:t>
            </a:r>
          </a:p>
          <a:p>
            <a:r>
              <a:rPr lang="en-US" sz="2400" dirty="0"/>
              <a:t> or in prolog regular notation for lists</a:t>
            </a:r>
          </a:p>
          <a:p>
            <a:r>
              <a:rPr lang="en-US" sz="2400" b="1" dirty="0"/>
              <a:t>[</a:t>
            </a:r>
            <a:r>
              <a:rPr lang="en-US" sz="2400" b="1" dirty="0" err="1"/>
              <a:t>put_down</a:t>
            </a:r>
            <a:r>
              <a:rPr lang="en-US" sz="2400" b="1" dirty="0"/>
              <a:t>(block(block1)),move(location(x),location(y)),</a:t>
            </a:r>
            <a:r>
              <a:rPr lang="en-US" sz="2400" b="1" dirty="0" err="1"/>
              <a:t>pick_up</a:t>
            </a:r>
            <a:r>
              <a:rPr lang="en-US" sz="2400" b="1" dirty="0"/>
              <a:t>(block(block1))]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9EFA8-73A3-364D-81BF-3CB2070636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74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E395-5600-F248-8F72-39FA5697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426466"/>
            <a:ext cx="9475914" cy="617090"/>
          </a:xfrm>
        </p:spPr>
        <p:txBody>
          <a:bodyPr/>
          <a:lstStyle/>
          <a:p>
            <a:r>
              <a:rPr lang="en-US" dirty="0"/>
              <a:t>Situation observations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9CE60-E4F8-4B42-A5C3-1844FD0C22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3" y="1163782"/>
            <a:ext cx="12690903" cy="6899563"/>
          </a:xfrm>
        </p:spPr>
        <p:txBody>
          <a:bodyPr/>
          <a:lstStyle/>
          <a:p>
            <a:r>
              <a:rPr lang="en-US" sz="2000" b="1" dirty="0"/>
              <a:t>do(</a:t>
            </a:r>
            <a:r>
              <a:rPr lang="en-US" sz="2000" b="1" dirty="0" err="1"/>
              <a:t>put_down</a:t>
            </a:r>
            <a:r>
              <a:rPr lang="en-US" sz="2000" b="1" dirty="0"/>
              <a:t>(block(block1)),do(move(location(x),location(y)),do(</a:t>
            </a:r>
            <a:r>
              <a:rPr lang="en-US" sz="2000" b="1" dirty="0" err="1"/>
              <a:t>pick_up</a:t>
            </a:r>
            <a:r>
              <a:rPr lang="en-US" sz="2000" b="1" dirty="0"/>
              <a:t>(block(block1)),S</a:t>
            </a:r>
            <a:r>
              <a:rPr lang="en-US" sz="2000" b="1" baseline="-25000" dirty="0"/>
              <a:t>0</a:t>
            </a:r>
            <a:r>
              <a:rPr lang="en-US" sz="2000" b="1" dirty="0"/>
              <a:t>)))</a:t>
            </a:r>
            <a:r>
              <a:rPr lang="en-US" sz="2000" dirty="0"/>
              <a:t> </a:t>
            </a:r>
          </a:p>
          <a:p>
            <a:r>
              <a:rPr lang="en-US" dirty="0"/>
              <a:t>We can be really clever Prolog programmers and adopt the following convention for situations: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special situation where nothing has happened, </a:t>
            </a:r>
            <a:r>
              <a:rPr lang="en-US" b="1" dirty="0"/>
              <a:t>S</a:t>
            </a:r>
            <a:r>
              <a:rPr lang="en-US" b="1" baseline="-25000" dirty="0"/>
              <a:t>0</a:t>
            </a:r>
            <a:r>
              <a:rPr lang="en-US" baseline="-25000" dirty="0"/>
              <a:t>,</a:t>
            </a:r>
            <a:r>
              <a:rPr lang="en-US" dirty="0"/>
              <a:t> will be represented by the special Prolog atom </a:t>
            </a:r>
            <a:r>
              <a:rPr lang="en-US" b="1" dirty="0"/>
              <a:t>[]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function symbol </a:t>
            </a:r>
            <a:r>
              <a:rPr lang="en-US" b="1" dirty="0"/>
              <a:t>do</a:t>
            </a:r>
            <a:r>
              <a:rPr lang="en-US" dirty="0"/>
              <a:t> will be represented by the list functor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do(a,S</a:t>
            </a:r>
            <a:r>
              <a:rPr lang="en-US" baseline="-25000" dirty="0"/>
              <a:t>0</a:t>
            </a:r>
            <a:r>
              <a:rPr lang="en-US" dirty="0"/>
              <a:t>) will be written in Prolog as [a] or [a|[]]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do(</a:t>
            </a:r>
            <a:r>
              <a:rPr lang="en-US" dirty="0" err="1"/>
              <a:t>a,S</a:t>
            </a:r>
            <a:r>
              <a:rPr lang="en-US" dirty="0"/>
              <a:t>) will be written in Prolog as [</a:t>
            </a:r>
            <a:r>
              <a:rPr lang="en-US" dirty="0" err="1"/>
              <a:t>a|S</a:t>
            </a:r>
            <a:r>
              <a:rPr lang="en-US" dirty="0"/>
              <a:t>]</a:t>
            </a:r>
          </a:p>
          <a:p>
            <a:r>
              <a:rPr lang="en-US" dirty="0"/>
              <a:t>The above situation becomes a Prolog list, read RIGHT to LEFT:</a:t>
            </a:r>
          </a:p>
          <a:p>
            <a:r>
              <a:rPr lang="en-US" sz="2400" b="1" dirty="0"/>
              <a:t>[</a:t>
            </a:r>
            <a:r>
              <a:rPr lang="en-US" sz="2400" b="1" dirty="0" err="1"/>
              <a:t>put_down</a:t>
            </a:r>
            <a:r>
              <a:rPr lang="en-US" sz="2400" b="1" dirty="0"/>
              <a:t>(block(block1)),move(location(x),location(y)),</a:t>
            </a:r>
            <a:r>
              <a:rPr lang="en-US" sz="2400" b="1" dirty="0" err="1"/>
              <a:t>pick_up</a:t>
            </a:r>
            <a:r>
              <a:rPr lang="en-US" sz="2400" b="1" dirty="0"/>
              <a:t>(block(block1))]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9EFA8-73A3-364D-81BF-3CB2070636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4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0D7D-EBEB-BE44-B93A-26C68EEC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422002"/>
            <a:ext cx="9475914" cy="880326"/>
          </a:xfrm>
        </p:spPr>
        <p:txBody>
          <a:bodyPr/>
          <a:lstStyle/>
          <a:p>
            <a:r>
              <a:rPr lang="en-US" dirty="0"/>
              <a:t>Action precondition axioms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712ED9-DEE8-7046-8302-C7B38B65FA9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454727"/>
                <a:ext cx="11615780" cy="6656340"/>
              </a:xfrm>
            </p:spPr>
            <p:txBody>
              <a:bodyPr/>
              <a:lstStyle/>
              <a:p>
                <a:r>
                  <a:rPr lang="en-US" dirty="0"/>
                  <a:t>For each action, we need to state up front where that action is possible and where it isn't possible</a:t>
                </a:r>
              </a:p>
              <a:p>
                <a:r>
                  <a:rPr lang="en-US" dirty="0"/>
                  <a:t>"where" here means: "after which courses of action?" or alternatively we could say "in which situations?"</a:t>
                </a:r>
              </a:p>
              <a:p>
                <a:r>
                  <a:rPr lang="en-US" dirty="0"/>
                  <a:t>General form of precondition axiom:</a:t>
                </a:r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≡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action, where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represents all the arguments of the action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logical formula involving </a:t>
                </a:r>
                <a:r>
                  <a:rPr lang="en-US" dirty="0" err="1"/>
                  <a:t>fluents</a:t>
                </a:r>
                <a:r>
                  <a:rPr lang="en-US" dirty="0"/>
                  <a:t>, characterizing the state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possible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712ED9-DEE8-7046-8302-C7B38B65F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454727"/>
                <a:ext cx="11615780" cy="6656340"/>
              </a:xfrm>
              <a:blipFill>
                <a:blip r:embed="rId2"/>
                <a:stretch>
                  <a:fillRect l="-2074" t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B9844-35AD-9D4A-9026-E715C3AC54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85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1EF9-3A91-76EC-C729-8DDC0FD5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1549332" cy="1335973"/>
          </a:xfrm>
        </p:spPr>
        <p:txBody>
          <a:bodyPr/>
          <a:lstStyle/>
          <a:p>
            <a:r>
              <a:rPr lang="en-US" dirty="0"/>
              <a:t>Action Precondition axioms (cont'd)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D2A3B-70F3-9641-14A0-1965B9C116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448790"/>
            <a:ext cx="14684417" cy="6673931"/>
          </a:xfrm>
        </p:spPr>
        <p:txBody>
          <a:bodyPr/>
          <a:lstStyle/>
          <a:p>
            <a:r>
              <a:rPr lang="en-US" dirty="0"/>
              <a:t>Example Precondition axiom (next slide)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move(</a:t>
            </a:r>
            <a:r>
              <a:rPr lang="en-US" dirty="0" err="1"/>
              <a:t>x,y,z</a:t>
            </a:r>
            <a:r>
              <a:rPr lang="en-US" dirty="0"/>
              <a:t>) denotes an action of moving Block x from Block y to Block 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on(</a:t>
            </a:r>
            <a:r>
              <a:rPr lang="en-US" dirty="0" err="1"/>
              <a:t>x,y,s</a:t>
            </a:r>
            <a:r>
              <a:rPr lang="en-US" dirty="0"/>
              <a:t>) means that Block x is on Position or Block y in Situation 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clear(</a:t>
            </a:r>
            <a:r>
              <a:rPr lang="en-US" dirty="0" err="1"/>
              <a:t>x,s</a:t>
            </a:r>
            <a:r>
              <a:rPr lang="en-US" dirty="0"/>
              <a:t>) means that Block x is clear in Situation 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B7A86-943E-0A35-68B1-EACADD9F7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8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EEAA-EBB5-A848-8D55-3B7F6071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66471"/>
          </a:xfrm>
        </p:spPr>
        <p:txBody>
          <a:bodyPr/>
          <a:lstStyle/>
          <a:p>
            <a:r>
              <a:rPr lang="en-US" dirty="0" err="1"/>
              <a:t>Sitcalc</a:t>
            </a:r>
            <a:r>
              <a:rPr lang="en-US" dirty="0"/>
              <a:t> precondition axiom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20C52-2E4D-7C48-B1ED-0087AD0A5A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10965-34EF-F24D-B012-326E576863BD}"/>
              </a:ext>
            </a:extLst>
          </p:cNvPr>
          <p:cNvSpPr txBox="1"/>
          <p:nvPr/>
        </p:nvSpPr>
        <p:spPr>
          <a:xfrm>
            <a:off x="1745673" y="2701636"/>
            <a:ext cx="1028220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poss</a:t>
            </a:r>
            <a:r>
              <a:rPr lang="en-CA" dirty="0"/>
              <a:t>([move(</a:t>
            </a:r>
            <a:r>
              <a:rPr lang="en-CA" dirty="0" err="1"/>
              <a:t>Block,From,To</a:t>
            </a:r>
            <a:r>
              <a:rPr lang="en-CA" dirty="0"/>
              <a:t>)|S]):-</a:t>
            </a:r>
          </a:p>
          <a:p>
            <a:r>
              <a:rPr lang="en-CA" dirty="0"/>
              <a:t>  </a:t>
            </a:r>
            <a:r>
              <a:rPr lang="en-CA" dirty="0" err="1"/>
              <a:t>block_exists</a:t>
            </a:r>
            <a:r>
              <a:rPr lang="en-CA" dirty="0"/>
              <a:t>(Block),</a:t>
            </a:r>
          </a:p>
          <a:p>
            <a:r>
              <a:rPr lang="en-CA" dirty="0"/>
              <a:t>  clear(</a:t>
            </a:r>
            <a:r>
              <a:rPr lang="en-CA" dirty="0" err="1"/>
              <a:t>Block,S</a:t>
            </a:r>
            <a:r>
              <a:rPr lang="en-CA" dirty="0"/>
              <a:t>),</a:t>
            </a:r>
          </a:p>
          <a:p>
            <a:r>
              <a:rPr lang="en-CA" dirty="0"/>
              <a:t>  (</a:t>
            </a:r>
            <a:r>
              <a:rPr lang="en-CA" dirty="0" err="1"/>
              <a:t>location_exists</a:t>
            </a:r>
            <a:r>
              <a:rPr lang="en-CA" dirty="0"/>
              <a:t>(To) ; </a:t>
            </a:r>
            <a:r>
              <a:rPr lang="en-CA" dirty="0" err="1"/>
              <a:t>block_exists</a:t>
            </a:r>
            <a:r>
              <a:rPr lang="en-CA" dirty="0"/>
              <a:t>(To)),</a:t>
            </a:r>
          </a:p>
          <a:p>
            <a:r>
              <a:rPr lang="en-CA" dirty="0"/>
              <a:t>  Block \= To,</a:t>
            </a:r>
          </a:p>
          <a:p>
            <a:r>
              <a:rPr lang="en-CA" dirty="0"/>
              <a:t>  clear(</a:t>
            </a:r>
            <a:r>
              <a:rPr lang="en-CA" dirty="0" err="1"/>
              <a:t>To,S</a:t>
            </a:r>
            <a:r>
              <a:rPr lang="en-CA" dirty="0"/>
              <a:t>),</a:t>
            </a:r>
          </a:p>
          <a:p>
            <a:r>
              <a:rPr lang="en-CA" dirty="0"/>
              <a:t>  (</a:t>
            </a:r>
            <a:r>
              <a:rPr lang="en-CA" dirty="0" err="1"/>
              <a:t>location_exists</a:t>
            </a:r>
            <a:r>
              <a:rPr lang="en-CA" dirty="0"/>
              <a:t>(From);</a:t>
            </a:r>
            <a:r>
              <a:rPr lang="en-CA" dirty="0" err="1"/>
              <a:t>block_exists</a:t>
            </a:r>
            <a:r>
              <a:rPr lang="en-CA" dirty="0"/>
              <a:t>(From)),</a:t>
            </a:r>
          </a:p>
          <a:p>
            <a:r>
              <a:rPr lang="en-CA" dirty="0"/>
              <a:t>  on(</a:t>
            </a:r>
            <a:r>
              <a:rPr lang="en-CA" dirty="0" err="1"/>
              <a:t>Block,From,S</a:t>
            </a:r>
            <a:r>
              <a:rPr lang="en-CA" dirty="0"/>
              <a:t>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36DD5-3764-C44A-B436-CE5319916ADE}"/>
              </a:ext>
            </a:extLst>
          </p:cNvPr>
          <p:cNvSpPr txBox="1"/>
          <p:nvPr/>
        </p:nvSpPr>
        <p:spPr>
          <a:xfrm>
            <a:off x="1967346" y="1771854"/>
            <a:ext cx="780213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%Let's add comments to this code together</a:t>
            </a:r>
          </a:p>
        </p:txBody>
      </p:sp>
    </p:spTree>
    <p:extLst>
      <p:ext uri="{BB962C8B-B14F-4D97-AF65-F5344CB8AC3E}">
        <p14:creationId xmlns:p14="http://schemas.microsoft.com/office/powerpoint/2010/main" val="327794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1EF9-3A91-76EC-C729-8DDC0FD5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340854"/>
            <a:ext cx="14039192" cy="680425"/>
          </a:xfrm>
        </p:spPr>
        <p:txBody>
          <a:bodyPr/>
          <a:lstStyle/>
          <a:p>
            <a:r>
              <a:rPr lang="en-US" dirty="0"/>
              <a:t>Action Precondition axioms 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D2A3B-70F3-9641-14A0-1965B9C116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021279"/>
            <a:ext cx="14684417" cy="7249885"/>
          </a:xfrm>
        </p:spPr>
        <p:txBody>
          <a:bodyPr/>
          <a:lstStyle/>
          <a:p>
            <a:r>
              <a:rPr lang="en-US" dirty="0"/>
              <a:t>With situations, we observed that it is convenient to use Prolog's list notation: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empty list [] can represent the initial situation S</a:t>
            </a:r>
            <a:r>
              <a:rPr lang="en-US" baseline="-25000" dirty="0"/>
              <a:t>0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List notation [A|S] can represent the situation do(</a:t>
            </a:r>
            <a:r>
              <a:rPr lang="en-US" dirty="0" err="1"/>
              <a:t>a,s</a:t>
            </a:r>
            <a:r>
              <a:rPr lang="en-US" dirty="0"/>
              <a:t>)</a:t>
            </a:r>
          </a:p>
          <a:p>
            <a:r>
              <a:rPr lang="en-US" dirty="0"/>
              <a:t>We make a similar observation that the </a:t>
            </a:r>
            <a:r>
              <a:rPr lang="en-US" dirty="0" err="1"/>
              <a:t>Poss</a:t>
            </a:r>
            <a:r>
              <a:rPr lang="en-US" dirty="0"/>
              <a:t>(</a:t>
            </a:r>
            <a:r>
              <a:rPr lang="en-US" dirty="0" err="1"/>
              <a:t>a,s</a:t>
            </a:r>
            <a:r>
              <a:rPr lang="en-US" dirty="0"/>
              <a:t>) predicate (</a:t>
            </a:r>
            <a:r>
              <a:rPr lang="en-US" b="1" dirty="0"/>
              <a:t>two arguments</a:t>
            </a:r>
            <a:r>
              <a:rPr lang="en-US" dirty="0"/>
              <a:t>): 	</a:t>
            </a:r>
            <a:r>
              <a:rPr lang="en-US" dirty="0" err="1">
                <a:solidFill>
                  <a:srgbClr val="0070C0"/>
                </a:solidFill>
              </a:rPr>
              <a:t>poss</a:t>
            </a:r>
            <a:r>
              <a:rPr lang="en-US" dirty="0">
                <a:solidFill>
                  <a:srgbClr val="0070C0"/>
                </a:solidFill>
              </a:rPr>
              <a:t>(move(</a:t>
            </a:r>
            <a:r>
              <a:rPr lang="en-US" dirty="0" err="1">
                <a:solidFill>
                  <a:srgbClr val="0070C0"/>
                </a:solidFill>
              </a:rPr>
              <a:t>BlockA,BlockB</a:t>
            </a:r>
            <a:r>
              <a:rPr lang="en-US" dirty="0">
                <a:solidFill>
                  <a:srgbClr val="0070C0"/>
                </a:solidFill>
              </a:rPr>
              <a:t>),S) :- % two arguments for </a:t>
            </a:r>
            <a:r>
              <a:rPr lang="en-US" dirty="0" err="1">
                <a:solidFill>
                  <a:srgbClr val="0070C0"/>
                </a:solidFill>
              </a:rPr>
              <a:t>poss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		clear(</a:t>
            </a:r>
            <a:r>
              <a:rPr lang="en-US" dirty="0" err="1">
                <a:solidFill>
                  <a:srgbClr val="0070C0"/>
                </a:solidFill>
              </a:rPr>
              <a:t>BlockA,S</a:t>
            </a:r>
            <a:r>
              <a:rPr lang="en-US" dirty="0">
                <a:solidFill>
                  <a:srgbClr val="0070C0"/>
                </a:solidFill>
              </a:rPr>
              <a:t>), on(</a:t>
            </a:r>
            <a:r>
              <a:rPr lang="en-US" dirty="0" err="1">
                <a:solidFill>
                  <a:srgbClr val="0070C0"/>
                </a:solidFill>
              </a:rPr>
              <a:t>BlockA,BlockB,S</a:t>
            </a:r>
            <a:r>
              <a:rPr lang="en-US" dirty="0">
                <a:solidFill>
                  <a:srgbClr val="0070C0"/>
                </a:solidFill>
              </a:rPr>
              <a:t>), clear(</a:t>
            </a:r>
            <a:r>
              <a:rPr lang="en-US" dirty="0" err="1">
                <a:solidFill>
                  <a:srgbClr val="0070C0"/>
                </a:solidFill>
              </a:rPr>
              <a:t>BlockC,S</a:t>
            </a:r>
            <a:r>
              <a:rPr lang="en-US" dirty="0">
                <a:solidFill>
                  <a:srgbClr val="0070C0"/>
                </a:solidFill>
              </a:rPr>
              <a:t>).</a:t>
            </a:r>
          </a:p>
          <a:p>
            <a:r>
              <a:rPr lang="en-US" dirty="0"/>
              <a:t>could be equivalently written using Prolog list notation (</a:t>
            </a:r>
            <a:r>
              <a:rPr lang="en-US" b="1" dirty="0"/>
              <a:t>one argument</a:t>
            </a:r>
            <a:r>
              <a:rPr lang="en-US" dirty="0"/>
              <a:t>) as</a:t>
            </a:r>
          </a:p>
          <a:p>
            <a:r>
              <a:rPr lang="en-US" dirty="0"/>
              <a:t>      </a:t>
            </a:r>
            <a:r>
              <a:rPr lang="en-US" dirty="0" err="1">
                <a:solidFill>
                  <a:srgbClr val="0070C0"/>
                </a:solidFill>
              </a:rPr>
              <a:t>poss</a:t>
            </a:r>
            <a:r>
              <a:rPr lang="en-US" dirty="0">
                <a:solidFill>
                  <a:srgbClr val="0070C0"/>
                </a:solidFill>
              </a:rPr>
              <a:t>([move(</a:t>
            </a:r>
            <a:r>
              <a:rPr lang="en-US" dirty="0" err="1">
                <a:solidFill>
                  <a:srgbClr val="0070C0"/>
                </a:solidFill>
              </a:rPr>
              <a:t>BlockA,BlockB</a:t>
            </a:r>
            <a:r>
              <a:rPr lang="en-US" dirty="0">
                <a:solidFill>
                  <a:srgbClr val="0070C0"/>
                </a:solidFill>
              </a:rPr>
              <a:t>)|S]) :-  % one argument for </a:t>
            </a:r>
            <a:r>
              <a:rPr lang="en-US" dirty="0" err="1">
                <a:solidFill>
                  <a:srgbClr val="0070C0"/>
                </a:solidFill>
              </a:rPr>
              <a:t>poss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		clear(</a:t>
            </a:r>
            <a:r>
              <a:rPr lang="en-US" dirty="0" err="1">
                <a:solidFill>
                  <a:srgbClr val="0070C0"/>
                </a:solidFill>
              </a:rPr>
              <a:t>BlockA,S</a:t>
            </a:r>
            <a:r>
              <a:rPr lang="en-US" dirty="0">
                <a:solidFill>
                  <a:srgbClr val="0070C0"/>
                </a:solidFill>
              </a:rPr>
              <a:t>), on(</a:t>
            </a:r>
            <a:r>
              <a:rPr lang="en-US" dirty="0" err="1">
                <a:solidFill>
                  <a:srgbClr val="0070C0"/>
                </a:solidFill>
              </a:rPr>
              <a:t>BlockA,BlockB,S</a:t>
            </a:r>
            <a:r>
              <a:rPr lang="en-US" dirty="0">
                <a:solidFill>
                  <a:srgbClr val="0070C0"/>
                </a:solidFill>
              </a:rPr>
              <a:t>), clear(</a:t>
            </a:r>
            <a:r>
              <a:rPr lang="en-US" dirty="0" err="1">
                <a:solidFill>
                  <a:srgbClr val="0070C0"/>
                </a:solidFill>
              </a:rPr>
              <a:t>BlockC,S</a:t>
            </a:r>
            <a:r>
              <a:rPr lang="en-US" dirty="0">
                <a:solidFill>
                  <a:srgbClr val="0070C0"/>
                </a:solidFill>
              </a:rPr>
              <a:t>).</a:t>
            </a:r>
          </a:p>
          <a:p>
            <a:r>
              <a:rPr lang="en-US" b="1" dirty="0"/>
              <a:t>Whether to use </a:t>
            </a:r>
            <a:r>
              <a:rPr lang="en-US" b="1" dirty="0" err="1"/>
              <a:t>poss</a:t>
            </a:r>
            <a:r>
              <a:rPr lang="en-US" b="1" dirty="0"/>
              <a:t>/2 or </a:t>
            </a:r>
            <a:r>
              <a:rPr lang="en-US" b="1" dirty="0" err="1"/>
              <a:t>poss</a:t>
            </a:r>
            <a:r>
              <a:rPr lang="en-US" b="1" dirty="0"/>
              <a:t>/1 is arbitrary, but we must be consistent!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B7A86-943E-0A35-68B1-EACADD9F7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398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0C22-7EB8-1048-8D4A-C199B97C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399527"/>
            <a:ext cx="9475914" cy="670968"/>
          </a:xfrm>
        </p:spPr>
        <p:txBody>
          <a:bodyPr/>
          <a:lstStyle/>
          <a:p>
            <a:r>
              <a:rPr lang="en-US" dirty="0"/>
              <a:t>Successor State Axioms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FA9A99-C5E1-B04F-9F03-8368258110DE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1" y="1253067"/>
                <a:ext cx="14342451" cy="6282267"/>
              </a:xfrm>
            </p:spPr>
            <p:txBody>
              <a:bodyPr/>
              <a:lstStyle/>
              <a:p>
                <a:r>
                  <a:rPr lang="en-US" dirty="0"/>
                  <a:t>For each fluent, we need to state up front the conditions under which it becomes true, false, or remains unchanged</a:t>
                </a:r>
              </a:p>
              <a:p>
                <a:r>
                  <a:rPr lang="en-US" dirty="0"/>
                  <a:t>The form of a successor state axiom is</a:t>
                </a:r>
              </a:p>
              <a:p>
                <a:pPr lvl="0">
                  <a:buClr>
                    <a:srgbClr val="599A83"/>
                  </a:buClr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)⊃ 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l-GR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l-GR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d>
                        <m:dPr>
                          <m:ctrlPr>
                            <a:rPr lang="en-US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solidFill>
                                        <a:srgbClr val="423F3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423F3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 smtClean="0">
                          <a:solidFill>
                            <a:srgbClr val="423F3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423F3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423F3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423F3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sSubSup>
                        <m:sSubSupPr>
                          <m:ctrlPr>
                            <a:rPr lang="el-GR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solidFill>
                                        <a:srgbClr val="423F3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423F3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423F3F"/>
                  </a:solidFill>
                </a:endParaRPr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represents the conditions under which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423F3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represent the conditions under which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false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FA9A99-C5E1-B04F-9F03-836825811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1" y="1253067"/>
                <a:ext cx="14342451" cy="6282267"/>
              </a:xfrm>
              <a:blipFill>
                <a:blip r:embed="rId2"/>
                <a:stretch>
                  <a:fillRect l="-1680" t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EBAA-AED5-FB47-AFFC-9A7557C9E46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61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3205-E5BF-C444-B020-BB4F631D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214" y="272693"/>
            <a:ext cx="10142986" cy="1335973"/>
          </a:xfrm>
        </p:spPr>
        <p:txBody>
          <a:bodyPr/>
          <a:lstStyle/>
          <a:p>
            <a:r>
              <a:rPr lang="en-US" dirty="0"/>
              <a:t>Successor State Axioms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97353-3B34-C247-B123-226F126629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236133"/>
            <a:ext cx="14765785" cy="6299201"/>
          </a:xfrm>
        </p:spPr>
        <p:txBody>
          <a:bodyPr/>
          <a:lstStyle/>
          <a:p>
            <a:r>
              <a:rPr lang="en-US" dirty="0"/>
              <a:t>In English, we would read the Successor State Axiom as</a:t>
            </a:r>
          </a:p>
          <a:p>
            <a:r>
              <a:rPr lang="en-US" dirty="0"/>
              <a:t>If Action A is possible in s, then </a:t>
            </a:r>
          </a:p>
          <a:p>
            <a:r>
              <a:rPr lang="en-US" dirty="0"/>
              <a:t>	R is true after performing A in s if and and only if</a:t>
            </a:r>
          </a:p>
          <a:p>
            <a:pPr marL="781583" lvl="1" indent="0">
              <a:buNone/>
            </a:pPr>
            <a:r>
              <a:rPr lang="en-US" dirty="0"/>
              <a:t>    the conditions are such that A makes R become true</a:t>
            </a:r>
          </a:p>
          <a:p>
            <a:pPr marL="781583" lvl="1" indent="0">
              <a:buNone/>
            </a:pPr>
            <a:r>
              <a:rPr lang="en-US" dirty="0"/>
              <a:t>    or</a:t>
            </a:r>
          </a:p>
          <a:p>
            <a:pPr marL="781583" lvl="1" indent="0">
              <a:buNone/>
            </a:pPr>
            <a:r>
              <a:rPr lang="en-US" dirty="0"/>
              <a:t>    R was already true, and conditions are such that A does not make R false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A4C28-02F6-534A-9CF4-C30DCB3F5A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78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C0C22-7EB8-1048-8D4A-C199B97C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79" y="399527"/>
            <a:ext cx="9475914" cy="670968"/>
          </a:xfrm>
        </p:spPr>
        <p:txBody>
          <a:bodyPr/>
          <a:lstStyle/>
          <a:p>
            <a:r>
              <a:rPr lang="en-US" dirty="0"/>
              <a:t>Successor State Axioms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FA9A99-C5E1-B04F-9F03-8368258110DE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1" y="1253067"/>
                <a:ext cx="14342451" cy="6893406"/>
              </a:xfrm>
            </p:spPr>
            <p:txBody>
              <a:bodyPr/>
              <a:lstStyle/>
              <a:p>
                <a:r>
                  <a:rPr lang="en-US" dirty="0"/>
                  <a:t>Successor State Axiom for on(X,Y,S):</a:t>
                </a:r>
              </a:p>
              <a:p>
                <a:pPr lvl="0">
                  <a:buClr>
                    <a:srgbClr val="599A83"/>
                  </a:buClr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𝑃𝑜𝑠𝑠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)⊃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𝐵𝑙𝑜𝑐𝑘𝐴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𝐵𝑙𝑜𝑐𝑘𝐶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≡ </m:t>
                    </m:r>
                  </m:oMath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</m:t>
                          </m:r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423F3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423F3F"/>
                              </a:solidFill>
                            </a:rPr>
                            <m:t>)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𝑚𝑜𝑣𝑒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𝐵𝑙𝑜𝑐𝑘𝐴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𝐵𝑙𝑜𝑐𝑘𝐵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𝐵𝑙𝑜𝑐𝑘𝐶</m:t>
                          </m:r>
                          <m:r>
                            <a:rPr lang="en-US" b="0" i="1" dirty="0" smtClean="0">
                              <a:solidFill>
                                <a:srgbClr val="423F3F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  <m:sub/>
                        <m:sup/>
                      </m:sSubSup>
                      <m:r>
                        <a:rPr lang="en-US" i="1" smtClean="0">
                          <a:solidFill>
                            <a:srgbClr val="423F3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US" i="1" dirty="0">
                  <a:solidFill>
                    <a:srgbClr val="423F3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buClr>
                    <a:srgbClr val="599A83"/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𝐵𝑙𝑜𝑐𝑘𝐴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𝐵𝑙𝑜𝑐𝑘𝐶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</m:oMath>
                </a14:m>
                <a:r>
                  <a:rPr lang="en-US" dirty="0">
                    <a:solidFill>
                      <a:srgbClr val="423F3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nor/>
                      </m:rPr>
                      <a:rPr lang="en-US" dirty="0">
                        <a:solidFill>
                          <a:srgbClr val="423F3F"/>
                        </a:solidFill>
                      </a:rPr>
                      <m:t>)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𝑚𝑜𝑣𝑒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𝐵𝑙𝑜𝑐𝑘𝐴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𝐵𝑙𝑜𝑐𝑘𝐶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𝑆𝑜𝑚𝑒𝑏𝑙𝑜𝑐𝑘</m:t>
                    </m:r>
                    <m:r>
                      <a:rPr lang="en-US" i="1" dirty="0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>
                  <a:solidFill>
                    <a:srgbClr val="423F3F"/>
                  </a:solidFill>
                </a:endParaRPr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l-G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represents the conditions under which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nor/>
                      </m:rPr>
                      <a:rPr lang="en-US" dirty="0">
                        <a:solidFill>
                          <a:srgbClr val="0070C0"/>
                        </a:solidFill>
                      </a:rPr>
                      <m:t>)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𝑚𝑜𝑣𝑒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𝐵𝑙𝑜𝑐𝑘𝐴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𝐵𝑙𝑜𝑐𝑘𝐵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𝐵𝑙𝑜𝑐𝑘𝐶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represent the conditions under which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423F3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423F3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42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false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nor/>
                      </m:rPr>
                      <a:rPr lang="en-US" dirty="0">
                        <a:solidFill>
                          <a:srgbClr val="FF0000"/>
                        </a:solidFill>
                      </a:rPr>
                      <m:t>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𝑚𝑜𝑣𝑒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𝐵𝑙𝑜𝑐𝑘𝐴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𝐵𝑙𝑜𝑐𝑘𝐶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𝑆𝑜𝑚𝑒𝑏𝑙𝑜𝑐𝑘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0FA9A99-C5E1-B04F-9F03-8368258110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1" y="1253067"/>
                <a:ext cx="14342451" cy="6893406"/>
              </a:xfrm>
              <a:blipFill>
                <a:blip r:embed="rId2"/>
                <a:stretch>
                  <a:fillRect l="-1680" t="-1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EBAA-AED5-FB47-AFFC-9A7557C9E46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0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89BC-5B19-A849-B6A5-99F85C18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62" y="646545"/>
            <a:ext cx="13833080" cy="569388"/>
          </a:xfrm>
        </p:spPr>
        <p:txBody>
          <a:bodyPr/>
          <a:lstStyle/>
          <a:p>
            <a:r>
              <a:rPr lang="en-US" dirty="0" err="1"/>
              <a:t>SitCalc</a:t>
            </a:r>
            <a:r>
              <a:rPr lang="en-US" dirty="0"/>
              <a:t> successor state axioms (Prolog Syntax)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6662-6DCE-F343-A5F0-CEB1D61611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2F076-ECC0-1940-8091-064DCEBE1E84}"/>
              </a:ext>
            </a:extLst>
          </p:cNvPr>
          <p:cNvSpPr txBox="1"/>
          <p:nvPr/>
        </p:nvSpPr>
        <p:spPr>
          <a:xfrm>
            <a:off x="1939636" y="2203424"/>
            <a:ext cx="8802474" cy="629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clear(X,[move(Y,X,Z)|S]):- </a:t>
            </a:r>
            <a:r>
              <a:rPr lang="en-CA" dirty="0" err="1"/>
              <a:t>poss</a:t>
            </a:r>
            <a:r>
              <a:rPr lang="en-CA" dirty="0"/>
              <a:t>([</a:t>
            </a:r>
            <a:r>
              <a:rPr lang="en-CA"/>
              <a:t>move(Y,X,Z)|</a:t>
            </a:r>
            <a:r>
              <a:rPr lang="en-CA" dirty="0"/>
              <a:t>S]).</a:t>
            </a:r>
          </a:p>
          <a:p>
            <a:r>
              <a:rPr lang="en-CA" dirty="0"/>
              <a:t>clear(X,[A|S]):-</a:t>
            </a:r>
          </a:p>
          <a:p>
            <a:r>
              <a:rPr lang="en-CA" dirty="0"/>
              <a:t>  </a:t>
            </a:r>
            <a:r>
              <a:rPr lang="en-CA" dirty="0" err="1"/>
              <a:t>poss</a:t>
            </a:r>
            <a:r>
              <a:rPr lang="en-CA" dirty="0"/>
              <a:t>([A|S]),</a:t>
            </a:r>
          </a:p>
          <a:p>
            <a:r>
              <a:rPr lang="en-CA" dirty="0"/>
              <a:t>  A \= move(_,_,X),</a:t>
            </a:r>
          </a:p>
          <a:p>
            <a:r>
              <a:rPr lang="en-CA" dirty="0"/>
              <a:t>  clear(X,S).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on(X,Y,[move(X,Z,Y)|S]):- </a:t>
            </a:r>
            <a:r>
              <a:rPr lang="en-CA" dirty="0" err="1"/>
              <a:t>poss</a:t>
            </a:r>
            <a:r>
              <a:rPr lang="en-CA" dirty="0"/>
              <a:t>([move(X,Z,Y)|S]).</a:t>
            </a:r>
          </a:p>
          <a:p>
            <a:r>
              <a:rPr lang="en-CA" dirty="0"/>
              <a:t>on(X,Y,[A|S]):-</a:t>
            </a:r>
          </a:p>
          <a:p>
            <a:r>
              <a:rPr lang="en-CA" dirty="0"/>
              <a:t>  </a:t>
            </a:r>
            <a:r>
              <a:rPr lang="en-CA" dirty="0" err="1"/>
              <a:t>poss</a:t>
            </a:r>
            <a:r>
              <a:rPr lang="en-CA" dirty="0"/>
              <a:t>([A|S]),</a:t>
            </a:r>
          </a:p>
          <a:p>
            <a:r>
              <a:rPr lang="en-CA" dirty="0"/>
              <a:t>  A \= move(X,Y,_),</a:t>
            </a:r>
          </a:p>
          <a:p>
            <a:r>
              <a:rPr lang="en-CA" dirty="0"/>
              <a:t>  on(X,Y,S).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4DF5D-4AEF-C04E-A7AF-5319F98F07D3}"/>
              </a:ext>
            </a:extLst>
          </p:cNvPr>
          <p:cNvSpPr txBox="1"/>
          <p:nvPr/>
        </p:nvSpPr>
        <p:spPr>
          <a:xfrm>
            <a:off x="1939636" y="1523999"/>
            <a:ext cx="8000908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Let's add comments to this code together</a:t>
            </a:r>
          </a:p>
        </p:txBody>
      </p:sp>
    </p:spTree>
    <p:extLst>
      <p:ext uri="{BB962C8B-B14F-4D97-AF65-F5344CB8AC3E}">
        <p14:creationId xmlns:p14="http://schemas.microsoft.com/office/powerpoint/2010/main" val="4121207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2CD5-7A0D-35B0-177D-D0140CF4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329540"/>
            <a:ext cx="12709155" cy="820387"/>
          </a:xfrm>
        </p:spPr>
        <p:txBody>
          <a:bodyPr/>
          <a:lstStyle/>
          <a:p>
            <a:r>
              <a:rPr lang="en-US" dirty="0"/>
              <a:t>Axiomatizing a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EB636-8AB3-DA0F-407F-BC541A9F31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871" y="1149926"/>
            <a:ext cx="15119845" cy="692727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Axiomatizing a Domain means that an </a:t>
            </a:r>
            <a:r>
              <a:rPr lang="en-US" dirty="0" err="1"/>
              <a:t>axiomatizer</a:t>
            </a:r>
            <a:r>
              <a:rPr lang="en-US" dirty="0"/>
              <a:t> (you?) writes down statements that define what is true about a domain.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a Domain?</a:t>
            </a:r>
          </a:p>
          <a:p>
            <a:pPr marL="1727273" lvl="1" indent="-457200"/>
            <a:r>
              <a:rPr lang="en-US" dirty="0"/>
              <a:t>A Domain is a specific area or field of knowledge, expertise, or subject matter that an AI system or knowledge base is designed to understand and reason about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Examples of domains: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Taxi domain: taxis pick up passengers and drop them off at destinations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Kitchen domain: a robot makes dinner in a kitchen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Cardiology domain: a doctor sees heart patients, interviews them, conducts tests, and diagnoses them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24285-7FCF-C325-5AAF-6B0D7D7C894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909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0EE8-DD19-82A4-6374-7A084A5B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Axiomatize a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58094-21E8-F9BB-C311-115B58CE5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76400"/>
            <a:ext cx="14953591" cy="5858934"/>
          </a:xfrm>
        </p:spPr>
        <p:txBody>
          <a:bodyPr/>
          <a:lstStyle/>
          <a:p>
            <a:r>
              <a:rPr lang="en-US" dirty="0"/>
              <a:t>In the following steps, the word "determine" implies "write down"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the domain by reading about it, studying it, and thinking about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</a:t>
            </a:r>
            <a:r>
              <a:rPr lang="en-US" dirty="0" err="1"/>
              <a:t>fluents</a:t>
            </a:r>
            <a:r>
              <a:rPr lang="en-US" dirty="0"/>
              <a:t> that are sufficient to represent a state in the domain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set of actions that effect (bring about) change in the state (fluent truth values)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precondition axioms for actions in terms of </a:t>
            </a:r>
            <a:r>
              <a:rPr lang="en-US" dirty="0" err="1"/>
              <a:t>fluents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successor state axiom for each fluent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the fluent values in the initial situation s0 (we use [] for s0).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E03F-091F-DF03-7BFA-329CF322F2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99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Situation Calculus you recall by answering the following questions!</a:t>
            </a:r>
            <a:endParaRPr lang="en-US" dirty="0"/>
          </a:p>
          <a:p>
            <a:r>
              <a:rPr lang="en-US" dirty="0"/>
              <a:t>In plain English, what is being specified when Precondition Axioms are written down for a domain?</a:t>
            </a:r>
          </a:p>
          <a:p>
            <a:r>
              <a:rPr lang="en-US" dirty="0"/>
              <a:t>In plain English, what is being specified when Successor State Axioms are written down for a domain?</a:t>
            </a:r>
          </a:p>
          <a:p>
            <a:r>
              <a:rPr lang="en-US" dirty="0"/>
              <a:t>What is meant by "domain" in the above two questions?</a:t>
            </a:r>
          </a:p>
        </p:txBody>
      </p:sp>
    </p:spTree>
    <p:extLst>
      <p:ext uri="{BB962C8B-B14F-4D97-AF65-F5344CB8AC3E}">
        <p14:creationId xmlns:p14="http://schemas.microsoft.com/office/powerpoint/2010/main" val="420702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68779</TotalTime>
  <Words>2320</Words>
  <Application>Microsoft Macintosh PowerPoint</Application>
  <PresentationFormat>Custom</PresentationFormat>
  <Paragraphs>201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Helvetica</vt:lpstr>
      <vt:lpstr>Wingdings</vt:lpstr>
      <vt:lpstr>Office Theme</vt:lpstr>
      <vt:lpstr>Knowledge Representation: Situation Calculus</vt:lpstr>
      <vt:lpstr>Situation Calculus</vt:lpstr>
      <vt:lpstr>Situation Calculus (cont'd)</vt:lpstr>
      <vt:lpstr>Situation Calculus (cont'd)</vt:lpstr>
      <vt:lpstr>Axioms</vt:lpstr>
      <vt:lpstr>Actions</vt:lpstr>
      <vt:lpstr>Action Schema</vt:lpstr>
      <vt:lpstr>Fluents</vt:lpstr>
      <vt:lpstr>Situations</vt:lpstr>
      <vt:lpstr>Situation observations</vt:lpstr>
      <vt:lpstr>Situation observations (cont'd)</vt:lpstr>
      <vt:lpstr>Action precondition axioms</vt:lpstr>
      <vt:lpstr>Action Precondition axioms (cont'd) </vt:lpstr>
      <vt:lpstr>Sitcalc precondition axiom</vt:lpstr>
      <vt:lpstr>Action Precondition axioms observations</vt:lpstr>
      <vt:lpstr>Successor State Axioms</vt:lpstr>
      <vt:lpstr>Successor State Axioms (cont'd)</vt:lpstr>
      <vt:lpstr>Successor State Axioms</vt:lpstr>
      <vt:lpstr>SitCalc successor state axioms (Prolog Syntax)</vt:lpstr>
      <vt:lpstr>Axiomatizing a Domain</vt:lpstr>
      <vt:lpstr>Steps to Axiomatize a Domain</vt:lpstr>
      <vt:lpstr>Time to check your learning!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241</cp:revision>
  <dcterms:created xsi:type="dcterms:W3CDTF">2016-12-21T16:02:28Z</dcterms:created>
  <dcterms:modified xsi:type="dcterms:W3CDTF">2025-11-06T20:16:14Z</dcterms:modified>
</cp:coreProperties>
</file>