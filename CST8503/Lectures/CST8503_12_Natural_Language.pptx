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336" r:id="rId3"/>
    <p:sldId id="337" r:id="rId4"/>
    <p:sldId id="338" r:id="rId5"/>
    <p:sldId id="339" r:id="rId6"/>
    <p:sldId id="340" r:id="rId7"/>
    <p:sldId id="341" r:id="rId8"/>
    <p:sldId id="368" r:id="rId9"/>
    <p:sldId id="372" r:id="rId10"/>
    <p:sldId id="342" r:id="rId11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73E"/>
    <a:srgbClr val="43B02A"/>
    <a:srgbClr val="267A52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2" autoAdjust="0"/>
    <p:restoredTop sz="94674" autoAdjust="0"/>
  </p:normalViewPr>
  <p:slideViewPr>
    <p:cSldViewPr snapToGrid="0" snapToObjects="1">
      <p:cViewPr varScale="1">
        <p:scale>
          <a:sx n="93" d="100"/>
          <a:sy n="93" d="100"/>
        </p:scale>
        <p:origin x="720" y="200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3/5/25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3/5/25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1" i="0">
                <a:solidFill>
                  <a:srgbClr val="3333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79" y="2103120"/>
            <a:ext cx="7072051" cy="499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2658" y="2103120"/>
            <a:ext cx="7072051" cy="499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7990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4" r:id="rId37"/>
    <p:sldLayoutId id="2147483706" r:id="rId38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80" y="2059516"/>
            <a:ext cx="11171302" cy="1816101"/>
          </a:xfrm>
        </p:spPr>
        <p:txBody>
          <a:bodyPr/>
          <a:lstStyle/>
          <a:p>
            <a:r>
              <a:rPr lang="en-US" dirty="0"/>
              <a:t>Natural Language with Prolog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E24B-86B9-F75A-A28E-765B027F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35995-5BA3-AE70-6ED8-3E8B3BA76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Summarize Situation Calculus/planning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Discuss Assignment 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Discuss Lab 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Lesson: Natural Language with Prolog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3E10C-1256-8053-14A3-09F89F104AB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81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8228-B053-053E-5109-57394AF9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Chatbot operation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AE79D-6FA6-46C7-39E9-4A45833805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28800"/>
            <a:ext cx="14621082" cy="570653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User enters a list of words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List of words is parsed to achieve the logical form based on semantics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Logical form is converted to Clausal Form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Clausal Form is asserted to prolog database (assertions) or issued as a query (questions)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E00CE-F18F-84E9-1B73-8DEC2E60559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07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1564D-98D9-C84F-FFFC-FB5B68CD8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 predicate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1CF8B-8878-65F6-1835-AA3D90AC79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593273"/>
            <a:ext cx="13706682" cy="6636327"/>
          </a:xfrm>
        </p:spPr>
        <p:txBody>
          <a:bodyPr/>
          <a:lstStyle/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talk(Sentence, Reply) :-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% parse the sentence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parse(Sentence, LF, Type),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% convert the FOL logical form into a Horn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% clause, if possible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CA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clausify</a:t>
            </a: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(LF, Clause, </a:t>
            </a:r>
            <a:r>
              <a:rPr lang="en-CA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FreeVars</a:t>
            </a: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!,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% concoct a reply, based on the clause and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% whether sentence was a query or assertion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reply(Type, </a:t>
            </a:r>
            <a:r>
              <a:rPr lang="en-CA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FreeVars</a:t>
            </a:r>
            <a: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Clause, Reply).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C5F68-4149-10B9-CDC0-64176B1CFFD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124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E957-A0CC-F581-8876-99D8F5D3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57389-F8ED-161D-70C6-67AACC171B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If we want to see the intermediate steps of the talk predicate, we can use a query like this (an assertion):</a:t>
            </a:r>
          </a:p>
          <a:p>
            <a:r>
              <a:rPr lang="en-CA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parse([a, man, observed, a, particle],</a:t>
            </a:r>
            <a:r>
              <a:rPr lang="en-CA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LF,Type</a:t>
            </a:r>
            <a:r>
              <a:rPr lang="en-CA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CA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clausify</a:t>
            </a:r>
            <a:r>
              <a:rPr lang="en-CA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LF,Clause,Freevars</a:t>
            </a:r>
            <a:r>
              <a:rPr lang="en-CA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),reply(Type, </a:t>
            </a:r>
            <a:r>
              <a:rPr lang="en-CA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FreeVars</a:t>
            </a:r>
            <a:r>
              <a:rPr lang="en-CA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Clause, Reply).</a:t>
            </a:r>
          </a:p>
          <a:p>
            <a:r>
              <a:rPr lang="en-CA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LF = exists(man1, @man(man1)&amp;exists(particle1, @particle(particle1)&amp; @observe(man1, particle1))),</a:t>
            </a:r>
          </a:p>
          <a:p>
            <a:r>
              <a:rPr lang="en-CA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Type = assertion,</a:t>
            </a:r>
          </a:p>
          <a:p>
            <a:r>
              <a:rPr lang="en-CA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Clause =  (man(man1), particle(particle1), observe(man1, particle1)),</a:t>
            </a:r>
          </a:p>
          <a:p>
            <a:r>
              <a:rPr lang="en-CA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Freevars</a:t>
            </a:r>
            <a:r>
              <a:rPr lang="en-CA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</a:t>
            </a:r>
          </a:p>
          <a:p>
            <a:r>
              <a:rPr lang="en-CA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Reply = asserted((man(man1), particle(particle1), observe(man1, particle1))) </a:t>
            </a:r>
            <a:r>
              <a:rPr lang="en-CA" sz="12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endParaRPr lang="en-CA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19C58-1BA2-1CA3-687D-0E30A690A99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25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DC4AD-78FE-241A-DE06-B7A1C38CD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steps (cont'd)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A1BD2-E3DB-2448-C45A-F73ACF3032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Or like this (question):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?- parse([who,observed,particle1],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LF,Type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clausify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LF,Clause,Freevars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),reply(Type,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FreeVars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Clause, Reply).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LF = @observe(_A, particle1)=&gt; @answer(_A),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Type = query,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Clause =  (answer(_A):-observe(_A, particle1)),</a:t>
            </a:r>
          </a:p>
          <a:p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Freevars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[],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Reply = answer([man1]) </a:t>
            </a:r>
            <a:r>
              <a:rPr lang="en-CA" sz="14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  <a:endParaRPr lang="en-CA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9B41F-EFD8-6D5C-9B1A-5865F19AB6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79996-E8E4-B57C-4F2B-734B46DE398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288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60E08-2D7F-AE88-DF66-8C71C3D07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Clausify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726CF-E536-B5FA-4663-0821F468A6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717964"/>
            <a:ext cx="14399409" cy="581737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clausify</a:t>
            </a:r>
            <a:r>
              <a:rPr lang="en-US" dirty="0"/>
              <a:t> predicate translates logical form into the equivalent clausal form.</a:t>
            </a:r>
          </a:p>
          <a:p>
            <a:r>
              <a:rPr lang="en-US" dirty="0"/>
              <a:t>Recall that prolog can deal with only Horn clauses.</a:t>
            </a:r>
          </a:p>
          <a:p>
            <a:r>
              <a:rPr lang="en-US" dirty="0"/>
              <a:t>Example of statement that cannot be converted to a Horn clause:</a:t>
            </a:r>
          </a:p>
          <a:p>
            <a:r>
              <a:rPr lang="en-US" dirty="0"/>
              <a:t>Canada is a country or the sky is blue</a:t>
            </a:r>
          </a:p>
          <a:p>
            <a:r>
              <a:rPr lang="en-US" dirty="0"/>
              <a:t>Logical form: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country(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canada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or blue(sky)</a:t>
            </a:r>
          </a:p>
          <a:p>
            <a:r>
              <a:rPr lang="en-US" dirty="0"/>
              <a:t>Clausal form (prolog syntax):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country(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canada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);blue(sky).</a:t>
            </a:r>
          </a:p>
          <a:p>
            <a:r>
              <a:rPr lang="en-US" dirty="0">
                <a:cs typeface="Courier New" panose="02070309020205020404" pitchFamily="49" charset="0"/>
              </a:rPr>
              <a:t>We cannot say this in prolog because it is not a horn clause.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2E6A9-7C6C-8A74-2E34-06835434F7E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03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4E04-7BB7-984F-ABDF-EAA1B746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147" y="735012"/>
            <a:ext cx="13252561" cy="802844"/>
          </a:xfrm>
        </p:spPr>
        <p:txBody>
          <a:bodyPr/>
          <a:lstStyle/>
          <a:p>
            <a:r>
              <a:rPr lang="en-US" dirty="0"/>
              <a:t>Clausal Normal Form (</a:t>
            </a:r>
            <a:r>
              <a:rPr lang="en-US" dirty="0" err="1"/>
              <a:t>clausify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85C4B7A-FAE7-C140-8057-1E6C816D3E4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845733"/>
                <a:ext cx="11615780" cy="6316134"/>
              </a:xfrm>
            </p:spPr>
            <p:txBody>
              <a:bodyPr/>
              <a:lstStyle/>
              <a:p>
                <a:r>
                  <a:rPr lang="en-US" dirty="0"/>
                  <a:t>Situation Calculus formulae can be converted to clausal form: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Eliminate implications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Move negation inwards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Standardize variables apart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 err="1"/>
                  <a:t>Skolemize</a:t>
                </a:r>
                <a:r>
                  <a:rPr lang="en-US" dirty="0"/>
                  <a:t> </a:t>
                </a:r>
                <a:r>
                  <a:rPr lang="en-US" dirty="0" err="1"/>
                  <a:t>existentials</a:t>
                </a: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Move universal quantifiers outwards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Distribute "and"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over "or"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85C4B7A-FAE7-C140-8057-1E6C816D3E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845733"/>
                <a:ext cx="11615780" cy="6316134"/>
              </a:xfrm>
              <a:blipFill>
                <a:blip r:embed="rId2"/>
                <a:stretch>
                  <a:fillRect l="-2074" t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FC0A9-BA5D-E24A-AAB5-7ED37198619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991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5D3A-F4E1-2640-8FC7-AE5884410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CNF Step 4: </a:t>
            </a:r>
            <a:r>
              <a:rPr lang="en-US" dirty="0" err="1"/>
              <a:t>Skolemize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B668D1-9881-AD4E-A65E-29E9DBDDA9B2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12882" y="1405467"/>
                <a:ext cx="14884318" cy="6800322"/>
              </a:xfrm>
            </p:spPr>
            <p:txBody>
              <a:bodyPr/>
              <a:lstStyle/>
              <a:p>
                <a:r>
                  <a:rPr lang="en-US" dirty="0"/>
                  <a:t>Replace existentially quantified variables with </a:t>
                </a:r>
                <a:r>
                  <a:rPr lang="en-US" dirty="0" err="1"/>
                  <a:t>skolem</a:t>
                </a:r>
                <a:r>
                  <a:rPr lang="en-US" dirty="0"/>
                  <a:t> functions</a:t>
                </a:r>
              </a:p>
              <a:p>
                <a:r>
                  <a:rPr lang="en-US" dirty="0"/>
                  <a:t>Each universally quantified variable whose scope includes the existential becomes a parameter of the </a:t>
                </a:r>
                <a:r>
                  <a:rPr lang="en-US" dirty="0" err="1"/>
                  <a:t>skolem</a:t>
                </a:r>
                <a:r>
                  <a:rPr lang="en-US" dirty="0"/>
                  <a:t> function</a:t>
                </a:r>
              </a:p>
              <a:p>
                <a:r>
                  <a:rPr lang="en-US" dirty="0"/>
                  <a:t>The idea is that if we know something exists, we can give it a name (any name that works for us is fine)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becomes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  where new name a depends on x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becomes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       new name a doesn't depend on x</a:t>
                </a:r>
              </a:p>
              <a:p>
                <a:r>
                  <a:rPr lang="en-US" dirty="0"/>
                  <a:t>Examples: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𝑚𝑜𝑡h𝑒𝑟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becomes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𝑚𝑜𝑡h𝑒𝑟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𝑚𝑜𝑜𝑛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becomes moon(</a:t>
                </a:r>
                <a:r>
                  <a:rPr lang="en-US" dirty="0" err="1"/>
                  <a:t>the_moon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B668D1-9881-AD4E-A65E-29E9DBDDA9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12882" y="1405467"/>
                <a:ext cx="14884318" cy="6800322"/>
              </a:xfrm>
              <a:blipFill>
                <a:blip r:embed="rId2"/>
                <a:stretch>
                  <a:fillRect l="-1620" t="-1676" r="-1876" b="-2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D8226-01AD-0940-8008-192EDD9CD5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4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DE31-6BCB-C218-C3CD-84688B5A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4631826" cy="840301"/>
          </a:xfrm>
        </p:spPr>
        <p:txBody>
          <a:bodyPr/>
          <a:lstStyle/>
          <a:p>
            <a:r>
              <a:rPr lang="en-US" dirty="0"/>
              <a:t>Prolog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A1629-23AA-A080-4566-AF188BE4B8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482437"/>
            <a:ext cx="14551809" cy="6052898"/>
          </a:xfrm>
        </p:spPr>
        <p:txBody>
          <a:bodyPr/>
          <a:lstStyle/>
          <a:p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% asserts that F is clausal form of exists(X,F0) </a:t>
            </a:r>
            <a:r>
              <a:rPr lang="en-CA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clausify</a:t>
            </a:r>
            <a:r>
              <a:rPr lang="en-CA" sz="28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(exists(X,</a:t>
            </a:r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F0),F,V) :- % something like exists(</a:t>
            </a:r>
            <a:r>
              <a:rPr lang="en-CA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X,man</a:t>
            </a:r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(X)&amp; _)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F0 = @G&amp;_,    % G is something like man(X)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CA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skolem</a:t>
            </a:r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(G,X),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CA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clausify</a:t>
            </a:r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(F0,F,V).  % F0 is now @man(man2)&amp;_ and yellow part gone</a:t>
            </a:r>
          </a:p>
          <a:p>
            <a:r>
              <a:rPr lang="en-CA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skolem</a:t>
            </a:r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(G,X):-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functor(G,Name,1),    % functor(man(X),man,1), see functor/3 doc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CA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gensym</a:t>
            </a:r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Name,X</a:t>
            </a:r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       % X becomes </a:t>
            </a:r>
            <a:r>
              <a:rPr lang="en-CA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manN</a:t>
            </a:r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for some integer N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assert(</a:t>
            </a:r>
            <a:r>
              <a:rPr lang="en-CA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(X,X)).      % assert(</a:t>
            </a:r>
            <a:r>
              <a:rPr lang="en-CA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pn</a:t>
            </a:r>
            <a:r>
              <a:rPr lang="en-CA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(man2,man2)) when N is 2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A4B1F-820E-0385-5179-48D850EF668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126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2693</TotalTime>
  <Words>765</Words>
  <Application>Microsoft Macintosh PowerPoint</Application>
  <PresentationFormat>Custom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Courier New</vt:lpstr>
      <vt:lpstr>Menlo</vt:lpstr>
      <vt:lpstr>Wingdings</vt:lpstr>
      <vt:lpstr>Office Theme</vt:lpstr>
      <vt:lpstr>Natural Language with Prolog</vt:lpstr>
      <vt:lpstr>Agenda</vt:lpstr>
      <vt:lpstr>Summary of Chatbot operation</vt:lpstr>
      <vt:lpstr>talk predicate</vt:lpstr>
      <vt:lpstr>Intermediate steps</vt:lpstr>
      <vt:lpstr>Intermediate steps (cont'd)</vt:lpstr>
      <vt:lpstr>Clausify</vt:lpstr>
      <vt:lpstr>Clausal Normal Form (clausify)</vt:lpstr>
      <vt:lpstr>CNF Step 4: Skolemize</vt:lpstr>
      <vt:lpstr>Prolog code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215</cp:revision>
  <dcterms:created xsi:type="dcterms:W3CDTF">2016-12-21T16:02:28Z</dcterms:created>
  <dcterms:modified xsi:type="dcterms:W3CDTF">2025-03-05T22:15:17Z</dcterms:modified>
</cp:coreProperties>
</file>