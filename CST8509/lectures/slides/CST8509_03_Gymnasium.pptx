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424" r:id="rId3"/>
    <p:sldId id="415" r:id="rId4"/>
    <p:sldId id="355" r:id="rId5"/>
    <p:sldId id="426" r:id="rId6"/>
    <p:sldId id="425" r:id="rId7"/>
    <p:sldId id="440" r:id="rId8"/>
    <p:sldId id="427" r:id="rId9"/>
    <p:sldId id="428" r:id="rId10"/>
    <p:sldId id="429" r:id="rId11"/>
    <p:sldId id="439" r:id="rId12"/>
    <p:sldId id="437" r:id="rId13"/>
    <p:sldId id="438" r:id="rId14"/>
    <p:sldId id="430" r:id="rId15"/>
    <p:sldId id="431" r:id="rId16"/>
    <p:sldId id="432" r:id="rId17"/>
    <p:sldId id="433" r:id="rId18"/>
    <p:sldId id="434" r:id="rId19"/>
    <p:sldId id="435" r:id="rId20"/>
    <p:sldId id="436" r:id="rId21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89" autoAdjust="0"/>
    <p:restoredTop sz="94830" autoAdjust="0"/>
  </p:normalViewPr>
  <p:slideViewPr>
    <p:cSldViewPr snapToGrid="0" snapToObjects="1">
      <p:cViewPr varScale="1">
        <p:scale>
          <a:sx n="91" d="100"/>
          <a:sy n="91" d="100"/>
        </p:scale>
        <p:origin x="1208" y="184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ymnasium.farama.org/tutorials/gymnasium_basics/environment_creation/" TargetMode="External"/><Relationship Id="rId2" Type="http://schemas.openxmlformats.org/officeDocument/2006/relationships/hyperlink" Target="https://medium.com/data-science/math-of-q-learning-python-code-5dcbdc49b6f6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stable-baselines3.readthedocs.io/en/master/guide/install.html" TargetMode="External"/><Relationship Id="rId5" Type="http://schemas.openxmlformats.org/officeDocument/2006/relationships/hyperlink" Target="https://dr0id.bitbucket.io/legacy/pygame_tutorial01.html" TargetMode="External"/><Relationship Id="rId4" Type="http://schemas.openxmlformats.org/officeDocument/2006/relationships/hyperlink" Target="https://dr0id.bitbucket.io/legacy/pygame_tutorial00.htm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ymnasium.farama.org/tutorials/gymnasium_basics/environment_creation/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Gymnasium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1C06-DCD2-BD95-F7B5-079D0F3D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3A500-DC2C-8396-E0CE-FAAC8CDA3D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9082" y="1979043"/>
            <a:ext cx="14705556" cy="574948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This week: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Gymnasium custom environment: an upgrade for our Lab 1 </a:t>
            </a:r>
            <a:r>
              <a:rPr lang="en-US" dirty="0" err="1"/>
              <a:t>CliffWalking</a:t>
            </a:r>
            <a:r>
              <a:rPr lang="en-US" dirty="0"/>
              <a:t> environment class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 err="1"/>
              <a:t>Pygame</a:t>
            </a:r>
            <a:r>
              <a:rPr lang="en-US" dirty="0"/>
              <a:t> for rendering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BlocksWorld-v0 environment (future Assignment 1)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stable-baselines3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CB6CB-AF39-0907-64D1-C3B86EEF92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85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A693-0D5B-9071-02D5-1B36742C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842755" cy="658653"/>
          </a:xfrm>
        </p:spPr>
        <p:txBody>
          <a:bodyPr/>
          <a:lstStyle/>
          <a:p>
            <a:r>
              <a:rPr lang="en-US" dirty="0"/>
              <a:t>What we've implemented so far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F5E47-AB15-D297-54AE-FCB5A913B9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582" y="1435099"/>
            <a:ext cx="15637963" cy="19266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Lab 1 Agent: &lt;</a:t>
            </a:r>
            <a:r>
              <a:rPr lang="en-US" dirty="0" err="1"/>
              <a:t>your_algonquin_id</a:t>
            </a:r>
            <a:r>
              <a:rPr lang="en-US" dirty="0"/>
              <a:t>&gt;_lab2_qlearning_agent.py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Lab 1 Environment: &lt;</a:t>
            </a:r>
            <a:r>
              <a:rPr lang="en-US" dirty="0" err="1"/>
              <a:t>your_algonquin_id</a:t>
            </a:r>
            <a:r>
              <a:rPr lang="en-US" dirty="0"/>
              <a:t>&gt;_lab2_cliff_env.py    (simple "homemade" </a:t>
            </a:r>
            <a:r>
              <a:rPr lang="en-US" dirty="0" err="1"/>
              <a:t>gridworld</a:t>
            </a:r>
            <a:r>
              <a:rPr lang="en-US" dirty="0"/>
              <a:t> and </a:t>
            </a:r>
            <a:r>
              <a:rPr lang="en-US" dirty="0" err="1"/>
              <a:t>CliffWalking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CD013-7CF5-1D53-27CB-9D8003D624D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DE40B-EAAD-84B9-A7D9-773B5BD21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680" y="3361773"/>
            <a:ext cx="7772400" cy="27008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757E39-5C58-DB0E-3757-80A4DCE23180}"/>
              </a:ext>
            </a:extLst>
          </p:cNvPr>
          <p:cNvSpPr txBox="1"/>
          <p:nvPr/>
        </p:nvSpPr>
        <p:spPr>
          <a:xfrm>
            <a:off x="368300" y="6205429"/>
            <a:ext cx="1528733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Lab 2: &lt;</a:t>
            </a:r>
            <a:r>
              <a:rPr lang="en-US" dirty="0" err="1"/>
              <a:t>your_algonquin_id</a:t>
            </a:r>
            <a:r>
              <a:rPr lang="en-US" dirty="0"/>
              <a:t>&gt;_lab2_cliff_env.py replaced with gymnasium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Lab 2: &lt;</a:t>
            </a:r>
            <a:r>
              <a:rPr lang="en-US" dirty="0" err="1"/>
              <a:t>your_algonquin_id</a:t>
            </a:r>
            <a:r>
              <a:rPr lang="en-US" dirty="0"/>
              <a:t>&gt;_lab2_qlearning_agent.py updated to work with gymnasium environment </a:t>
            </a:r>
          </a:p>
        </p:txBody>
      </p:sp>
    </p:spTree>
    <p:extLst>
      <p:ext uri="{BB962C8B-B14F-4D97-AF65-F5344CB8AC3E}">
        <p14:creationId xmlns:p14="http://schemas.microsoft.com/office/powerpoint/2010/main" val="209975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0" y="768365"/>
            <a:ext cx="13914501" cy="578521"/>
          </a:xfrm>
        </p:spPr>
        <p:txBody>
          <a:bodyPr/>
          <a:lstStyle/>
          <a:p>
            <a:r>
              <a:rPr lang="en-US" dirty="0"/>
              <a:t>Where the implementation is going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199082" y="1777681"/>
            <a:ext cx="14904913" cy="620309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Lab 2: upgrade our </a:t>
            </a:r>
            <a:r>
              <a:rPr lang="en-CA" dirty="0" err="1"/>
              <a:t>cliffwalking</a:t>
            </a:r>
            <a:r>
              <a:rPr lang="en-CA" dirty="0"/>
              <a:t> environment to Gymnasium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Turn the </a:t>
            </a:r>
            <a:r>
              <a:rPr lang="en-CA" dirty="0" err="1"/>
              <a:t>Prolog</a:t>
            </a:r>
            <a:r>
              <a:rPr lang="en-CA" dirty="0"/>
              <a:t> blocks world into a Gymnasium BlocksWorld-v0 environment (assignment 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Use </a:t>
            </a:r>
            <a:r>
              <a:rPr lang="en-CA" dirty="0" err="1"/>
              <a:t>PyGame</a:t>
            </a:r>
            <a:r>
              <a:rPr lang="en-CA" dirty="0"/>
              <a:t> for rendering our environments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Our </a:t>
            </a:r>
            <a:r>
              <a:rPr lang="en-US" dirty="0"/>
              <a:t>&lt;</a:t>
            </a:r>
            <a:r>
              <a:rPr lang="en-US" dirty="0" err="1"/>
              <a:t>your_algonquin_id</a:t>
            </a:r>
            <a:r>
              <a:rPr lang="en-US" dirty="0"/>
              <a:t>&gt;_lab2_qlearning_agent.py</a:t>
            </a:r>
            <a:r>
              <a:rPr lang="en-CA" dirty="0"/>
              <a:t> implementation still plays the role of agent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stable-baselines3 is a set of standard RL algorithms that work with Gymnasium environments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We can use the stable-baselines3 algorithms: DQN, PPO, for new agents</a:t>
            </a:r>
          </a:p>
        </p:txBody>
      </p:sp>
    </p:spTree>
    <p:extLst>
      <p:ext uri="{BB962C8B-B14F-4D97-AF65-F5344CB8AC3E}">
        <p14:creationId xmlns:p14="http://schemas.microsoft.com/office/powerpoint/2010/main" val="82662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B6AA-80F8-F2B1-C1CF-CFA47FFB3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2" y="355007"/>
            <a:ext cx="11387470" cy="722232"/>
          </a:xfrm>
        </p:spPr>
        <p:txBody>
          <a:bodyPr/>
          <a:lstStyle/>
          <a:p>
            <a:r>
              <a:rPr lang="en-US" dirty="0"/>
              <a:t>Diagram comparison (Assignment 1)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3135D-146B-A931-6CD6-CA29D4CDE03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0107CD-1A97-5C1C-E402-DFC5155C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594" y="850819"/>
            <a:ext cx="7772400" cy="2700879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9E94148-3C37-CA13-A59B-9E4987A396F1}"/>
              </a:ext>
            </a:extLst>
          </p:cNvPr>
          <p:cNvSpPr/>
          <p:nvPr/>
        </p:nvSpPr>
        <p:spPr>
          <a:xfrm>
            <a:off x="620479" y="4500350"/>
            <a:ext cx="3870543" cy="192900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97D99-8C4F-3E75-DAAD-BBEDC9227284}"/>
              </a:ext>
            </a:extLst>
          </p:cNvPr>
          <p:cNvSpPr txBox="1"/>
          <p:nvPr/>
        </p:nvSpPr>
        <p:spPr>
          <a:xfrm>
            <a:off x="671818" y="4428810"/>
            <a:ext cx="375281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Agent:</a:t>
            </a:r>
          </a:p>
          <a:p>
            <a:r>
              <a:rPr lang="en-US" dirty="0"/>
              <a:t>Q-Learning or</a:t>
            </a:r>
          </a:p>
          <a:p>
            <a:r>
              <a:rPr lang="en-US" dirty="0"/>
              <a:t>Stable-baselines3:</a:t>
            </a:r>
          </a:p>
          <a:p>
            <a:r>
              <a:rPr lang="en-US" dirty="0"/>
              <a:t>DQN or PPO or…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5EFE86-C198-3D54-D14E-EBCF410BFDBA}"/>
              </a:ext>
            </a:extLst>
          </p:cNvPr>
          <p:cNvSpPr/>
          <p:nvPr/>
        </p:nvSpPr>
        <p:spPr>
          <a:xfrm>
            <a:off x="6072225" y="4434214"/>
            <a:ext cx="5354817" cy="215352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D7F78-F2A4-61A0-51D4-96599194D448}"/>
              </a:ext>
            </a:extLst>
          </p:cNvPr>
          <p:cNvSpPr txBox="1"/>
          <p:nvPr/>
        </p:nvSpPr>
        <p:spPr>
          <a:xfrm>
            <a:off x="6303954" y="4636941"/>
            <a:ext cx="5123097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Gymnasium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Prolog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Swiplserver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B0C725-D1B9-36B8-56CC-BD204BB91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4408" y="2400231"/>
            <a:ext cx="2455983" cy="385852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BADF4D-58CE-A4CF-5FD0-14BA98F4BF4A}"/>
              </a:ext>
            </a:extLst>
          </p:cNvPr>
          <p:cNvCxnSpPr>
            <a:cxnSpLocks/>
          </p:cNvCxnSpPr>
          <p:nvPr/>
        </p:nvCxnSpPr>
        <p:spPr>
          <a:xfrm flipH="1">
            <a:off x="5085567" y="5826944"/>
            <a:ext cx="9866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B868E95-D7E4-2013-FC5E-72AE33176256}"/>
              </a:ext>
            </a:extLst>
          </p:cNvPr>
          <p:cNvCxnSpPr>
            <a:cxnSpLocks/>
          </p:cNvCxnSpPr>
          <p:nvPr/>
        </p:nvCxnSpPr>
        <p:spPr>
          <a:xfrm flipH="1">
            <a:off x="5085567" y="5265361"/>
            <a:ext cx="9689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562053F-773F-4801-BB78-5D5FB2CA193B}"/>
              </a:ext>
            </a:extLst>
          </p:cNvPr>
          <p:cNvSpPr txBox="1"/>
          <p:nvPr/>
        </p:nvSpPr>
        <p:spPr>
          <a:xfrm>
            <a:off x="5363452" y="4809977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</a:t>
            </a:r>
            <a:r>
              <a:rPr lang="en-US" sz="2000" baseline="-25000" dirty="0"/>
              <a:t>t+1</a:t>
            </a:r>
            <a:endParaRPr lang="en-US" sz="20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6B2328-9A5F-4268-63AC-7C37952014CA}"/>
              </a:ext>
            </a:extLst>
          </p:cNvPr>
          <p:cNvCxnSpPr/>
          <p:nvPr/>
        </p:nvCxnSpPr>
        <p:spPr>
          <a:xfrm>
            <a:off x="5085567" y="4972833"/>
            <a:ext cx="0" cy="118760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F1E6343-03CC-822D-37E5-723BE7B60287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2555750" y="4158641"/>
            <a:ext cx="1" cy="3417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74B908-F4E2-CE68-E0B2-D0C6AE49A908}"/>
              </a:ext>
            </a:extLst>
          </p:cNvPr>
          <p:cNvCxnSpPr>
            <a:cxnSpLocks/>
          </p:cNvCxnSpPr>
          <p:nvPr/>
        </p:nvCxnSpPr>
        <p:spPr>
          <a:xfrm flipV="1">
            <a:off x="2555750" y="4121815"/>
            <a:ext cx="6193884" cy="17439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6CA685-1BC1-39E8-0ECD-A5A01FF0561D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749634" y="4121815"/>
            <a:ext cx="0" cy="312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596FF9F-E534-A9A9-8D01-DA30CB6FF5B5}"/>
              </a:ext>
            </a:extLst>
          </p:cNvPr>
          <p:cNvCxnSpPr>
            <a:cxnSpLocks/>
          </p:cNvCxnSpPr>
          <p:nvPr/>
        </p:nvCxnSpPr>
        <p:spPr>
          <a:xfrm flipH="1">
            <a:off x="4491022" y="5826944"/>
            <a:ext cx="594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C2664E-5148-9EF8-FE29-221A9BC68FB3}"/>
              </a:ext>
            </a:extLst>
          </p:cNvPr>
          <p:cNvCxnSpPr>
            <a:cxnSpLocks/>
          </p:cNvCxnSpPr>
          <p:nvPr/>
        </p:nvCxnSpPr>
        <p:spPr>
          <a:xfrm flipH="1">
            <a:off x="4491022" y="5265361"/>
            <a:ext cx="5351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D440BAE-7F5E-106B-5DD1-2D5C0295DF5E}"/>
              </a:ext>
            </a:extLst>
          </p:cNvPr>
          <p:cNvSpPr txBox="1"/>
          <p:nvPr/>
        </p:nvSpPr>
        <p:spPr>
          <a:xfrm>
            <a:off x="5411284" y="5377577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baseline="-25000" dirty="0"/>
              <a:t>t+1</a:t>
            </a:r>
            <a:endParaRPr lang="en-US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AC8A43-F997-CB57-CF62-0980C82A0874}"/>
              </a:ext>
            </a:extLst>
          </p:cNvPr>
          <p:cNvSpPr txBox="1"/>
          <p:nvPr/>
        </p:nvSpPr>
        <p:spPr>
          <a:xfrm>
            <a:off x="4508762" y="4797662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R</a:t>
            </a:r>
            <a:r>
              <a:rPr lang="en-US" sz="2000" baseline="-25000" dirty="0"/>
              <a:t>t</a:t>
            </a:r>
            <a:endParaRPr lang="en-US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466294-492A-450D-73D9-57547AF8F66F}"/>
              </a:ext>
            </a:extLst>
          </p:cNvPr>
          <p:cNvSpPr txBox="1"/>
          <p:nvPr/>
        </p:nvSpPr>
        <p:spPr>
          <a:xfrm>
            <a:off x="4491022" y="5350781"/>
            <a:ext cx="6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baseline="-25000" dirty="0"/>
              <a:t>t</a:t>
            </a:r>
            <a:endParaRPr 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DA76D5-DA7D-E26A-298C-5ADA5C063D8E}"/>
              </a:ext>
            </a:extLst>
          </p:cNvPr>
          <p:cNvSpPr txBox="1"/>
          <p:nvPr/>
        </p:nvSpPr>
        <p:spPr>
          <a:xfrm>
            <a:off x="5151962" y="3654116"/>
            <a:ext cx="1943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action </a:t>
            </a:r>
            <a:r>
              <a:rPr lang="en-US" sz="2000" i="1" dirty="0"/>
              <a:t>A</a:t>
            </a:r>
            <a:r>
              <a:rPr lang="en-US" sz="2000" i="1" baseline="-25000" dirty="0"/>
              <a:t>t</a:t>
            </a:r>
            <a:r>
              <a:rPr lang="en-US" sz="2000" dirty="0"/>
              <a:t>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6AE912E-E9F4-FC70-CCC2-FA1964EBC152}"/>
              </a:ext>
            </a:extLst>
          </p:cNvPr>
          <p:cNvCxnSpPr/>
          <p:nvPr/>
        </p:nvCxnSpPr>
        <p:spPr>
          <a:xfrm flipV="1">
            <a:off x="10070926" y="4054226"/>
            <a:ext cx="0" cy="3370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06DBAA-4766-B71D-917E-E47207ED43AA}"/>
              </a:ext>
            </a:extLst>
          </p:cNvPr>
          <p:cNvCxnSpPr>
            <a:cxnSpLocks/>
          </p:cNvCxnSpPr>
          <p:nvPr/>
        </p:nvCxnSpPr>
        <p:spPr>
          <a:xfrm>
            <a:off x="10083452" y="4054226"/>
            <a:ext cx="19909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B344BA0-AE12-190E-235C-21DB83E5ACC3}"/>
              </a:ext>
            </a:extLst>
          </p:cNvPr>
          <p:cNvSpPr txBox="1"/>
          <p:nvPr/>
        </p:nvSpPr>
        <p:spPr>
          <a:xfrm>
            <a:off x="10563661" y="3646603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render()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DD91DB-D89F-8FCB-94F5-AFFDF8136630}"/>
              </a:ext>
            </a:extLst>
          </p:cNvPr>
          <p:cNvSpPr txBox="1"/>
          <p:nvPr/>
        </p:nvSpPr>
        <p:spPr>
          <a:xfrm>
            <a:off x="12657595" y="1922476"/>
            <a:ext cx="1181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PyGame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3915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FD6C8-CC34-EEE7-94E3-DF8D44602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9433"/>
            <a:ext cx="9734034" cy="521816"/>
          </a:xfrm>
        </p:spPr>
        <p:txBody>
          <a:bodyPr/>
          <a:lstStyle/>
          <a:p>
            <a:r>
              <a:rPr lang="en-US" dirty="0"/>
              <a:t>Important 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D0CE6-E1CA-3A3E-E5D7-3A0D0775BD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601249"/>
            <a:ext cx="15057595" cy="780371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Basic Components from Lab1:</a:t>
            </a:r>
          </a:p>
          <a:p>
            <a:r>
              <a:rPr lang="en-US" dirty="0">
                <a:hlinkClick r:id="rId2"/>
              </a:rPr>
              <a:t>https://medium.com/data-science/math-of-q-learning-python-code-5dcbdc49b6f6</a:t>
            </a:r>
            <a:endParaRPr lang="en-US" dirty="0"/>
          </a:p>
          <a:p>
            <a:r>
              <a:rPr lang="en-US" dirty="0"/>
              <a:t>Custom environment for Gymnasium Lab 2:</a:t>
            </a:r>
          </a:p>
          <a:p>
            <a:r>
              <a:rPr lang="en-US" dirty="0">
                <a:hlinkClick r:id="rId3"/>
              </a:rPr>
              <a:t>https://gymnasium.farama.org/tutorials/gymnasium_basics/environment_creation/#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PyGame</a:t>
            </a:r>
            <a:r>
              <a:rPr lang="en-US" dirty="0"/>
              <a:t> is often used by Gymnasium Environments for rendering: </a:t>
            </a:r>
          </a:p>
          <a:p>
            <a:r>
              <a:rPr lang="en-US" dirty="0">
                <a:hlinkClick r:id="rId4"/>
              </a:rPr>
              <a:t>https://dr0id.bitbucket.io/legacy/pygame_tutorial00.html</a:t>
            </a:r>
            <a:endParaRPr lang="en-US" dirty="0"/>
          </a:p>
          <a:p>
            <a:r>
              <a:rPr lang="en-US" dirty="0">
                <a:hlinkClick r:id="rId5"/>
              </a:rPr>
              <a:t>https://dr0id.bitbucket.io/legacy/pygame_tutorial01.html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Stable-baselines3:</a:t>
            </a:r>
          </a:p>
          <a:p>
            <a:r>
              <a:rPr lang="en-US" dirty="0">
                <a:hlinkClick r:id="rId6"/>
              </a:rPr>
              <a:t>https://stable-baselines3.readthedocs.io/en/master/guide/install.html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CAA86-ADE0-093C-F7AE-3887BF2FEC8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83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17FC-D48E-2B76-DE41-09CCC30B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963453"/>
          </a:xfrm>
        </p:spPr>
        <p:txBody>
          <a:bodyPr/>
          <a:lstStyle/>
          <a:p>
            <a:r>
              <a:rPr lang="en-US" dirty="0"/>
              <a:t>Gym to Gymnasium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FC950-646B-3AD8-14EA-3CF527E6E7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008909"/>
            <a:ext cx="14025336" cy="55264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Gymnasium is common as the successor to Gym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gymnasium as gym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Reset method takes seed as parameter (for reproducing random sequences)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reset</a:t>
            </a:r>
            <a:r>
              <a:rPr lang="en-CA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dirty="0">
                <a:solidFill>
                  <a:srgbClr val="3465A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CA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seed</a:t>
            </a:r>
            <a:r>
              <a:rPr lang="en-CA" b="1" dirty="0">
                <a:solidFill>
                  <a:srgbClr val="CE5C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CA" b="1" dirty="0">
                <a:solidFill>
                  <a:srgbClr val="204A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CA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options</a:t>
            </a:r>
            <a:r>
              <a:rPr lang="en-CA" b="1" dirty="0">
                <a:solidFill>
                  <a:srgbClr val="CE5C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CA" b="1" dirty="0">
                <a:solidFill>
                  <a:srgbClr val="204A87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CA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Step method returns truncated</a:t>
            </a:r>
          </a:p>
          <a:p>
            <a:r>
              <a:rPr lang="en-CA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observation, reward, terminated, truncated, info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2816E-383C-ADA4-09AE-EC5FA685AA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855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40FB-BD00-9D27-6255-B46D6769B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557" y="232345"/>
            <a:ext cx="11274735" cy="1335973"/>
          </a:xfrm>
        </p:spPr>
        <p:txBody>
          <a:bodyPr/>
          <a:lstStyle/>
          <a:p>
            <a:r>
              <a:rPr lang="en-US" dirty="0"/>
              <a:t>Creating a Gymnasium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55A7-5322-E199-E3A1-744FC165F8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1693" y="834348"/>
            <a:ext cx="15205557" cy="7475303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https://gymnasium.farama.org/tutorials/gymnasium_basics/environment_creation/#</a:t>
            </a:r>
            <a:endParaRPr lang="en-US" dirty="0"/>
          </a:p>
          <a:p>
            <a:r>
              <a:rPr lang="en-US" dirty="0"/>
              <a:t>Steps to creating a new Gymnasium environment: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import gymnasium as gym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from gymnasium import spaces   # note: from gymnasium, not from gym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Make the &lt;</a:t>
            </a:r>
            <a:r>
              <a:rPr lang="en-US" dirty="0" err="1"/>
              <a:t>somename</a:t>
            </a:r>
            <a:r>
              <a:rPr lang="en-US" dirty="0"/>
              <a:t>&gt;Env python class extend </a:t>
            </a:r>
            <a:r>
              <a:rPr lang="en-US" dirty="0" err="1"/>
              <a:t>gymnasium.env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Implement/override the </a:t>
            </a:r>
            <a:r>
              <a:rPr lang="en-US" dirty="0" err="1"/>
              <a:t>gymnasium.env</a:t>
            </a:r>
            <a:r>
              <a:rPr lang="en-US" dirty="0"/>
              <a:t> methods: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__</a:t>
            </a:r>
            <a:r>
              <a:rPr lang="en-CA" dirty="0" err="1">
                <a:solidFill>
                  <a:srgbClr val="000000"/>
                </a:solidFill>
              </a:rPr>
              <a:t>init</a:t>
            </a:r>
            <a:r>
              <a:rPr lang="en-CA" dirty="0">
                <a:solidFill>
                  <a:srgbClr val="000000"/>
                </a:solidFill>
              </a:rPr>
              <a:t>__</a:t>
            </a:r>
            <a:r>
              <a:rPr lang="en-CA" b="1" dirty="0">
                <a:solidFill>
                  <a:srgbClr val="000000"/>
                </a:solidFill>
                <a:effectLst/>
              </a:rPr>
              <a:t>(</a:t>
            </a:r>
            <a:r>
              <a:rPr lang="en-CA" dirty="0">
                <a:solidFill>
                  <a:srgbClr val="3465A4"/>
                </a:solidFill>
                <a:effectLst/>
              </a:rPr>
              <a:t>self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 err="1">
                <a:solidFill>
                  <a:srgbClr val="000000"/>
                </a:solidFill>
                <a:effectLst/>
              </a:rPr>
              <a:t>render_mode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204A87"/>
                </a:solidFill>
                <a:effectLst/>
              </a:rPr>
              <a:t>None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size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0000CF"/>
                </a:solidFill>
                <a:effectLst/>
              </a:rPr>
              <a:t>5</a:t>
            </a:r>
            <a:r>
              <a:rPr lang="en-CA" b="1" dirty="0">
                <a:solidFill>
                  <a:srgbClr val="000000"/>
                </a:solidFill>
                <a:effectLst/>
              </a:rPr>
              <a:t>)</a:t>
            </a:r>
            <a:endParaRPr lang="en-CA" dirty="0">
              <a:solidFill>
                <a:srgbClr val="000000"/>
              </a:solidFill>
              <a:effectLst/>
            </a:endParaRP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</a:rPr>
              <a:t>reset</a:t>
            </a:r>
            <a:r>
              <a:rPr lang="en-CA" b="1" dirty="0">
                <a:solidFill>
                  <a:srgbClr val="000000"/>
                </a:solidFill>
                <a:effectLst/>
              </a:rPr>
              <a:t>(</a:t>
            </a:r>
            <a:r>
              <a:rPr lang="en-CA" dirty="0">
                <a:solidFill>
                  <a:srgbClr val="3465A4"/>
                </a:solidFill>
                <a:effectLst/>
              </a:rPr>
              <a:t>self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seed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204A87"/>
                </a:solidFill>
                <a:effectLst/>
              </a:rPr>
              <a:t>None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options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204A87"/>
                </a:solidFill>
                <a:effectLst/>
              </a:rPr>
              <a:t>None</a:t>
            </a:r>
            <a:r>
              <a:rPr lang="en-CA" b="1" dirty="0">
                <a:solidFill>
                  <a:srgbClr val="000000"/>
                </a:solidFill>
                <a:effectLst/>
              </a:rPr>
              <a:t>)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</a:rPr>
              <a:t>step</a:t>
            </a:r>
            <a:r>
              <a:rPr lang="en-CA" b="1" dirty="0">
                <a:solidFill>
                  <a:srgbClr val="000000"/>
                </a:solidFill>
                <a:effectLst/>
              </a:rPr>
              <a:t>(</a:t>
            </a:r>
            <a:r>
              <a:rPr lang="en-CA" dirty="0">
                <a:solidFill>
                  <a:srgbClr val="3465A4"/>
                </a:solidFill>
                <a:effectLst/>
              </a:rPr>
              <a:t>self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action</a:t>
            </a:r>
            <a:r>
              <a:rPr lang="en-CA" b="1" dirty="0">
                <a:solidFill>
                  <a:srgbClr val="000000"/>
                </a:solidFill>
                <a:effectLst/>
              </a:rPr>
              <a:t>)-&gt;</a:t>
            </a:r>
            <a:r>
              <a:rPr lang="en-CA" b="1" dirty="0">
                <a:solidFill>
                  <a:srgbClr val="204A87"/>
                </a:solidFill>
                <a:effectLst/>
              </a:rPr>
              <a:t>return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observation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reward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terminated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b="1" dirty="0">
                <a:solidFill>
                  <a:srgbClr val="204A87"/>
                </a:solidFill>
                <a:effectLst/>
              </a:rPr>
              <a:t>False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info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</a:rPr>
              <a:t>render</a:t>
            </a:r>
            <a:r>
              <a:rPr lang="en-CA" b="1" dirty="0">
                <a:solidFill>
                  <a:srgbClr val="000000"/>
                </a:solidFill>
                <a:effectLst/>
              </a:rPr>
              <a:t>(</a:t>
            </a:r>
            <a:r>
              <a:rPr lang="en-CA" dirty="0">
                <a:solidFill>
                  <a:srgbClr val="3465A4"/>
                </a:solidFill>
                <a:effectLst/>
              </a:rPr>
              <a:t>self</a:t>
            </a:r>
            <a:r>
              <a:rPr lang="en-CA" b="1" dirty="0">
                <a:solidFill>
                  <a:srgbClr val="000000"/>
                </a:solidFill>
                <a:effectLst/>
              </a:rPr>
              <a:t>)</a:t>
            </a:r>
            <a:endParaRPr lang="en-CA" b="1" dirty="0">
              <a:solidFill>
                <a:srgbClr val="000000"/>
              </a:solidFill>
            </a:endParaRP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close(self)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C28918-5330-3FAB-E47A-07FE381763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79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5A98-A3B3-743A-4BD7-49F19BF3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287306"/>
            <a:ext cx="11337366" cy="684654"/>
          </a:xfrm>
        </p:spPr>
        <p:txBody>
          <a:bodyPr/>
          <a:lstStyle/>
          <a:p>
            <a:r>
              <a:rPr lang="en-US" dirty="0"/>
              <a:t>Creating a Gymnasium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24B33-8EC4-4F33-31D1-C0006ACA4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2361" y="971959"/>
            <a:ext cx="13566997" cy="684428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the state space and action space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Example from </a:t>
            </a:r>
            <a:r>
              <a:rPr lang="en-US" dirty="0" err="1"/>
              <a:t>gynmasium</a:t>
            </a:r>
            <a:r>
              <a:rPr lang="en-US" dirty="0"/>
              <a:t> docs:</a:t>
            </a:r>
          </a:p>
          <a:p>
            <a:r>
              <a:rPr lang="en-CA" sz="2400" i="1" dirty="0">
                <a:solidFill>
                  <a:srgbClr val="8F5902"/>
                </a:solidFill>
                <a:effectLst/>
              </a:rPr>
              <a:t># Observations for the </a:t>
            </a:r>
            <a:r>
              <a:rPr lang="en-CA" sz="2400" i="1" dirty="0" err="1">
                <a:solidFill>
                  <a:srgbClr val="8F5902"/>
                </a:solidFill>
                <a:effectLst/>
              </a:rPr>
              <a:t>gridworld</a:t>
            </a:r>
            <a:r>
              <a:rPr lang="en-CA" sz="2400" i="1" dirty="0">
                <a:solidFill>
                  <a:srgbClr val="8F5902"/>
                </a:solidFill>
                <a:effectLst/>
              </a:rPr>
              <a:t> example are dictionaries with the agent's and the target's location.</a:t>
            </a:r>
          </a:p>
          <a:p>
            <a:r>
              <a:rPr lang="en-CA" sz="2400" i="1" dirty="0">
                <a:solidFill>
                  <a:srgbClr val="8F5902"/>
                </a:solidFill>
                <a:effectLst/>
              </a:rPr>
              <a:t># Each location is encoded as an element of {0, ..., `size`}^2, i.e. </a:t>
            </a:r>
            <a:r>
              <a:rPr lang="en-CA" sz="2400" i="1" dirty="0" err="1">
                <a:solidFill>
                  <a:srgbClr val="8F5902"/>
                </a:solidFill>
                <a:effectLst/>
              </a:rPr>
              <a:t>MultiDiscrete</a:t>
            </a:r>
            <a:r>
              <a:rPr lang="en-CA" sz="2400" i="1" dirty="0">
                <a:solidFill>
                  <a:srgbClr val="8F5902"/>
                </a:solidFill>
                <a:effectLst/>
              </a:rPr>
              <a:t>([size, size]).</a:t>
            </a:r>
            <a:r>
              <a:rPr lang="en-CA" sz="2400" dirty="0"/>
              <a:t> </a:t>
            </a:r>
          </a:p>
          <a:p>
            <a:r>
              <a:rPr lang="en-CA" sz="2400" dirty="0" err="1">
                <a:solidFill>
                  <a:srgbClr val="3465A4"/>
                </a:solidFill>
                <a:effectLst/>
              </a:rPr>
              <a:t>self</a:t>
            </a:r>
            <a:r>
              <a:rPr lang="en-CA" sz="2400" b="1" dirty="0" err="1">
                <a:solidFill>
                  <a:srgbClr val="CE5C00"/>
                </a:solidFill>
                <a:effectLst/>
              </a:rPr>
              <a:t>.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observation_space</a:t>
            </a:r>
            <a:r>
              <a:rPr lang="en-CA" sz="2400" dirty="0"/>
              <a:t> </a:t>
            </a:r>
            <a:r>
              <a:rPr lang="en-CA" sz="2400" b="1" dirty="0">
                <a:solidFill>
                  <a:srgbClr val="CE5C00"/>
                </a:solidFill>
                <a:effectLst/>
              </a:rPr>
              <a:t>=</a:t>
            </a:r>
            <a:r>
              <a:rPr lang="en-CA" sz="2400" dirty="0"/>
              <a:t> 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spaces</a:t>
            </a:r>
            <a:r>
              <a:rPr lang="en-CA" sz="2400" b="1" dirty="0" err="1">
                <a:solidFill>
                  <a:srgbClr val="CE5C00"/>
                </a:solidFill>
                <a:effectLst/>
              </a:rPr>
              <a:t>.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Dict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(</a:t>
            </a:r>
            <a:r>
              <a:rPr lang="en-CA" sz="2400" dirty="0"/>
              <a:t> </a:t>
            </a:r>
          </a:p>
          <a:p>
            <a:r>
              <a:rPr lang="en-CA" sz="2400" b="1" dirty="0">
                <a:solidFill>
                  <a:srgbClr val="000000"/>
                </a:solidFill>
                <a:effectLst/>
              </a:rPr>
              <a:t>    {</a:t>
            </a:r>
            <a:r>
              <a:rPr lang="en-CA" sz="2400" dirty="0"/>
              <a:t> </a:t>
            </a:r>
          </a:p>
          <a:p>
            <a:r>
              <a:rPr lang="en-CA" sz="2400" dirty="0">
                <a:solidFill>
                  <a:srgbClr val="4E9A06"/>
                </a:solidFill>
                <a:effectLst/>
              </a:rPr>
              <a:t>        "agent"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:</a:t>
            </a:r>
            <a:r>
              <a:rPr lang="en-CA" sz="2400" dirty="0"/>
              <a:t> 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spaces</a:t>
            </a:r>
            <a:r>
              <a:rPr lang="en-CA" sz="2400" b="1" dirty="0" err="1">
                <a:solidFill>
                  <a:srgbClr val="CE5C00"/>
                </a:solidFill>
                <a:effectLst/>
              </a:rPr>
              <a:t>.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Box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(</a:t>
            </a:r>
            <a:r>
              <a:rPr lang="en-CA" sz="2400" b="1" dirty="0">
                <a:solidFill>
                  <a:srgbClr val="0000CF"/>
                </a:solidFill>
                <a:effectLst/>
              </a:rPr>
              <a:t>0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,</a:t>
            </a:r>
            <a:r>
              <a:rPr lang="en-CA" sz="2400" dirty="0"/>
              <a:t> </a:t>
            </a:r>
            <a:r>
              <a:rPr lang="en-CA" sz="2400" dirty="0">
                <a:solidFill>
                  <a:srgbClr val="000000"/>
                </a:solidFill>
                <a:effectLst/>
              </a:rPr>
              <a:t>size</a:t>
            </a:r>
            <a:r>
              <a:rPr lang="en-CA" sz="2400" dirty="0"/>
              <a:t> </a:t>
            </a:r>
            <a:r>
              <a:rPr lang="en-CA" sz="2400" b="1" dirty="0">
                <a:solidFill>
                  <a:srgbClr val="CE5C00"/>
                </a:solidFill>
                <a:effectLst/>
              </a:rPr>
              <a:t>-</a:t>
            </a:r>
            <a:r>
              <a:rPr lang="en-CA" sz="2400" dirty="0"/>
              <a:t> </a:t>
            </a:r>
            <a:r>
              <a:rPr lang="en-CA" sz="2400" b="1" dirty="0">
                <a:solidFill>
                  <a:srgbClr val="0000CF"/>
                </a:solidFill>
                <a:effectLst/>
              </a:rPr>
              <a:t>1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,</a:t>
            </a:r>
            <a:r>
              <a:rPr lang="en-CA" sz="2400" dirty="0"/>
              <a:t> </a:t>
            </a:r>
            <a:r>
              <a:rPr lang="en-CA" sz="2400" dirty="0">
                <a:solidFill>
                  <a:srgbClr val="000000"/>
                </a:solidFill>
                <a:effectLst/>
              </a:rPr>
              <a:t>shape</a:t>
            </a:r>
            <a:r>
              <a:rPr lang="en-CA" sz="2400" b="1" dirty="0">
                <a:solidFill>
                  <a:srgbClr val="CE5C00"/>
                </a:solidFill>
                <a:effectLst/>
              </a:rPr>
              <a:t>=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(</a:t>
            </a:r>
            <a:r>
              <a:rPr lang="en-CA" sz="2400" b="1" dirty="0">
                <a:solidFill>
                  <a:srgbClr val="0000CF"/>
                </a:solidFill>
                <a:effectLst/>
              </a:rPr>
              <a:t>2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,),</a:t>
            </a:r>
            <a:r>
              <a:rPr lang="en-CA" sz="2400" dirty="0"/>
              <a:t> 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dtype</a:t>
            </a:r>
            <a:r>
              <a:rPr lang="en-CA" sz="2400" b="1" dirty="0">
                <a:solidFill>
                  <a:srgbClr val="CE5C00"/>
                </a:solidFill>
                <a:effectLst/>
              </a:rPr>
              <a:t>=</a:t>
            </a:r>
            <a:r>
              <a:rPr lang="en-CA" sz="2400" dirty="0">
                <a:solidFill>
                  <a:srgbClr val="204A87"/>
                </a:solidFill>
                <a:effectLst/>
              </a:rPr>
              <a:t>int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),</a:t>
            </a:r>
          </a:p>
          <a:p>
            <a:r>
              <a:rPr lang="en-CA" sz="2400" b="1" dirty="0">
                <a:solidFill>
                  <a:srgbClr val="000000"/>
                </a:solidFill>
              </a:rPr>
              <a:t>       </a:t>
            </a:r>
            <a:r>
              <a:rPr lang="en-CA" sz="2400" dirty="0"/>
              <a:t> </a:t>
            </a:r>
            <a:r>
              <a:rPr lang="en-CA" sz="2400" dirty="0">
                <a:solidFill>
                  <a:srgbClr val="4E9A06"/>
                </a:solidFill>
                <a:effectLst/>
              </a:rPr>
              <a:t>"target"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:</a:t>
            </a:r>
            <a:r>
              <a:rPr lang="en-CA" sz="2400" dirty="0"/>
              <a:t> 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spaces</a:t>
            </a:r>
            <a:r>
              <a:rPr lang="en-CA" sz="2400" b="1" dirty="0" err="1">
                <a:solidFill>
                  <a:srgbClr val="CE5C00"/>
                </a:solidFill>
                <a:effectLst/>
              </a:rPr>
              <a:t>.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Box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(</a:t>
            </a:r>
            <a:r>
              <a:rPr lang="en-CA" sz="2400" b="1" dirty="0">
                <a:solidFill>
                  <a:srgbClr val="0000CF"/>
                </a:solidFill>
                <a:effectLst/>
              </a:rPr>
              <a:t>0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,</a:t>
            </a:r>
            <a:r>
              <a:rPr lang="en-CA" sz="2400" dirty="0"/>
              <a:t> </a:t>
            </a:r>
            <a:r>
              <a:rPr lang="en-CA" sz="2400" dirty="0">
                <a:solidFill>
                  <a:srgbClr val="000000"/>
                </a:solidFill>
                <a:effectLst/>
              </a:rPr>
              <a:t>size</a:t>
            </a:r>
            <a:r>
              <a:rPr lang="en-CA" sz="2400" dirty="0"/>
              <a:t> </a:t>
            </a:r>
            <a:r>
              <a:rPr lang="en-CA" sz="2400" b="1" dirty="0">
                <a:solidFill>
                  <a:srgbClr val="CE5C00"/>
                </a:solidFill>
                <a:effectLst/>
              </a:rPr>
              <a:t>-</a:t>
            </a:r>
            <a:r>
              <a:rPr lang="en-CA" sz="2400" dirty="0"/>
              <a:t> </a:t>
            </a:r>
            <a:r>
              <a:rPr lang="en-CA" sz="2400" b="1" dirty="0">
                <a:solidFill>
                  <a:srgbClr val="0000CF"/>
                </a:solidFill>
                <a:effectLst/>
              </a:rPr>
              <a:t>1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,</a:t>
            </a:r>
            <a:r>
              <a:rPr lang="en-CA" sz="2400" dirty="0"/>
              <a:t> </a:t>
            </a:r>
            <a:r>
              <a:rPr lang="en-CA" sz="2400" dirty="0">
                <a:solidFill>
                  <a:srgbClr val="000000"/>
                </a:solidFill>
                <a:effectLst/>
              </a:rPr>
              <a:t>shape</a:t>
            </a:r>
            <a:r>
              <a:rPr lang="en-CA" sz="2400" b="1" dirty="0">
                <a:solidFill>
                  <a:srgbClr val="CE5C00"/>
                </a:solidFill>
                <a:effectLst/>
              </a:rPr>
              <a:t>=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(</a:t>
            </a:r>
            <a:r>
              <a:rPr lang="en-CA" sz="2400" b="1" dirty="0">
                <a:solidFill>
                  <a:srgbClr val="0000CF"/>
                </a:solidFill>
                <a:effectLst/>
              </a:rPr>
              <a:t>2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,),</a:t>
            </a:r>
            <a:r>
              <a:rPr lang="en-CA" sz="2400" dirty="0"/>
              <a:t> 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dtype</a:t>
            </a:r>
            <a:r>
              <a:rPr lang="en-CA" sz="2400" b="1" dirty="0">
                <a:solidFill>
                  <a:srgbClr val="CE5C00"/>
                </a:solidFill>
                <a:effectLst/>
              </a:rPr>
              <a:t>=</a:t>
            </a:r>
            <a:r>
              <a:rPr lang="en-CA" sz="2400" dirty="0">
                <a:solidFill>
                  <a:srgbClr val="204A87"/>
                </a:solidFill>
                <a:effectLst/>
              </a:rPr>
              <a:t>int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),</a:t>
            </a:r>
          </a:p>
          <a:p>
            <a:r>
              <a:rPr lang="en-CA" sz="2400" b="1" dirty="0">
                <a:solidFill>
                  <a:srgbClr val="000000"/>
                </a:solidFill>
              </a:rPr>
              <a:t>    </a:t>
            </a:r>
            <a:r>
              <a:rPr lang="en-CA" sz="2400" dirty="0"/>
              <a:t> 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}</a:t>
            </a:r>
            <a:r>
              <a:rPr lang="en-CA" sz="2400" dirty="0"/>
              <a:t> 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)</a:t>
            </a:r>
          </a:p>
          <a:p>
            <a:r>
              <a:rPr lang="en-CA" sz="2400" dirty="0"/>
              <a:t> </a:t>
            </a:r>
            <a:r>
              <a:rPr lang="en-CA" sz="2400" i="1" dirty="0">
                <a:solidFill>
                  <a:srgbClr val="8F5902"/>
                </a:solidFill>
                <a:effectLst/>
              </a:rPr>
              <a:t># We have 4 actions, corresponding to "right", "up", "left", "down"</a:t>
            </a:r>
          </a:p>
          <a:p>
            <a:r>
              <a:rPr lang="en-CA" sz="2400" dirty="0"/>
              <a:t> </a:t>
            </a:r>
            <a:r>
              <a:rPr lang="en-CA" sz="2400" dirty="0" err="1">
                <a:solidFill>
                  <a:srgbClr val="3465A4"/>
                </a:solidFill>
                <a:effectLst/>
              </a:rPr>
              <a:t>self</a:t>
            </a:r>
            <a:r>
              <a:rPr lang="en-CA" sz="2400" b="1" dirty="0" err="1">
                <a:solidFill>
                  <a:srgbClr val="CE5C00"/>
                </a:solidFill>
                <a:effectLst/>
              </a:rPr>
              <a:t>.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action_space</a:t>
            </a:r>
            <a:r>
              <a:rPr lang="en-CA" sz="2400" dirty="0"/>
              <a:t> </a:t>
            </a:r>
            <a:r>
              <a:rPr lang="en-CA" sz="2400" b="1" dirty="0">
                <a:solidFill>
                  <a:srgbClr val="CE5C00"/>
                </a:solidFill>
                <a:effectLst/>
              </a:rPr>
              <a:t>=</a:t>
            </a:r>
            <a:r>
              <a:rPr lang="en-CA" sz="2400" dirty="0"/>
              <a:t> 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spaces</a:t>
            </a:r>
            <a:r>
              <a:rPr lang="en-CA" sz="2400" b="1" dirty="0" err="1">
                <a:solidFill>
                  <a:srgbClr val="CE5C00"/>
                </a:solidFill>
                <a:effectLst/>
              </a:rPr>
              <a:t>.</a:t>
            </a:r>
            <a:r>
              <a:rPr lang="en-CA" sz="2400" dirty="0" err="1">
                <a:solidFill>
                  <a:srgbClr val="000000"/>
                </a:solidFill>
                <a:effectLst/>
              </a:rPr>
              <a:t>Discrete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(</a:t>
            </a:r>
            <a:r>
              <a:rPr lang="en-CA" sz="2400" b="1" dirty="0">
                <a:solidFill>
                  <a:srgbClr val="0000CF"/>
                </a:solidFill>
                <a:effectLst/>
              </a:rPr>
              <a:t>4</a:t>
            </a:r>
            <a:r>
              <a:rPr lang="en-CA" sz="2400" b="1" dirty="0">
                <a:solidFill>
                  <a:srgbClr val="000000"/>
                </a:solidFill>
                <a:effectLst/>
              </a:rPr>
              <a:t>)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7499F-4CC2-C9CE-CB2B-61BB69BC07A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040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5A98-A3B3-743A-4BD7-49F19BF3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287306"/>
            <a:ext cx="11337366" cy="684654"/>
          </a:xfrm>
        </p:spPr>
        <p:txBody>
          <a:bodyPr/>
          <a:lstStyle/>
          <a:p>
            <a:r>
              <a:rPr lang="en-US" dirty="0"/>
              <a:t>Creating a Gymnasium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24B33-8EC4-4F33-31D1-C0006ACA4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2361" y="971959"/>
            <a:ext cx="13566997" cy="684428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the state space and action space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this case, the observation is a dictionary of 3-letter-state integers: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self.observation_space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spaces.Dict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{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"agent":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spaces.Discrete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self.states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)),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    "target":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spaces.Discrete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self.states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)),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    }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)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self.action_space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spaces.Discrete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self.actions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7499F-4CC2-C9CE-CB2B-61BB69BC07A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970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B8452-D2DB-56AF-BF87-7715B1E3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DD685-1369-13A1-DAC3-159AA2535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287306"/>
            <a:ext cx="11337366" cy="684654"/>
          </a:xfrm>
        </p:spPr>
        <p:txBody>
          <a:bodyPr/>
          <a:lstStyle/>
          <a:p>
            <a:r>
              <a:rPr lang="en-US" dirty="0"/>
              <a:t>Creating a Gymnasium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F1379-0E4D-7F48-F9E4-97717D3A36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2361" y="971959"/>
            <a:ext cx="13566997" cy="684428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the state space and action space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this case (per the coming Assignment 1 document), the observation is a single larger integer representing both the current state and target at the same time: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self.observation_space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spaces.Discrete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self.states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self.action_space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spaces.Discrete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self.actions</a:t>
            </a:r>
            <a:r>
              <a:rPr lang="en-CA" sz="2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F966A-1D33-421E-0B9C-A2AF7A9572A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655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5A98-A3B3-743A-4BD7-49F19BF3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287306"/>
            <a:ext cx="14705750" cy="684654"/>
          </a:xfrm>
        </p:spPr>
        <p:txBody>
          <a:bodyPr/>
          <a:lstStyle/>
          <a:p>
            <a:r>
              <a:rPr lang="en-US" dirty="0" err="1"/>
              <a:t>StableBaselines</a:t>
            </a:r>
            <a:r>
              <a:rPr lang="en-US" dirty="0"/>
              <a:t> </a:t>
            </a:r>
            <a:r>
              <a:rPr lang="en-US" dirty="0" err="1"/>
              <a:t>MlpPolicy</a:t>
            </a:r>
            <a:r>
              <a:rPr lang="en-US" dirty="0"/>
              <a:t> vs </a:t>
            </a:r>
            <a:r>
              <a:rPr lang="en-US" dirty="0" err="1"/>
              <a:t>MultiInputPolicy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24B33-8EC4-4F33-31D1-C0006ACA4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2361" y="971959"/>
            <a:ext cx="14138377" cy="737018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Dictionary observations: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self.observation_space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spaces.Dict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{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"agent": 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spaces.Discrete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self.states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"target": 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spaces.Discrete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self.states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    }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)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self.action_space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spaces.Discrete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self.actions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rgbClr val="000000"/>
                </a:solidFill>
                <a:cs typeface="Courier New" panose="02070309020205020404" pitchFamily="49" charset="0"/>
              </a:rPr>
              <a:t>In the agent</a:t>
            </a:r>
          </a:p>
          <a:p>
            <a:r>
              <a:rPr lang="en-CA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For </a:t>
            </a:r>
            <a:r>
              <a:rPr lang="en-CA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spaces.Dict</a:t>
            </a:r>
            <a:r>
              <a:rPr lang="en-CA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observations, use </a:t>
            </a:r>
            <a:r>
              <a:rPr lang="en-CA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MultiInputPolicy</a:t>
            </a:r>
            <a:endParaRPr lang="en-CA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gymnasium as gym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 = 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gym.make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aisd_examples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/BlocksWorld-v0", 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render_mode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="human")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 = DQN("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MultiInputPolicy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 env, verbose=1)</a:t>
            </a:r>
          </a:p>
          <a:p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model.learn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total_timesteps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=10000, </a:t>
            </a:r>
            <a:r>
              <a:rPr lang="en-CA" sz="20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log_interval</a:t>
            </a:r>
            <a:r>
              <a:rPr lang="en-CA" sz="20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</a:p>
          <a:p>
            <a:endParaRPr lang="en-CA" sz="2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7499F-4CC2-C9CE-CB2B-61BB69BC07A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887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5A98-A3B3-743A-4BD7-49F19BF3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287306"/>
            <a:ext cx="14705750" cy="684654"/>
          </a:xfrm>
        </p:spPr>
        <p:txBody>
          <a:bodyPr/>
          <a:lstStyle/>
          <a:p>
            <a:r>
              <a:rPr lang="en-US" dirty="0" err="1"/>
              <a:t>StableBaselines</a:t>
            </a:r>
            <a:r>
              <a:rPr lang="en-US" dirty="0"/>
              <a:t> </a:t>
            </a:r>
            <a:r>
              <a:rPr lang="en-US" dirty="0" err="1"/>
              <a:t>MlpPolicy</a:t>
            </a:r>
            <a:r>
              <a:rPr lang="en-US" dirty="0"/>
              <a:t> vs </a:t>
            </a:r>
            <a:r>
              <a:rPr lang="en-US" dirty="0" err="1"/>
              <a:t>MultiInputPolicy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24B33-8EC4-4F33-31D1-C0006ACA46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62361" y="971959"/>
            <a:ext cx="13566997" cy="684428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Observation is a discrete number: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self.observation_space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spaces.Discrete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self.states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self.action_space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spaces.Discrete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self.actions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rgbClr val="000000"/>
                </a:solidFill>
                <a:cs typeface="Courier New" panose="02070309020205020404" pitchFamily="49" charset="0"/>
              </a:rPr>
              <a:t>In the agent</a:t>
            </a:r>
            <a:endParaRPr lang="en-CA" sz="2400" dirty="0">
              <a:solidFill>
                <a:srgbClr val="000000"/>
              </a:solidFill>
              <a:effectLst/>
              <a:cs typeface="Courier New" panose="02070309020205020404" pitchFamily="49" charset="0"/>
            </a:endParaRPr>
          </a:p>
          <a:p>
            <a:r>
              <a:rPr lang="en-CA" sz="2400" dirty="0">
                <a:solidFill>
                  <a:srgbClr val="000000"/>
                </a:solidFill>
                <a:cs typeface="Courier New" panose="02070309020205020404" pitchFamily="49" charset="0"/>
              </a:rPr>
              <a:t># for </a:t>
            </a:r>
            <a:r>
              <a:rPr lang="en-CA" sz="2400" dirty="0" err="1">
                <a:solidFill>
                  <a:srgbClr val="000000"/>
                </a:solidFill>
                <a:cs typeface="Courier New" panose="02070309020205020404" pitchFamily="49" charset="0"/>
              </a:rPr>
              <a:t>spaces.Discrete</a:t>
            </a:r>
            <a:r>
              <a:rPr lang="en-CA" sz="24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CA" sz="2400" dirty="0" err="1">
                <a:solidFill>
                  <a:srgbClr val="000000"/>
                </a:solidFill>
                <a:cs typeface="Courier New" panose="02070309020205020404" pitchFamily="49" charset="0"/>
              </a:rPr>
              <a:t>observation_space</a:t>
            </a:r>
            <a:r>
              <a:rPr lang="en-CA" sz="2400" dirty="0">
                <a:solidFill>
                  <a:srgbClr val="000000"/>
                </a:solidFill>
                <a:cs typeface="Courier New" panose="02070309020205020404" pitchFamily="49" charset="0"/>
              </a:rPr>
              <a:t>, use </a:t>
            </a:r>
            <a:r>
              <a:rPr lang="en-CA" sz="2400" dirty="0" err="1">
                <a:solidFill>
                  <a:srgbClr val="000000"/>
                </a:solidFill>
                <a:cs typeface="Courier New" panose="02070309020205020404" pitchFamily="49" charset="0"/>
              </a:rPr>
              <a:t>MlpPolicy</a:t>
            </a:r>
            <a:r>
              <a:rPr lang="en-CA" sz="2400" dirty="0">
                <a:solidFill>
                  <a:srgbClr val="000000"/>
                </a:solidFill>
                <a:cs typeface="Courier New" panose="02070309020205020404" pitchFamily="49" charset="0"/>
              </a:rPr>
              <a:t> (Multi-Layer-Perceptron)</a:t>
            </a:r>
            <a:endParaRPr lang="en-CA" sz="2400" dirty="0">
              <a:solidFill>
                <a:srgbClr val="000000"/>
              </a:solidFill>
              <a:effectLst/>
              <a:cs typeface="Courier New" panose="02070309020205020404" pitchFamily="49" charset="0"/>
            </a:endParaRP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gymnasium as gym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env = 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gym.make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aisd_examples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/BlocksTarget-v0", 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render_mode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="human")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 = DQN("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MlpPolicy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 env, verbose=1)</a:t>
            </a:r>
          </a:p>
          <a:p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model.learn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total_timesteps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=10000, </a:t>
            </a:r>
            <a:r>
              <a:rPr lang="en-CA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log_interval</a:t>
            </a:r>
            <a:r>
              <a:rPr lang="en-CA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</a:p>
          <a:p>
            <a:endParaRPr lang="en-CA" sz="2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7499F-4CC2-C9CE-CB2B-61BB69BC07A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165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5EC4-3216-6AB4-8AF9-E5B14AAB5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2740281" cy="1335973"/>
          </a:xfrm>
        </p:spPr>
        <p:txBody>
          <a:bodyPr/>
          <a:lstStyle/>
          <a:p>
            <a:r>
              <a:rPr lang="en-US" dirty="0"/>
              <a:t>Put our environment in a package to install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0EF97-F966-9A05-2381-907783A59D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41118"/>
            <a:ext cx="13491841" cy="5794216"/>
          </a:xfrm>
        </p:spPr>
        <p:txBody>
          <a:bodyPr/>
          <a:lstStyle/>
          <a:p>
            <a:r>
              <a:rPr lang="en-US" dirty="0"/>
              <a:t>As outlined in the Gymnasium docs (they use the name </a:t>
            </a:r>
            <a:r>
              <a:rPr lang="en-US" dirty="0" err="1"/>
              <a:t>gymnasium_env</a:t>
            </a:r>
            <a:r>
              <a:rPr lang="en-US" dirty="0"/>
              <a:t>):</a:t>
            </a:r>
          </a:p>
          <a:p>
            <a:r>
              <a:rPr lang="en-US" dirty="0"/>
              <a:t>&lt;</a:t>
            </a:r>
            <a:r>
              <a:rPr lang="en-US" dirty="0" err="1"/>
              <a:t>algonquin_id</a:t>
            </a:r>
            <a:r>
              <a:rPr lang="en-US" dirty="0"/>
              <a:t>&gt;_</a:t>
            </a:r>
            <a:r>
              <a:rPr lang="en-US" dirty="0" err="1"/>
              <a:t>blocksworld_env</a:t>
            </a:r>
            <a:r>
              <a:rPr lang="en-US" dirty="0"/>
              <a:t>/</a:t>
            </a:r>
          </a:p>
          <a:p>
            <a:r>
              <a:rPr lang="en-US" dirty="0"/>
              <a:t>    </a:t>
            </a:r>
            <a:r>
              <a:rPr lang="en-US" dirty="0" err="1"/>
              <a:t>pyproject.toml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blocksworld_env</a:t>
            </a:r>
            <a:r>
              <a:rPr lang="en-US" dirty="0"/>
              <a:t>/         # </a:t>
            </a:r>
            <a:r>
              <a:rPr lang="en-US" dirty="0" err="1"/>
              <a:t>gymnasium_env</a:t>
            </a:r>
            <a:r>
              <a:rPr lang="en-US" dirty="0"/>
              <a:t>/ would be at this level</a:t>
            </a:r>
          </a:p>
          <a:p>
            <a:r>
              <a:rPr lang="en-US" dirty="0"/>
              <a:t>        __</a:t>
            </a:r>
            <a:r>
              <a:rPr lang="en-US" dirty="0" err="1"/>
              <a:t>init</a:t>
            </a:r>
            <a:r>
              <a:rPr lang="en-US" dirty="0"/>
              <a:t>__.</a:t>
            </a:r>
            <a:r>
              <a:rPr lang="en-US" dirty="0" err="1"/>
              <a:t>py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envs</a:t>
            </a:r>
            <a:r>
              <a:rPr lang="en-US" dirty="0"/>
              <a:t>/</a:t>
            </a:r>
          </a:p>
          <a:p>
            <a:r>
              <a:rPr lang="en-US" dirty="0"/>
              <a:t>            __</a:t>
            </a:r>
            <a:r>
              <a:rPr lang="en-US" dirty="0" err="1"/>
              <a:t>init</a:t>
            </a:r>
            <a:r>
              <a:rPr lang="en-US" dirty="0"/>
              <a:t>__.</a:t>
            </a:r>
            <a:r>
              <a:rPr lang="en-US" dirty="0" err="1"/>
              <a:t>py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blocks_world.py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F2586-1500-0396-B138-E58440CCAD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113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4023-730F-D823-A3E8-3039671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505" y="0"/>
            <a:ext cx="9475914" cy="663879"/>
          </a:xfrm>
        </p:spPr>
        <p:txBody>
          <a:bodyPr/>
          <a:lstStyle/>
          <a:p>
            <a:r>
              <a:rPr lang="en-US" dirty="0"/>
              <a:t>Using our custom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058A0-8BE5-68FF-E48D-6356EA22FD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4" y="648885"/>
            <a:ext cx="13579523" cy="7649988"/>
          </a:xfrm>
        </p:spPr>
        <p:txBody>
          <a:bodyPr/>
          <a:lstStyle/>
          <a:p>
            <a:r>
              <a:rPr lang="en-US" dirty="0"/>
              <a:t>Using our custom </a:t>
            </a:r>
            <a:r>
              <a:rPr lang="en-US" dirty="0" err="1"/>
              <a:t>blocksworld</a:t>
            </a:r>
            <a:r>
              <a:rPr lang="en-US" dirty="0"/>
              <a:t> environment with Discrete observations &lt;</a:t>
            </a:r>
            <a:r>
              <a:rPr lang="en-US" dirty="0" err="1"/>
              <a:t>your_algonquin_id</a:t>
            </a:r>
            <a:r>
              <a:rPr lang="en-US" dirty="0"/>
              <a:t>&gt;_lab2_qlearning_agent.py from Lab 2: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#from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medium_qlearning_env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import Env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blocksworld_env</a:t>
            </a:r>
            <a:endParaRPr lang="en-CA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import gymnasium as gym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matplotlib.pyplot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as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plt</a:t>
            </a:r>
            <a:endParaRPr lang="en-CA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numpy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as np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import time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os</a:t>
            </a:r>
            <a:endParaRPr lang="en-CA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 create environment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#env = Env()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env =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gym.make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(”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blocksworld_env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/BlocksWorld-v0",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render_mode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="human")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: contains the Q-Values for every 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state,action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pair</a:t>
            </a:r>
          </a:p>
          <a:p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qtable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np.random.rand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env.observation_space.n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env.action_space.n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).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tolist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b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BD21C-F530-7074-FBBC-BAD82608CE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59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4023-730F-D823-A3E8-3039671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505" y="0"/>
            <a:ext cx="9475914" cy="663879"/>
          </a:xfrm>
        </p:spPr>
        <p:txBody>
          <a:bodyPr/>
          <a:lstStyle/>
          <a:p>
            <a:r>
              <a:rPr lang="en-US" dirty="0"/>
              <a:t>Using our custom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058A0-8BE5-68FF-E48D-6356EA22FD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4" y="663878"/>
            <a:ext cx="13579523" cy="7402883"/>
          </a:xfrm>
        </p:spPr>
        <p:txBody>
          <a:bodyPr/>
          <a:lstStyle/>
          <a:p>
            <a:r>
              <a:rPr lang="en-US" dirty="0"/>
              <a:t>Using our environment (Discrete observations) with stable-baselines3: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import gymnasium as gym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blocksworld_env</a:t>
            </a:r>
            <a:endParaRPr lang="en-CA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from stable_baselines3 import DQN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env =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gym.make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blocks_world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/BlocksWorld-v0",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render_mode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="human")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 = DQN("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MlpPolicy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", env, verbose=1)         # for non-dictionary Discrete observation where state and target are combined</a:t>
            </a:r>
          </a:p>
          <a:p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model.learn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total_timesteps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=10000,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log_interval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=4)</a:t>
            </a:r>
          </a:p>
          <a:p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model.save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dqn_blocks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")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del model # remove to demonstrate saving and loading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 =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DQN.load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("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dqn_blocks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")</a:t>
            </a:r>
          </a:p>
          <a:p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info =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env.reset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while True: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action, _states =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model.predict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deterministic=True)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reward, terminated, truncated, info =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env.step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(action)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if terminated or truncated:</a:t>
            </a:r>
          </a:p>
          <a:p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info = </a:t>
            </a:r>
            <a:r>
              <a:rPr lang="en-CA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env.reset</a:t>
            </a:r>
            <a:r>
              <a:rPr lang="en-CA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br>
              <a:rPr lang="en-CA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CA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BD21C-F530-7074-FBBC-BAD82608CE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92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B391-A5CF-E8A0-4AE7-1F278C63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846219" cy="1335973"/>
          </a:xfrm>
        </p:spPr>
        <p:txBody>
          <a:bodyPr/>
          <a:lstStyle/>
          <a:p>
            <a:r>
              <a:rPr lang="en-US" dirty="0"/>
              <a:t>Prolog Blocks world environment (Assignment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F4B82-95F8-1DD3-1C05-51AA931F97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65707"/>
            <a:ext cx="15045070" cy="6050534"/>
          </a:xfrm>
        </p:spPr>
        <p:txBody>
          <a:bodyPr/>
          <a:lstStyle/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 situation calculus blocks world (just one fluent, </a:t>
            </a:r>
            <a:r>
              <a:rPr lang="en-CA" sz="240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clear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is defined </a:t>
            </a:r>
            <a:r>
              <a:rPr lang="en-CA" sz="2400" dirty="0">
                <a:solidFill>
                  <a:srgbClr val="000000"/>
                </a:solidFill>
                <a:latin typeface="Menlo" panose="020B0609030804020204" pitchFamily="49" charset="0"/>
              </a:rPr>
              <a:t>with </a:t>
            </a:r>
            <a:r>
              <a:rPr lang="en-CA" sz="2400" b="1" dirty="0">
                <a:solidFill>
                  <a:srgbClr val="000000"/>
                </a:solidFill>
                <a:latin typeface="Menlo" panose="020B0609030804020204" pitchFamily="49" charset="0"/>
              </a:rPr>
              <a:t>on</a:t>
            </a:r>
            <a:r>
              <a:rPr lang="en-CA" sz="2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-CA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:- dynamic on/3.</a:t>
            </a:r>
          </a:p>
          <a:p>
            <a:r>
              <a:rPr lang="en-CA" sz="2400" dirty="0">
                <a:solidFill>
                  <a:srgbClr val="000000"/>
                </a:solidFill>
                <a:latin typeface="Menlo" panose="020B0609030804020204" pitchFamily="49" charset="0"/>
              </a:rPr>
              <a:t>% target means this is the goal (not used because Python picks random state)</a:t>
            </a:r>
            <a:endParaRPr lang="en-CA" sz="2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target:-on(a,4,[]),on(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b,c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,[]),on(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c,a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,[]).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 reset asserts the initial state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reset:-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retractall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(on(_,_,[])),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assert(on(a,1,[])),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assert(on(b,3,[])),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assert(on(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c,a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,[])).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8F34D-1AD1-52A8-6EB8-A847C790307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08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B391-A5CF-E8A0-4AE7-1F278C63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0686012" cy="1335973"/>
          </a:xfrm>
        </p:spPr>
        <p:txBody>
          <a:bodyPr/>
          <a:lstStyle/>
          <a:p>
            <a:r>
              <a:rPr lang="en-US" dirty="0"/>
              <a:t>Prolog Blocks world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F4B82-95F8-1DD3-1C05-51AA931F97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65707"/>
            <a:ext cx="6402111" cy="6050534"/>
          </a:xfrm>
        </p:spPr>
        <p:txBody>
          <a:bodyPr/>
          <a:lstStyle/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state(S):-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(block(A);place(A)),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dif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A,a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(block(B);place(B)),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dif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B,b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(block(C);place(C)),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dif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C,c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dif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(A,B),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dif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(B,C),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dif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(A,C),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grounded(A,B,C),</a:t>
            </a:r>
          </a:p>
          <a:p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atomics_to_string</a:t>
            </a:r>
            <a:r>
              <a:rPr lang="en-CA" sz="2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([A,B,C],S).</a:t>
            </a:r>
          </a:p>
          <a:p>
            <a:b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CA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8F34D-1AD1-52A8-6EB8-A847C790307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6CE4638-01D3-425C-E06A-C38546A01739}"/>
              </a:ext>
            </a:extLst>
          </p:cNvPr>
          <p:cNvSpPr txBox="1">
            <a:spLocks/>
          </p:cNvSpPr>
          <p:nvPr/>
        </p:nvSpPr>
        <p:spPr>
          <a:xfrm>
            <a:off x="8806574" y="1486010"/>
            <a:ext cx="5750757" cy="66099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81583" rtl="0" eaLnBrk="1" latinLnBrk="0" hangingPunct="1">
              <a:lnSpc>
                <a:spcPct val="110000"/>
              </a:lnSpc>
              <a:spcBef>
                <a:spcPts val="1600"/>
              </a:spcBef>
              <a:buClr>
                <a:schemeClr val="accent2"/>
              </a:buClr>
              <a:buFontTx/>
              <a:buNone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270073" indent="-48849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020367" indent="-45720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Arial"/>
              <a:buChar char="•"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735542" indent="-390792" algn="l" defTabSz="781583" rtl="0" eaLnBrk="1" latinLnBrk="0" hangingPunct="1">
              <a:lnSpc>
                <a:spcPct val="120000"/>
              </a:lnSpc>
              <a:spcBef>
                <a:spcPts val="1104"/>
              </a:spcBef>
              <a:buClr>
                <a:schemeClr val="accent2"/>
              </a:buClr>
              <a:buSzPct val="90000"/>
              <a:buFont typeface="Arial"/>
              <a:buChar char="–"/>
              <a:defRPr sz="2100" kern="1200">
                <a:solidFill>
                  <a:srgbClr val="599A83"/>
                </a:solidFill>
                <a:latin typeface="+mn-lt"/>
                <a:ea typeface="+mn-ea"/>
                <a:cs typeface="+mn-cs"/>
              </a:defRPr>
            </a:lvl4pPr>
            <a:lvl5pPr marL="3517125" indent="-390792" algn="l" defTabSz="781583" rtl="0" eaLnBrk="1" latinLnBrk="0" hangingPunct="1">
              <a:spcBef>
                <a:spcPct val="20000"/>
              </a:spcBef>
              <a:buFont typeface="Arial"/>
              <a:buChar char="»"/>
              <a:defRPr sz="3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429870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80292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61876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64345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grounded(A,B,C):-</a:t>
            </a: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   legal(A,B,C),</a:t>
            </a: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   (place(A);place(B);place(C)),!.</a:t>
            </a:r>
          </a:p>
          <a:p>
            <a:b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CA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legal(A,B,C):-</a:t>
            </a: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   block(A),block(B),A=</a:t>
            </a:r>
            <a:r>
              <a:rPr lang="en-CA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b,B</a:t>
            </a:r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CA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a,!,fail</a:t>
            </a:r>
            <a:endParaRPr lang="en-CA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   ;</a:t>
            </a: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   block(B),block(C),B=</a:t>
            </a:r>
            <a:r>
              <a:rPr lang="en-CA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c,C</a:t>
            </a:r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CA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b,!,fail</a:t>
            </a:r>
            <a:endParaRPr lang="en-CA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   ;</a:t>
            </a: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   block(A),block(C),A=</a:t>
            </a:r>
            <a:r>
              <a:rPr lang="en-CA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c,C</a:t>
            </a:r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CA" sz="2000" dirty="0" err="1">
                <a:solidFill>
                  <a:srgbClr val="000000"/>
                </a:solidFill>
                <a:latin typeface="Menlo" panose="020B0609030804020204" pitchFamily="49" charset="0"/>
              </a:rPr>
              <a:t>a,!,fail</a:t>
            </a:r>
            <a:endParaRPr lang="en-CA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   ;</a:t>
            </a:r>
          </a:p>
          <a:p>
            <a:r>
              <a:rPr lang="en-CA" sz="2000" dirty="0">
                <a:solidFill>
                  <a:srgbClr val="000000"/>
                </a:solidFill>
                <a:latin typeface="Menlo" panose="020B0609030804020204" pitchFamily="49" charset="0"/>
              </a:rPr>
              <a:t>   true.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508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B391-A5CF-E8A0-4AE7-1F278C63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0648434" cy="717645"/>
          </a:xfrm>
        </p:spPr>
        <p:txBody>
          <a:bodyPr/>
          <a:lstStyle/>
          <a:p>
            <a:r>
              <a:rPr lang="en-US" dirty="0"/>
              <a:t>Prolog Blocks world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F4B82-95F8-1DD3-1C05-51AA931F97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765707"/>
            <a:ext cx="6402111" cy="6050534"/>
          </a:xfrm>
        </p:spPr>
        <p:txBody>
          <a:bodyPr/>
          <a:lstStyle/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 action(Act) means Act is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concievable</a:t>
            </a:r>
            <a:endParaRPr lang="en-CA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b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action(Act):-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Act = move(A,B,C),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block(A),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(block(B);place(B)),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(block(C);place(C)),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dif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(A,B),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dif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(A,C),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dif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(B,C).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8F34D-1AD1-52A8-6EB8-A847C790307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6CE4638-01D3-425C-E06A-C38546A01739}"/>
              </a:ext>
            </a:extLst>
          </p:cNvPr>
          <p:cNvSpPr txBox="1">
            <a:spLocks/>
          </p:cNvSpPr>
          <p:nvPr/>
        </p:nvSpPr>
        <p:spPr>
          <a:xfrm>
            <a:off x="8806574" y="1486009"/>
            <a:ext cx="5750757" cy="68896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781583" rtl="0" eaLnBrk="1" latinLnBrk="0" hangingPunct="1">
              <a:lnSpc>
                <a:spcPct val="110000"/>
              </a:lnSpc>
              <a:spcBef>
                <a:spcPts val="1600"/>
              </a:spcBef>
              <a:buClr>
                <a:schemeClr val="accent2"/>
              </a:buClr>
              <a:buFontTx/>
              <a:buNone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1270073" indent="-48849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Arial"/>
              <a:buChar char="•"/>
              <a:defRPr sz="32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2020367" indent="-457200" algn="l" defTabSz="781583" rtl="0" eaLnBrk="1" latinLnBrk="0" hangingPunct="1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Arial"/>
              <a:buChar char="•"/>
              <a:defRPr sz="3200" kern="1200" baseline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2735542" indent="-390792" algn="l" defTabSz="781583" rtl="0" eaLnBrk="1" latinLnBrk="0" hangingPunct="1">
              <a:lnSpc>
                <a:spcPct val="120000"/>
              </a:lnSpc>
              <a:spcBef>
                <a:spcPts val="1104"/>
              </a:spcBef>
              <a:buClr>
                <a:schemeClr val="accent2"/>
              </a:buClr>
              <a:buSzPct val="90000"/>
              <a:buFont typeface="Arial"/>
              <a:buChar char="–"/>
              <a:defRPr sz="2100" kern="1200">
                <a:solidFill>
                  <a:srgbClr val="599A83"/>
                </a:solidFill>
                <a:latin typeface="+mn-lt"/>
                <a:ea typeface="+mn-ea"/>
                <a:cs typeface="+mn-cs"/>
              </a:defRPr>
            </a:lvl4pPr>
            <a:lvl5pPr marL="3517125" indent="-390792" algn="l" defTabSz="781583" rtl="0" eaLnBrk="1" latinLnBrk="0" hangingPunct="1">
              <a:spcBef>
                <a:spcPct val="20000"/>
              </a:spcBef>
              <a:buFont typeface="Arial"/>
              <a:buChar char="»"/>
              <a:defRPr sz="3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429870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080292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861876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643459" indent="-390792" algn="l" defTabSz="781583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current_state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(S):-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on(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a,A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,[]),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on(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b,B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,[]),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on(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c,C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,[]),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atomics_to_string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([A,B,C],S).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step(Act):-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poss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([Act]),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on(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a,A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,[Act]),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on(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b,B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,[Act]),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on(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c,C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,[Act]),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retractall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(on(_,_,[])),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assert(on(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a,A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,[])),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assert(on(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b,B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,[])),</a:t>
            </a:r>
          </a:p>
          <a:p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assert(on(</a:t>
            </a:r>
            <a:r>
              <a:rPr lang="en-CA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c,C</a:t>
            </a:r>
            <a:r>
              <a:rPr lang="en-CA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,[])).</a:t>
            </a:r>
          </a:p>
        </p:txBody>
      </p:sp>
    </p:spTree>
    <p:extLst>
      <p:ext uri="{BB962C8B-B14F-4D97-AF65-F5344CB8AC3E}">
        <p14:creationId xmlns:p14="http://schemas.microsoft.com/office/powerpoint/2010/main" val="4124912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DAAF-A772-707B-B9DC-DB711B585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PyGame</a:t>
            </a:r>
            <a:r>
              <a:rPr lang="en-US" dirty="0"/>
              <a:t> for rendering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6F751-B7A8-47C3-4A07-7E00BA61F0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65961"/>
            <a:ext cx="7178724" cy="6175331"/>
          </a:xfrm>
        </p:spPr>
        <p:txBody>
          <a:bodyPr/>
          <a:lstStyle/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 import the </a:t>
            </a:r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pygame</a:t>
            </a: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module, so you can use it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import </a:t>
            </a:r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pygame</a:t>
            </a:r>
            <a:endParaRPr lang="en-CA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class Display():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def __</a:t>
            </a:r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init</a:t>
            </a: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__(self):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  # initialize the </a:t>
            </a:r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pygame</a:t>
            </a: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module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pygame.init</a:t>
            </a: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# load and set the logo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logo = </a:t>
            </a:r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pygame.image.load</a:t>
            </a: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("logo32x32.png")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pygame.display.set_icon</a:t>
            </a: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(logo)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pygame.display.set_caption</a:t>
            </a: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("Blocks World")</a:t>
            </a:r>
          </a:p>
          <a:p>
            <a:endParaRPr lang="en-CA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E2A39-216E-BCBD-EC6C-0CFCE5CD9C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56A15-9F49-6D56-F92F-47E4F28CFE5C}"/>
              </a:ext>
            </a:extLst>
          </p:cNvPr>
          <p:cNvSpPr txBox="1"/>
          <p:nvPr/>
        </p:nvSpPr>
        <p:spPr>
          <a:xfrm>
            <a:off x="7991606" y="1665961"/>
            <a:ext cx="8824852" cy="30315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 create a surface on screen that has the given size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# define a variable to control the main loop</a:t>
            </a:r>
          </a:p>
          <a:p>
            <a:r>
              <a:rPr lang="en-CA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self.running</a:t>
            </a: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True</a:t>
            </a:r>
          </a:p>
          <a:p>
            <a:b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IMAGE_SIZE_X = 100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IMAGE_SIZE_Y = 100</a:t>
            </a:r>
          </a:p>
          <a:p>
            <a:r>
              <a:rPr lang="en-CA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DEFAULT_IMAGE_SIZE = (IMAGE_SIZE_X, IMAGE_SIZE_Y)</a:t>
            </a:r>
          </a:p>
          <a:p>
            <a:r>
              <a:rPr lang="en-CA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self.screen</a:t>
            </a:r>
            <a:r>
              <a:rPr lang="en-CA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CA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pygame.display.set_mode</a:t>
            </a:r>
            <a:r>
              <a:rPr lang="en-CA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((4*IMAGE_SIZE_X,6*IMAGE_SIZE_Y))</a:t>
            </a:r>
          </a:p>
          <a:p>
            <a:r>
              <a:rPr lang="en-CA" sz="1800" dirty="0">
                <a:solidFill>
                  <a:srgbClr val="000000"/>
                </a:solidFill>
                <a:latin typeface="Menlo" panose="020B0609030804020204" pitchFamily="49" charset="0"/>
              </a:rPr>
              <a:t>      </a:t>
            </a:r>
            <a:endParaRPr lang="en-CA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/>
              <a:t>#see </a:t>
            </a:r>
            <a:r>
              <a:rPr lang="en-US" dirty="0" err="1"/>
              <a:t>screen.py</a:t>
            </a:r>
            <a:r>
              <a:rPr lang="en-US" dirty="0"/>
              <a:t> on </a:t>
            </a:r>
            <a:r>
              <a:rPr lang="en-US" dirty="0" err="1"/>
              <a:t>brightspace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955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69547</TotalTime>
  <Words>2132</Words>
  <Application>Microsoft Macintosh PowerPoint</Application>
  <PresentationFormat>Custom</PresentationFormat>
  <Paragraphs>259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Courier New</vt:lpstr>
      <vt:lpstr>Menlo</vt:lpstr>
      <vt:lpstr>Wingdings</vt:lpstr>
      <vt:lpstr>Office Theme</vt:lpstr>
      <vt:lpstr>Gymnasium Environments</vt:lpstr>
      <vt:lpstr>Agenda</vt:lpstr>
      <vt:lpstr>What we've implemented so far </vt:lpstr>
      <vt:lpstr>Where the implementation is going</vt:lpstr>
      <vt:lpstr>Diagram comparison (Assignment 1)</vt:lpstr>
      <vt:lpstr>Important Sites</vt:lpstr>
      <vt:lpstr>Gym to Gymnasium</vt:lpstr>
      <vt:lpstr>Creating a Gymnasium Environment</vt:lpstr>
      <vt:lpstr>Creating a Gymnasium Environment</vt:lpstr>
      <vt:lpstr>Creating a Gymnasium Environment</vt:lpstr>
      <vt:lpstr>Creating a Gymnasium Environment</vt:lpstr>
      <vt:lpstr>StableBaselines MlpPolicy vs MultiInputPolicy</vt:lpstr>
      <vt:lpstr>StableBaselines MlpPolicy vs MultiInputPolicy</vt:lpstr>
      <vt:lpstr>Put our environment in a package to install</vt:lpstr>
      <vt:lpstr>Using our custom environment</vt:lpstr>
      <vt:lpstr>Using our custom environment</vt:lpstr>
      <vt:lpstr>Prolog Blocks world environment (Assignment 1)</vt:lpstr>
      <vt:lpstr>Prolog Blocks world environment</vt:lpstr>
      <vt:lpstr>Prolog Blocks world environment</vt:lpstr>
      <vt:lpstr>PyGame for rendering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241</cp:revision>
  <cp:lastPrinted>2024-01-16T20:20:34Z</cp:lastPrinted>
  <dcterms:created xsi:type="dcterms:W3CDTF">2016-12-21T16:02:28Z</dcterms:created>
  <dcterms:modified xsi:type="dcterms:W3CDTF">2026-01-28T20:34:58Z</dcterms:modified>
</cp:coreProperties>
</file>